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ddebfdd21a41d5" /><Relationship Type="http://schemas.openxmlformats.org/officeDocument/2006/relationships/extended-properties" Target="/docProps/app.xml" Id="Rf1a5220fe0924ef3" /><Relationship Type="http://schemas.openxmlformats.org/officeDocument/2006/relationships/officeDocument" Target="/ppt/presentation.xml" Id="R5ce4842990364a3f" /></Relationships>
</file>

<file path=ppt/presentation.xml><?xml version="1.0" encoding="utf-8"?>
<p:presentation xmlns:p="http://schemas.openxmlformats.org/presentationml/2006/main">
  <p:sldMasterIdLst>
    <p:sldMasterId xmlns:r="http://schemas.openxmlformats.org/officeDocument/2006/relationships" id="2147483648" r:id="Rd7b4756699424d47"/>
  </p:sldMasterIdLst>
  <p:notesMasterIdLst>
    <p:notesMasterId xmlns:r="http://schemas.openxmlformats.org/officeDocument/2006/relationships" r:id="R4d8b4269dfdf48aa"/>
  </p:notesMasterIdLst>
  <p:sldIdLst>
    <p:sldId xmlns:r="http://schemas.openxmlformats.org/officeDocument/2006/relationships" id="256" r:id="Rd56c61867714481e"/>
    <p:sldId xmlns:r="http://schemas.openxmlformats.org/officeDocument/2006/relationships" id="257" r:id="Rf377e0a4c6664923"/>
    <p:sldId xmlns:r="http://schemas.openxmlformats.org/officeDocument/2006/relationships" id="258" r:id="R39a18f70e1fe4378"/>
    <p:sldId xmlns:r="http://schemas.openxmlformats.org/officeDocument/2006/relationships" id="259" r:id="Re11b0b39dd3f4dfc"/>
    <p:sldId xmlns:r="http://schemas.openxmlformats.org/officeDocument/2006/relationships" id="260" r:id="R0afead67b0bb4df6"/>
    <p:sldId xmlns:r="http://schemas.openxmlformats.org/officeDocument/2006/relationships" id="261" r:id="Rd0c1359f6ba84abc"/>
    <p:sldId xmlns:r="http://schemas.openxmlformats.org/officeDocument/2006/relationships" id="262" r:id="Rc942146b6ec34a7e"/>
    <p:sldId xmlns:r="http://schemas.openxmlformats.org/officeDocument/2006/relationships" id="263" r:id="R3e0b859f656143b8"/>
    <p:sldId xmlns:r="http://schemas.openxmlformats.org/officeDocument/2006/relationships" id="264" r:id="R7efc3ded193a4ca6"/>
    <p:sldId xmlns:r="http://schemas.openxmlformats.org/officeDocument/2006/relationships" id="265" r:id="R1c7e94fea6fe41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739ee7fe0c4d5d" /><Relationship Type="http://schemas.openxmlformats.org/officeDocument/2006/relationships/slideMaster" Target="/ppt/slideMasters/slideMaster1.xml" Id="Rd7b4756699424d47" /><Relationship Type="http://schemas.openxmlformats.org/officeDocument/2006/relationships/notesMaster" Target="/ppt/notesMasters/notesMaster1.xml" Id="R4d8b4269dfdf48aa" /><Relationship Type="http://schemas.openxmlformats.org/officeDocument/2006/relationships/presProps" Target="/ppt/presProps.xml" Id="Rfe75f3782c8f4dae" /><Relationship Type="http://schemas.openxmlformats.org/officeDocument/2006/relationships/tableStyles" Target="/ppt/tableStyles.xml" Id="R783696f6ef634766" /><Relationship Type="http://schemas.openxmlformats.org/officeDocument/2006/relationships/slide" Target="/ppt/slides/slide1.xml" Id="Rd56c61867714481e" /><Relationship Type="http://schemas.openxmlformats.org/officeDocument/2006/relationships/slide" Target="/ppt/slides/slide2.xml" Id="Rf377e0a4c6664923" /><Relationship Type="http://schemas.openxmlformats.org/officeDocument/2006/relationships/slide" Target="/ppt/slides/slide3.xml" Id="R39a18f70e1fe4378" /><Relationship Type="http://schemas.openxmlformats.org/officeDocument/2006/relationships/slide" Target="/ppt/slides/slide4.xml" Id="Re11b0b39dd3f4dfc" /><Relationship Type="http://schemas.openxmlformats.org/officeDocument/2006/relationships/slide" Target="/ppt/slides/slide5.xml" Id="R0afead67b0bb4df6" /><Relationship Type="http://schemas.openxmlformats.org/officeDocument/2006/relationships/slide" Target="/ppt/slides/slide6.xml" Id="Rd0c1359f6ba84abc" /><Relationship Type="http://schemas.openxmlformats.org/officeDocument/2006/relationships/slide" Target="/ppt/slides/slide7.xml" Id="Rc942146b6ec34a7e" /><Relationship Type="http://schemas.openxmlformats.org/officeDocument/2006/relationships/slide" Target="/ppt/slides/slide8.xml" Id="R3e0b859f656143b8" /><Relationship Type="http://schemas.openxmlformats.org/officeDocument/2006/relationships/slide" Target="/ppt/slides/slide9.xml" Id="R7efc3ded193a4ca6" /><Relationship Type="http://schemas.openxmlformats.org/officeDocument/2006/relationships/slide" Target="/ppt/slides/slide10.xml" Id="R1c7e94fea6fe41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b494d0cc214c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7a6b8a64e54f26" /><Relationship Type="http://schemas.openxmlformats.org/officeDocument/2006/relationships/notesMaster" Target="/ppt/notesMasters/notesMaster1.xml" Id="R37633c45219d4c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215179eac24e85" /><Relationship Type="http://schemas.openxmlformats.org/officeDocument/2006/relationships/notesMaster" Target="/ppt/notesMasters/notesMaster1.xml" Id="R2e5ce3d8be4d40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22c31370424cd5" /><Relationship Type="http://schemas.openxmlformats.org/officeDocument/2006/relationships/notesMaster" Target="/ppt/notesMasters/notesMaster1.xml" Id="Ra7fc15d3a7ee4c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ea388b2be9420c" /><Relationship Type="http://schemas.openxmlformats.org/officeDocument/2006/relationships/notesMaster" Target="/ppt/notesMasters/notesMaster1.xml" Id="R21bcdf724b4c45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ee2dd7b4824ff0" /><Relationship Type="http://schemas.openxmlformats.org/officeDocument/2006/relationships/notesMaster" Target="/ppt/notesMasters/notesMaster1.xml" Id="Rc8c3260d1d3440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dea31ca3254d64" /><Relationship Type="http://schemas.openxmlformats.org/officeDocument/2006/relationships/notesMaster" Target="/ppt/notesMasters/notesMaster1.xml" Id="R1095f3c5697d4b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a9a390b7184f38" /><Relationship Type="http://schemas.openxmlformats.org/officeDocument/2006/relationships/notesMaster" Target="/ppt/notesMasters/notesMaster1.xml" Id="Rbf6604bfa3484b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958875553c4958" /><Relationship Type="http://schemas.openxmlformats.org/officeDocument/2006/relationships/notesMaster" Target="/ppt/notesMasters/notesMaster1.xml" Id="R5b82b292560b48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2db744d398486f" /><Relationship Type="http://schemas.openxmlformats.org/officeDocument/2006/relationships/notesMaster" Target="/ppt/notesMasters/notesMaster1.xml" Id="Rd4e12f9b31c749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0c328273ef4da8" /><Relationship Type="http://schemas.openxmlformats.org/officeDocument/2006/relationships/notesMaster" Target="/ppt/notesMasters/notesMaster1.xml" Id="Rb5a35184576040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team bob the builder, presenting synthetic card dispute resolution for Track Three. The workbench helps analysts investigate disputes and record auditable outcomes. All records and financial effects are fictional.</a:t>
            </a:r>
          </a:p>
          <a:p xmlns:a="http://schemas.openxmlformats.org/drawingml/2006/main">
            <a:r>
              <a:t/>
            </a:r>
          </a:p>
          <a:p xmlns:a="http://schemas.openxmlformats.org/drawingml/2006/main">
            <a:r>
              <a:t>Evidence mode: All records and financial effects are synthetic</a:t>
            </a:r>
          </a:p>
          <a:p xmlns:a="http://schemas.openxmlformats.org/drawingml/2006/main">
            <a:r>
              <a:t>Sources:</a:t>
            </a:r>
          </a:p>
          <a:p xmlns:a="http://schemas.openxmlformats.org/drawingml/2006/main">
            <a:r>
              <a:t>https://github.com/rachelanneliew/Open-Agent-Hackathon/blob/main/docs/submission/ARCHITECTURE.md</a:t>
            </a:r>
          </a:p>
          <a:p xmlns:a="http://schemas.openxmlformats.org/drawingml/2006/main">
            <a:r>
              <a:t>https://github.com/rachelanneliew/Open-Agent-Hackathon/blob/main/docs/competition.md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Zetaris retrieves source facts. The Investigator proposes an outcome through Nightshift. A code based critic checks policy, amounts and citations. A separate Reviewer challenges the evidence. Both checks must accept the same proposal before the database writer rechecks current facts and commits.</a:t>
            </a:r>
          </a:p>
          <a:p xmlns:a="http://schemas.openxmlformats.org/drawingml/2006/main">
            <a:r>
              <a:t/>
            </a:r>
          </a:p>
          <a:p xmlns:a="http://schemas.openxmlformats.org/drawingml/2006/main">
            <a:r>
              <a:t>Evidence mode: Two separate Nightshift roles; deterministic code controls persistence</a:t>
            </a:r>
          </a:p>
          <a:p xmlns:a="http://schemas.openxmlformats.org/drawingml/2006/main">
            <a:r>
              <a:t>Sources:</a:t>
            </a:r>
          </a:p>
          <a:p xmlns:a="http://schemas.openxmlformats.org/drawingml/2006/main">
            <a:r>
              <a:t>https://github.com/rachelanneliew/Open-Agent-Hackathon/blob/main/dispute-demo/docs/workflow.md</a:t>
            </a:r>
          </a:p>
          <a:p xmlns:a="http://schemas.openxmlformats.org/drawingml/2006/main">
            <a:r>
              <a:t>https://github.com/rachelanneliew/Open-Agent-Hackathon/blob/main/dispute-demo/docs/reviewer.md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D P twenty has a captured transaction of one hundred and fourteen Singapore dollars. A merchant promise is present, but the required refund confirmation is missing. In this recorded live run, the Investigator requested evidence and the critic and Reviewer accepted. Two Nightshift calls produced a saved evidence request with no credit effect. Recovery reused the same decision with zero model calls. Memory was disabled for this run.</a:t>
            </a:r>
          </a:p>
          <a:p xmlns:a="http://schemas.openxmlformats.org/drawingml/2006/main">
            <a:r>
              <a:t/>
            </a:r>
          </a:p>
          <a:p xmlns:a="http://schemas.openxmlformats.org/drawingml/2006/main">
            <a:r>
              <a:t>Evidence mode: Recorded live run, 27 Oct 2026. Memory disabled</a:t>
            </a:r>
          </a:p>
          <a:p xmlns:a="http://schemas.openxmlformats.org/drawingml/2006/main">
            <a:r>
              <a:t>Sources:</a:t>
            </a:r>
          </a:p>
          <a:p xmlns:a="http://schemas.openxmlformats.org/drawingml/2006/main">
            <a:r>
              <a:t>https://github.com/rachelanneliew/Open-Agent-Hackathon/blob/main/dispute-demo/docs/evidence/t16-live-accepted.json</a:t>
            </a:r>
          </a:p>
          <a:p xmlns:a="http://schemas.openxmlformats.org/drawingml/2006/main">
            <a:r>
              <a:t>https://github.com/rachelanneliew/Open-Agent-Hackathon/blob/main/dispute-demo/docs/evidence/t16-recovery.json</a:t>
            </a:r>
          </a:p>
          <a:p xmlns:a="http://schemas.openxmlformats.org/drawingml/2006/main">
            <a:r>
              <a:t>https://github.com/rachelanneliew/Open-Agent-Hackathon/blob/main/docs/submission/assets/t16/live-accepted-trace.png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D P fourteen makes the arithmetic clear. One hundred Singapore dollars was captured, and the merchant already refunded forty. The remaining amount is sixty dollars, recorded as a separate simulated credit. This rehearsal uses scripted models and a real isolated database. An identical request reuses the original decision. A fresh attempt is rejected, so processing the case again cannot create a second effective credit.</a:t>
            </a:r>
          </a:p>
          <a:p xmlns:a="http://schemas.openxmlformats.org/drawingml/2006/main">
            <a:r>
              <a:t/>
            </a:r>
          </a:p>
          <a:p xmlns:a="http://schemas.openxmlformats.org/drawingml/2006/main">
            <a:r>
              <a:t>Evidence mode: Scripted models, real isolated PostgreSQL. Recorded rehearsal, 27 Oct 2026</a:t>
            </a:r>
          </a:p>
          <a:p xmlns:a="http://schemas.openxmlformats.org/drawingml/2006/main">
            <a:r>
              <a:t>Sources:</a:t>
            </a:r>
          </a:p>
          <a:p xmlns:a="http://schemas.openxmlformats.org/drawingml/2006/main">
            <a:r>
              <a:t>https://github.com/rachelanneliew/Open-Agent-Hackathon/blob/main/dispute-demo/docs/evidence/t16-isolated-replay.json</a:t>
            </a:r>
          </a:p>
          <a:p xmlns:a="http://schemas.openxmlformats.org/drawingml/2006/main">
            <a:r>
              <a:t>https://github.com/rachelanneliew/Open-Agent-Hackathon/blob/main/dispute-demo/tests/test_reliability.py</a:t>
            </a:r>
          </a:p>
          <a:p xmlns:a="http://schemas.openxmlformats.org/drawingml/2006/main">
            <a:r>
              <a:t>https://github.com/rachelanneliew/Open-Agent-Hackathon/blob/main/dispute-demo/data/synthetic/settlements.csv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D P three, the allowed credit is two hundred Singapore dollars. The test deliberately proposes two hundred dollars and one cent. The critic rejects the extra cent and allows one correction. The corrected proposal passes the critic and Reviewer before the write. This is an injected test fault, not a spontaneous live model mistake.</a:t>
            </a:r>
          </a:p>
          <a:p xmlns:a="http://schemas.openxmlformats.org/drawingml/2006/main">
            <a:r>
              <a:t/>
            </a:r>
          </a:p>
          <a:p xmlns:a="http://schemas.openxmlformats.org/drawingml/2006/main">
            <a:r>
              <a:t>Evidence mode: Injected fault in an isolated test. Scripted model responses</a:t>
            </a:r>
          </a:p>
          <a:p xmlns:a="http://schemas.openxmlformats.org/drawingml/2006/main">
            <a:r>
              <a:t>Sources:</a:t>
            </a:r>
          </a:p>
          <a:p xmlns:a="http://schemas.openxmlformats.org/drawingml/2006/main">
            <a:r>
              <a:t>https://github.com/rachelanneliew/Open-Agent-Hackathon/blob/main/dispute-demo/docs/evidence/t16-isolated-replay.json</a:t>
            </a:r>
          </a:p>
          <a:p xmlns:a="http://schemas.openxmlformats.org/drawingml/2006/main">
            <a:r>
              <a:t>https://github.com/rachelanneliew/Open-Agent-Hackathon/blob/main/dispute-demo/tests/test_reliability.py</a:t>
            </a:r>
          </a:p>
          <a:p xmlns:a="http://schemas.openxmlformats.org/drawingml/2006/main">
            <a:r>
              <a:t>https://github.com/rachelanneliew/Open-Agent-Hackathon/blob/main/dispute-demo/tests/test_orchestrator.py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later investigation, D P seventeen, recalls the earlier D P fourteen decision through H mem. The workflow verifies the committed receipt and customer ownership against source records. Memory supplies context, while policy determines eligibility. This rehearsal uses the real reference engine with mock embeddings and scripted models. Retrying memory storage never repeats the financial action.</a:t>
            </a:r>
          </a:p>
          <a:p xmlns:a="http://schemas.openxmlformats.org/drawingml/2006/main">
            <a:r>
              <a:t/>
            </a:r>
          </a:p>
          <a:p xmlns:a="http://schemas.openxmlformats.org/drawingml/2006/main">
            <a:r>
              <a:t>Evidence mode: Scripted-model rehearsal; real H-MEM reference with mock embeddings</a:t>
            </a:r>
          </a:p>
          <a:p xmlns:a="http://schemas.openxmlformats.org/drawingml/2006/main">
            <a:r>
              <a:t>Sources:</a:t>
            </a:r>
          </a:p>
          <a:p xmlns:a="http://schemas.openxmlformats.org/drawingml/2006/main">
            <a:r>
              <a:t>https://github.com/rachelanneliew/Open-Agent-Hackathon/blob/main/dispute-demo/docs/evidence/t16-isolated-replay.json</a:t>
            </a:r>
          </a:p>
          <a:p xmlns:a="http://schemas.openxmlformats.org/drawingml/2006/main">
            <a:r>
              <a:t>https://github.com/rachelanneliew/Open-Agent-Hackathon/blob/main/dispute-demo/tests/test_reliability.py</a:t>
            </a:r>
          </a:p>
          <a:p xmlns:a="http://schemas.openxmlformats.org/drawingml/2006/main">
            <a:r>
              <a:t>https://github.com/rachelanneliew/Open-Agent-Hackathon/blob/main/dispute-demo/docs/memory.md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Unified Semantic Layer joins three independent connectors: PostgreSQL with forty cases, a CSV file with four merchant records, and a REST source with three history records. For D P twenty, the join returns two merchant records and two history records. This optional preview cannot authorize financial actions. Source freshness and a shared cross-source snapshot remain unverified.</a:t>
            </a:r>
          </a:p>
          <a:p xmlns:a="http://schemas.openxmlformats.org/drawingml/2006/main">
            <a:r>
              <a:t/>
            </a:r>
          </a:p>
          <a:p xmlns:a="http://schemas.openxmlformats.org/drawingml/2006/main">
            <a:r>
              <a:t>Evidence mode: Recorded live Zetaris preview, 27 Oct 2026. Read-only enrichment</a:t>
            </a:r>
          </a:p>
          <a:p xmlns:a="http://schemas.openxmlformats.org/drawingml/2006/main">
            <a:r>
              <a:t>Sources:</a:t>
            </a:r>
          </a:p>
          <a:p xmlns:a="http://schemas.openxmlformats.org/drawingml/2006/main">
            <a:r>
              <a:t>https://github.com/rachelanneliew/Open-Agent-Hackathon/blob/main/docs/zetaris-usl/evidence/parity.json</a:t>
            </a:r>
          </a:p>
          <a:p xmlns:a="http://schemas.openxmlformats.org/drawingml/2006/main">
            <a:r>
              <a:t>https://github.com/rachelanneliew/Open-Agent-Hackathon/blob/main/docs/zetaris-usl/evidence/preview-DP-0020.json</a:t>
            </a:r>
          </a:p>
          <a:p xmlns:a="http://schemas.openxmlformats.org/drawingml/2006/main">
            <a:r>
              <a:t>https://github.com/rachelanneliew/Open-Agent-Hackathon/blob/main/docs/zetaris-usl/sources.md</a:t>
            </a:r>
          </a:p>
          <a:p xmlns:a="http://schemas.openxmlformats.org/drawingml/2006/main">
            <a:r>
              <a:t>https://github.com/rachelanneliew/Open-Agent-Hackathon/blob/main/docs/zetaris-usl/evidence/dashboard-preview.png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quality test contains two records. One references an existing case. The orphan references a nonexistent case. Zetaris detects exactly one invalid record. The result proves that the foreign key check catches broken relationships. It does not prove document truth or source freshness.</a:t>
            </a:r>
          </a:p>
          <a:p xmlns:a="http://schemas.openxmlformats.org/drawingml/2006/main">
            <a:r>
              <a:t/>
            </a:r>
          </a:p>
          <a:p xmlns:a="http://schemas.openxmlformats.org/drawingml/2006/main">
            <a:r>
              <a:t>Evidence mode: Recorded native Zetaris DQ execution on a separate controlled fixture</a:t>
            </a:r>
          </a:p>
          <a:p xmlns:a="http://schemas.openxmlformats.org/drawingml/2006/main">
            <a:r>
              <a:t>Sources:</a:t>
            </a:r>
          </a:p>
          <a:p xmlns:a="http://schemas.openxmlformats.org/drawingml/2006/main">
            <a:r>
              <a:t>https://github.com/rachelanneliew/Open-Agent-Hackathon/blob/main/docs/zetaris-usl/evidence/native-invalid-fixture.txt</a:t>
            </a:r>
          </a:p>
          <a:p xmlns:a="http://schemas.openxmlformats.org/drawingml/2006/main">
            <a:r>
              <a:t>https://github.com/rachelanneliew/Open-Agent-Hackathon/blob/main/docs/zetaris-usl/data-quality.md</a:t>
            </a:r>
          </a:p>
          <a:p xmlns:a="http://schemas.openxmlformats.org/drawingml/2006/main">
            <a:r>
              <a:t>https://github.com/rachelanneliew/Open-Agent-Hackathon/blob/main/docs/zetaris-usl/evidence/dashboard-dq.png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recorded suite passed three hundred and twenty eight application tests and sixteen reference checks, with no failures or skips. Rehearsals cover all four outcomes shown here. Real models still vary: the Reviewer appeared overly conservative on D P twenty nine and stopped without writing.</a:t>
            </a:r>
          </a:p>
          <a:p xmlns:a="http://schemas.openxmlformats.org/drawingml/2006/main">
            <a:r>
              <a:t/>
            </a:r>
          </a:p>
          <a:p xmlns:a="http://schemas.openxmlformats.org/drawingml/2006/main">
            <a:r>
              <a:t>Evidence mode: Recorded 27 Oct 2026. Isolated suite uses scripted model responses</a:t>
            </a:r>
          </a:p>
          <a:p xmlns:a="http://schemas.openxmlformats.org/drawingml/2006/main">
            <a:r>
              <a:t>Sources:</a:t>
            </a:r>
          </a:p>
          <a:p xmlns:a="http://schemas.openxmlformats.org/drawingml/2006/main">
            <a:r>
              <a:t>https://github.com/rachelanneliew/Open-Agent-Hackathon/blob/main/docs/zetaris-usl/evidence/regression.json</a:t>
            </a:r>
          </a:p>
          <a:p xmlns:a="http://schemas.openxmlformats.org/drawingml/2006/main">
            <a:r>
              <a:t>https://github.com/rachelanneliew/Open-Agent-Hackathon/blob/main/dispute-demo/docs/evidence/t16-isolated-replay.json</a:t>
            </a:r>
          </a:p>
          <a:p xmlns:a="http://schemas.openxmlformats.org/drawingml/2006/main">
            <a:r>
              <a:t>https://github.com/rachelanneliew/Open-Agent-Hackathon/blob/main/dispute-demo/docs/evidence/t16-live-refusal.json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combines observable agent collaboration, duplicate prevention, verified memory and inspectable source quality. Next steps are broader document support and source freshness metadata.</a:t>
            </a:r>
          </a:p>
          <a:p xmlns:a="http://schemas.openxmlformats.org/drawingml/2006/main">
            <a:r>
              <a:t/>
            </a:r>
          </a:p>
          <a:p xmlns:a="http://schemas.openxmlformats.org/drawingml/2006/main">
            <a:r>
              <a:t>Evidence mode: bob the builder / Track 3: Reasoning Architecture</a:t>
            </a:r>
          </a:p>
          <a:p xmlns:a="http://schemas.openxmlformats.org/drawingml/2006/main">
            <a:r>
              <a:t>Sources:</a:t>
            </a:r>
          </a:p>
          <a:p xmlns:a="http://schemas.openxmlformats.org/drawingml/2006/main">
            <a:r>
              <a:t>https://github.com/rachelanneliew/Open-Agent-Hackathon/blob/main/docs/submission/ARCHITECTURE.md</a:t>
            </a:r>
          </a:p>
          <a:p xmlns:a="http://schemas.openxmlformats.org/drawingml/2006/main">
            <a:r>
              <a:t>https://github.com/rachelanneliew/Open-Agent-Hackathon/blob/main/docs/submission/USL_ADDENDUM.md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bc4ebe691d47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c4539f7c4a4f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3da1a2bdbd4e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a327d48e4449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fce7ed479240d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7b65638cc749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94A6EE-1780-44A6-9144-D2F261E7EE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56BA86-A978-4524-B7D0-8A9217CB54B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B4876D-99EB-4117-8E44-A4A0B70343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6A5A65-D148-4082-A6DF-5A5FE05A10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C9D9C0-BBFF-494F-9E3B-0C7EDAB127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930EA5-7D73-4CFF-B2C1-B30A13659C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AFD7AE-0EE7-4356-B65E-A0F85FA96A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89E2A8-CC7A-4531-9DD6-007E4488CB6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D14E95-E73E-433C-B5BC-5CD383BC9B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D8839E-68DE-47A8-8AF9-744B5F5D73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c95fa5036f4f78" /><Relationship Type="http://schemas.openxmlformats.org/officeDocument/2006/relationships/slideLayout" Target="/ppt/slideLayouts/slideLayout1.xml" Id="Rce78531953784e0c" /><Relationship Type="http://schemas.openxmlformats.org/officeDocument/2006/relationships/slideLayout" Target="/ppt/slideLayouts/slideLayout2.xml" Id="R7d18fd47a84b4df5" /><Relationship Type="http://schemas.openxmlformats.org/officeDocument/2006/relationships/slideLayout" Target="/ppt/slideLayouts/slideLayout3.xml" Id="Re3299c20dc9f438d" /><Relationship Type="http://schemas.openxmlformats.org/officeDocument/2006/relationships/slideLayout" Target="/ppt/slideLayouts/slideLayout4.xml" Id="Ree5e76011e3d474a" /><Relationship Type="http://schemas.openxmlformats.org/officeDocument/2006/relationships/slideLayout" Target="/ppt/slideLayouts/slideLayout5.xml" Id="R60ae08106b4444ae" /><Relationship Type="http://schemas.openxmlformats.org/officeDocument/2006/relationships/slideLayout" Target="/ppt/slideLayouts/slideLayout6.xml" Id="R5062509c8f0f4b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78531953784e0c"/>
    <p:sldLayoutId xmlns:r="http://schemas.openxmlformats.org/officeDocument/2006/relationships" id="2147483650" r:id="R7d18fd47a84b4df5"/>
    <p:sldLayoutId xmlns:r="http://schemas.openxmlformats.org/officeDocument/2006/relationships" id="2147483651" r:id="Re3299c20dc9f438d"/>
    <p:sldLayoutId xmlns:r="http://schemas.openxmlformats.org/officeDocument/2006/relationships" id="2147483652" r:id="Ree5e76011e3d474a"/>
    <p:sldLayoutId xmlns:r="http://schemas.openxmlformats.org/officeDocument/2006/relationships" id="2147483653" r:id="R60ae08106b4444ae"/>
    <p:sldLayoutId xmlns:r="http://schemas.openxmlformats.org/officeDocument/2006/relationships" id="2147483654" r:id="R5062509c8f0f4b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706b09d0524684" /><Relationship Type="http://schemas.openxmlformats.org/officeDocument/2006/relationships/notesSlide" Target="/ppt/notesSlides/notesSlide1.xml" Id="R47f3a001e7884a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8f1daaf3f24acc" /><Relationship Type="http://schemas.openxmlformats.org/officeDocument/2006/relationships/notesSlide" Target="/ppt/notesSlides/notesSlide2.xml" Id="Ra842bfd52faa48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2c9f3f28a84c64" /><Relationship Type="http://schemas.openxmlformats.org/officeDocument/2006/relationships/image" Target="/ppt/media/image.jpeg" Id="R8b257d1df776441f" /><Relationship Type="http://schemas.openxmlformats.org/officeDocument/2006/relationships/notesSlide" Target="/ppt/notesSlides/notesSlide3.xml" Id="Rb93bc67e865841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ca1e8638eb4875" /><Relationship Type="http://schemas.openxmlformats.org/officeDocument/2006/relationships/notesSlide" Target="/ppt/notesSlides/notesSlide4.xml" Id="R9a50f541b2e54f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68aba095614d61" /><Relationship Type="http://schemas.openxmlformats.org/officeDocument/2006/relationships/notesSlide" Target="/ppt/notesSlides/notesSlide5.xml" Id="Rd1244e05d6394f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1d740b6ce149c0" /><Relationship Type="http://schemas.openxmlformats.org/officeDocument/2006/relationships/notesSlide" Target="/ppt/notesSlides/notesSlide6.xml" Id="Rdc509a31eb4b44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10eb6aa4ae4108" /><Relationship Type="http://schemas.openxmlformats.org/officeDocument/2006/relationships/image" Target="/ppt/media/image2.jpeg" Id="R503f1d5bbe7043b0" /><Relationship Type="http://schemas.openxmlformats.org/officeDocument/2006/relationships/notesSlide" Target="/ppt/notesSlides/notesSlide7.xml" Id="Rc2031a53830d43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872bde590e4baa" /><Relationship Type="http://schemas.openxmlformats.org/officeDocument/2006/relationships/image" Target="/ppt/media/image3.jpeg" Id="Rcbdf4fb747394b50" /><Relationship Type="http://schemas.openxmlformats.org/officeDocument/2006/relationships/notesSlide" Target="/ppt/notesSlides/notesSlide8.xml" Id="Rfca28a42ed7c44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4090defc4f4688" /><Relationship Type="http://schemas.openxmlformats.org/officeDocument/2006/relationships/notesSlide" Target="/ppt/notesSlides/notesSlide9.xml" Id="R64dc7fb2c95240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5b0b74055384ee9" /><Relationship Type="http://schemas.openxmlformats.org/officeDocument/2006/relationships/notesSlide" Target="/ppt/notesSlides/notesSlide10.xml" Id="R1ad5ee4fb80f4c7a" /></Relationships>
</file>

<file path=ppt/slides/slide1.xml><?xml version="1.0" encoding="utf-8"?>
<p:sld xmlns:p="http://schemas.openxmlformats.org/presentationml/2006/main">
  <p:cSld>
    <p:bg>
      <p:bgPr>
        <a:solidFill xmlns:a="http://schemas.openxmlformats.org/drawingml/2006/main">
          <a:srgbClr val="19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21F37E-37D8-4657-8CF7-F616116BE2AF}"/>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D8E7CF"/>
                </a:solidFill>
                <a:latin typeface="Helvetica Neue"/>
                <a:ea typeface="Helvetica Neue"/>
                <a:cs typeface="Helvetica Neue"/>
              </a:defRPr>
            </a:defPPr>
            <a:lvl1pPr>
              <a:defRPr sz="1500" b="0">
                <a:solidFill>
                  <a:srgbClr val="D8E7CF"/>
                </a:solidFill>
                <a:latin typeface="Helvetica Neue"/>
                <a:ea typeface="Helvetica Neue"/>
                <a:cs typeface="Helvetica Neue"/>
              </a:defRPr>
            </a:lvl1pPr>
            <a:lvl2pPr>
              <a:defRPr sz="1500" b="0">
                <a:solidFill>
                  <a:srgbClr val="D8E7CF"/>
                </a:solidFill>
                <a:latin typeface="Helvetica Neue"/>
                <a:ea typeface="Helvetica Neue"/>
                <a:cs typeface="Helvetica Neue"/>
              </a:defRPr>
            </a:lvl2pPr>
            <a:lvl3pPr>
              <a:defRPr sz="1500" b="0">
                <a:solidFill>
                  <a:srgbClr val="D8E7CF"/>
                </a:solidFill>
                <a:latin typeface="Helvetica Neue"/>
                <a:ea typeface="Helvetica Neue"/>
                <a:cs typeface="Helvetica Neue"/>
              </a:defRPr>
            </a:lvl3pPr>
            <a:lvl4pPr>
              <a:defRPr sz="1500" b="0">
                <a:solidFill>
                  <a:srgbClr val="D8E7CF"/>
                </a:solidFill>
                <a:latin typeface="Helvetica Neue"/>
                <a:ea typeface="Helvetica Neue"/>
                <a:cs typeface="Helvetica Neue"/>
              </a:defRPr>
            </a:lvl4pPr>
            <a:lvl5pPr>
              <a:defRPr sz="1500" b="0">
                <a:solidFill>
                  <a:srgbClr val="D8E7CF"/>
                </a:solidFill>
                <a:latin typeface="Helvetica Neue"/>
                <a:ea typeface="Helvetica Neue"/>
                <a:cs typeface="Helvetica Neue"/>
              </a:defRPr>
            </a:lvl5pPr>
            <a:lvl6pPr>
              <a:defRPr sz="1500" b="0">
                <a:solidFill>
                  <a:srgbClr val="D8E7CF"/>
                </a:solidFill>
                <a:latin typeface="Helvetica Neue"/>
                <a:ea typeface="Helvetica Neue"/>
                <a:cs typeface="Helvetica Neue"/>
              </a:defRPr>
            </a:lvl6pPr>
            <a:lvl7pPr>
              <a:defRPr sz="1500" b="0">
                <a:solidFill>
                  <a:srgbClr val="D8E7CF"/>
                </a:solidFill>
                <a:latin typeface="Helvetica Neue"/>
                <a:ea typeface="Helvetica Neue"/>
                <a:cs typeface="Helvetica Neue"/>
              </a:defRPr>
            </a:lvl7pPr>
            <a:lvl8pPr>
              <a:defRPr sz="1500" b="0">
                <a:solidFill>
                  <a:srgbClr val="D8E7CF"/>
                </a:solidFill>
                <a:latin typeface="Helvetica Neue"/>
                <a:ea typeface="Helvetica Neue"/>
                <a:cs typeface="Helvetica Neue"/>
              </a:defRPr>
            </a:lvl8pPr>
            <a:lvl9pPr>
              <a:defRPr sz="1500" b="0">
                <a:solidFill>
                  <a:srgbClr val="D8E7CF"/>
                </a:solidFill>
                <a:latin typeface="Helvetica Neue"/>
                <a:ea typeface="Helvetica Neue"/>
                <a:cs typeface="Helvetica Neue"/>
              </a:defRPr>
            </a:lvl9pPr>
          </a:lstStyle>
          <a:p xmlns:a="http://schemas.openxmlformats.org/drawingml/2006/main">
            <a:pPr>
              <a:defRPr sz="1500" b="0">
                <a:solidFill>
                  <a:srgbClr val="D8E7CF"/>
                </a:solidFill>
                <a:latin typeface="Helvetica Neue"/>
                <a:ea typeface="Helvetica Neue"/>
                <a:cs typeface="Helvetica Neue"/>
              </a:defRPr>
            </a:pPr>
            <a:r>
              <a:rPr sz="1500" b="0">
                <a:solidFill>
                  <a:srgbClr val="D8E7CF"/>
                </a:solidFill>
                <a:latin typeface="Helvetica Neue"/>
                <a:ea typeface="Helvetica Neue"/>
                <a:cs typeface="Helvetica Neue"/>
              </a:rPr>
              <a:t>All records and financial effects are synthetic</a:t>
            </a:r>
          </a:p>
        </p:txBody>
      </p:sp>
      <p:sp>
        <p:nvSpPr>
          <p:cNvPr id="2" name="">
            <a:extLst xmlns:a="http://schemas.openxmlformats.org/drawingml/2006/main">
              <a:ext uri="{FF2B5EF4-FFF2-40B4-BE49-F238E27FC236}">
                <a16:creationId xmlns:a16="http://schemas.microsoft.com/office/drawing/2014/main" id="{A5ADCF0B-E9CE-4B71-BD1E-DE30681FD72F}"/>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D8E7CF"/>
                </a:solidFill>
                <a:latin typeface="Helvetica Neue"/>
                <a:ea typeface="Helvetica Neue"/>
                <a:cs typeface="Helvetica Neue"/>
              </a:defRPr>
            </a:defPPr>
            <a:lvl1pPr>
              <a:defRPr sz="1425" b="0">
                <a:solidFill>
                  <a:srgbClr val="D8E7CF"/>
                </a:solidFill>
                <a:latin typeface="Helvetica Neue"/>
                <a:ea typeface="Helvetica Neue"/>
                <a:cs typeface="Helvetica Neue"/>
              </a:defRPr>
            </a:lvl1pPr>
            <a:lvl2pPr>
              <a:defRPr sz="1425" b="0">
                <a:solidFill>
                  <a:srgbClr val="D8E7CF"/>
                </a:solidFill>
                <a:latin typeface="Helvetica Neue"/>
                <a:ea typeface="Helvetica Neue"/>
                <a:cs typeface="Helvetica Neue"/>
              </a:defRPr>
            </a:lvl2pPr>
            <a:lvl3pPr>
              <a:defRPr sz="1425" b="0">
                <a:solidFill>
                  <a:srgbClr val="D8E7CF"/>
                </a:solidFill>
                <a:latin typeface="Helvetica Neue"/>
                <a:ea typeface="Helvetica Neue"/>
                <a:cs typeface="Helvetica Neue"/>
              </a:defRPr>
            </a:lvl3pPr>
            <a:lvl4pPr>
              <a:defRPr sz="1425" b="0">
                <a:solidFill>
                  <a:srgbClr val="D8E7CF"/>
                </a:solidFill>
                <a:latin typeface="Helvetica Neue"/>
                <a:ea typeface="Helvetica Neue"/>
                <a:cs typeface="Helvetica Neue"/>
              </a:defRPr>
            </a:lvl4pPr>
            <a:lvl5pPr>
              <a:defRPr sz="1425" b="0">
                <a:solidFill>
                  <a:srgbClr val="D8E7CF"/>
                </a:solidFill>
                <a:latin typeface="Helvetica Neue"/>
                <a:ea typeface="Helvetica Neue"/>
                <a:cs typeface="Helvetica Neue"/>
              </a:defRPr>
            </a:lvl5pPr>
            <a:lvl6pPr>
              <a:defRPr sz="1425" b="0">
                <a:solidFill>
                  <a:srgbClr val="D8E7CF"/>
                </a:solidFill>
                <a:latin typeface="Helvetica Neue"/>
                <a:ea typeface="Helvetica Neue"/>
                <a:cs typeface="Helvetica Neue"/>
              </a:defRPr>
            </a:lvl6pPr>
            <a:lvl7pPr>
              <a:defRPr sz="1425" b="0">
                <a:solidFill>
                  <a:srgbClr val="D8E7CF"/>
                </a:solidFill>
                <a:latin typeface="Helvetica Neue"/>
                <a:ea typeface="Helvetica Neue"/>
                <a:cs typeface="Helvetica Neue"/>
              </a:defRPr>
            </a:lvl7pPr>
            <a:lvl8pPr>
              <a:defRPr sz="1425" b="0">
                <a:solidFill>
                  <a:srgbClr val="D8E7CF"/>
                </a:solidFill>
                <a:latin typeface="Helvetica Neue"/>
                <a:ea typeface="Helvetica Neue"/>
                <a:cs typeface="Helvetica Neue"/>
              </a:defRPr>
            </a:lvl8pPr>
            <a:lvl9pPr>
              <a:defRPr sz="1425" b="0">
                <a:solidFill>
                  <a:srgbClr val="D8E7CF"/>
                </a:solidFill>
                <a:latin typeface="Helvetica Neue"/>
                <a:ea typeface="Helvetica Neue"/>
                <a:cs typeface="Helvetica Neue"/>
              </a:defRPr>
            </a:lvl9pPr>
          </a:lstStyle>
          <a:p xmlns:a="http://schemas.openxmlformats.org/drawingml/2006/main">
            <a:pPr>
              <a:defRPr sz="1425" b="0">
                <a:solidFill>
                  <a:srgbClr val="D8E7CF"/>
                </a:solidFill>
                <a:latin typeface="Helvetica Neue"/>
                <a:ea typeface="Helvetica Neue"/>
                <a:cs typeface="Helvetica Neue"/>
              </a:defRPr>
            </a:pPr>
            <a:r>
              <a:rPr sz="1425" b="0">
                <a:solidFill>
                  <a:srgbClr val="D8E7CF"/>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56843712-E290-4263-A8AC-818EA2EE291C}"/>
              </a:ext>
            </a:extLst>
          </p:cNvPr>
          <p:cNvSpPr>
            <a:spLocks xmlns:a="http://schemas.openxmlformats.org/drawingml/2006/main" noGrp="1"/>
          </p:cNvSpPr>
          <p:nvPr/>
        </p:nvSpPr>
        <p:spPr>
          <a:xfrm xmlns:a="http://schemas.openxmlformats.org/drawingml/2006/main">
            <a:off x="609600" y="119062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250" b="1">
                <a:solidFill>
                  <a:srgbClr val="F4F5EF"/>
                </a:solidFill>
                <a:latin typeface="Helvetica Neue"/>
                <a:ea typeface="Helvetica Neue"/>
                <a:cs typeface="Helvetica Neue"/>
              </a:defRPr>
            </a:defPPr>
            <a:lvl1pPr>
              <a:defRPr sz="5250" b="1">
                <a:solidFill>
                  <a:srgbClr val="F4F5EF"/>
                </a:solidFill>
                <a:latin typeface="Helvetica Neue"/>
                <a:ea typeface="Helvetica Neue"/>
                <a:cs typeface="Helvetica Neue"/>
              </a:defRPr>
            </a:lvl1pPr>
            <a:lvl2pPr>
              <a:defRPr sz="5250" b="1">
                <a:solidFill>
                  <a:srgbClr val="F4F5EF"/>
                </a:solidFill>
                <a:latin typeface="Helvetica Neue"/>
                <a:ea typeface="Helvetica Neue"/>
                <a:cs typeface="Helvetica Neue"/>
              </a:defRPr>
            </a:lvl2pPr>
            <a:lvl3pPr>
              <a:defRPr sz="5250" b="1">
                <a:solidFill>
                  <a:srgbClr val="F4F5EF"/>
                </a:solidFill>
                <a:latin typeface="Helvetica Neue"/>
                <a:ea typeface="Helvetica Neue"/>
                <a:cs typeface="Helvetica Neue"/>
              </a:defRPr>
            </a:lvl3pPr>
            <a:lvl4pPr>
              <a:defRPr sz="5250" b="1">
                <a:solidFill>
                  <a:srgbClr val="F4F5EF"/>
                </a:solidFill>
                <a:latin typeface="Helvetica Neue"/>
                <a:ea typeface="Helvetica Neue"/>
                <a:cs typeface="Helvetica Neue"/>
              </a:defRPr>
            </a:lvl4pPr>
            <a:lvl5pPr>
              <a:defRPr sz="5250" b="1">
                <a:solidFill>
                  <a:srgbClr val="F4F5EF"/>
                </a:solidFill>
                <a:latin typeface="Helvetica Neue"/>
                <a:ea typeface="Helvetica Neue"/>
                <a:cs typeface="Helvetica Neue"/>
              </a:defRPr>
            </a:lvl5pPr>
            <a:lvl6pPr>
              <a:defRPr sz="5250" b="1">
                <a:solidFill>
                  <a:srgbClr val="F4F5EF"/>
                </a:solidFill>
                <a:latin typeface="Helvetica Neue"/>
                <a:ea typeface="Helvetica Neue"/>
                <a:cs typeface="Helvetica Neue"/>
              </a:defRPr>
            </a:lvl6pPr>
            <a:lvl7pPr>
              <a:defRPr sz="5250" b="1">
                <a:solidFill>
                  <a:srgbClr val="F4F5EF"/>
                </a:solidFill>
                <a:latin typeface="Helvetica Neue"/>
                <a:ea typeface="Helvetica Neue"/>
                <a:cs typeface="Helvetica Neue"/>
              </a:defRPr>
            </a:lvl7pPr>
            <a:lvl8pPr>
              <a:defRPr sz="5250" b="1">
                <a:solidFill>
                  <a:srgbClr val="F4F5EF"/>
                </a:solidFill>
                <a:latin typeface="Helvetica Neue"/>
                <a:ea typeface="Helvetica Neue"/>
                <a:cs typeface="Helvetica Neue"/>
              </a:defRPr>
            </a:lvl8pPr>
            <a:lvl9pPr>
              <a:defRPr sz="5250" b="1">
                <a:solidFill>
                  <a:srgbClr val="F4F5EF"/>
                </a:solidFill>
                <a:latin typeface="Helvetica Neue"/>
                <a:ea typeface="Helvetica Neue"/>
                <a:cs typeface="Helvetica Neue"/>
              </a:defRPr>
            </a:lvl9pPr>
          </a:lstStyle>
          <a:p xmlns:a="http://schemas.openxmlformats.org/drawingml/2006/main">
            <a:pPr>
              <a:defRPr sz="5250" b="1">
                <a:solidFill>
                  <a:srgbClr val="F4F5EF"/>
                </a:solidFill>
                <a:latin typeface="Helvetica Neue"/>
                <a:ea typeface="Helvetica Neue"/>
                <a:cs typeface="Helvetica Neue"/>
              </a:defRPr>
            </a:pPr>
            <a:r>
              <a:rPr sz="5250" b="1">
                <a:solidFill>
                  <a:srgbClr val="F4F5EF"/>
                </a:solidFill>
                <a:latin typeface="Helvetica Neue"/>
                <a:ea typeface="Helvetica Neue"/>
                <a:cs typeface="Helvetica Neue"/>
              </a:rPr>
              <a:t>Synthetic card-dispute</a:t>
            </a:r>
          </a:p>
          <a:p xmlns:a="http://schemas.openxmlformats.org/drawingml/2006/main">
            <a:pPr>
              <a:defRPr sz="5250" b="1">
                <a:solidFill>
                  <a:srgbClr val="F4F5EF"/>
                </a:solidFill>
                <a:latin typeface="Helvetica Neue"/>
                <a:ea typeface="Helvetica Neue"/>
                <a:cs typeface="Helvetica Neue"/>
              </a:defRPr>
            </a:pPr>
            <a:r>
              <a:rPr sz="5250" b="1">
                <a:solidFill>
                  <a:srgbClr val="F4F5EF"/>
                </a:solidFill>
                <a:latin typeface="Helvetica Neue"/>
                <a:ea typeface="Helvetica Neue"/>
                <a:cs typeface="Helvetica Neue"/>
              </a:rPr>
              <a:t>resolution</a:t>
            </a:r>
          </a:p>
        </p:txBody>
      </p:sp>
      <p:sp>
        <p:nvSpPr>
          <p:cNvPr id="4" name="">
            <a:extLst xmlns:a="http://schemas.openxmlformats.org/drawingml/2006/main">
              <a:ext uri="{FF2B5EF4-FFF2-40B4-BE49-F238E27FC236}">
                <a16:creationId xmlns:a16="http://schemas.microsoft.com/office/drawing/2014/main" id="{1986BD96-AE90-4CAB-AC76-04183DA55B2D}"/>
              </a:ext>
            </a:extLst>
          </p:cNvPr>
          <p:cNvSpPr>
            <a:spLocks xmlns:a="http://schemas.openxmlformats.org/drawingml/2006/main" noGrp="1"/>
          </p:cNvSpPr>
          <p:nvPr/>
        </p:nvSpPr>
        <p:spPr>
          <a:xfrm xmlns:a="http://schemas.openxmlformats.org/drawingml/2006/main">
            <a:off x="609600" y="35718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D8E7CF"/>
                </a:solidFill>
                <a:latin typeface="Helvetica Neue"/>
                <a:ea typeface="Helvetica Neue"/>
                <a:cs typeface="Helvetica Neue"/>
              </a:defRPr>
            </a:defPPr>
            <a:lvl1pPr>
              <a:defRPr sz="2550" b="0">
                <a:solidFill>
                  <a:srgbClr val="D8E7CF"/>
                </a:solidFill>
                <a:latin typeface="Helvetica Neue"/>
                <a:ea typeface="Helvetica Neue"/>
                <a:cs typeface="Helvetica Neue"/>
              </a:defRPr>
            </a:lvl1pPr>
            <a:lvl2pPr>
              <a:defRPr sz="2550" b="0">
                <a:solidFill>
                  <a:srgbClr val="D8E7CF"/>
                </a:solidFill>
                <a:latin typeface="Helvetica Neue"/>
                <a:ea typeface="Helvetica Neue"/>
                <a:cs typeface="Helvetica Neue"/>
              </a:defRPr>
            </a:lvl2pPr>
            <a:lvl3pPr>
              <a:defRPr sz="2550" b="0">
                <a:solidFill>
                  <a:srgbClr val="D8E7CF"/>
                </a:solidFill>
                <a:latin typeface="Helvetica Neue"/>
                <a:ea typeface="Helvetica Neue"/>
                <a:cs typeface="Helvetica Neue"/>
              </a:defRPr>
            </a:lvl3pPr>
            <a:lvl4pPr>
              <a:defRPr sz="2550" b="0">
                <a:solidFill>
                  <a:srgbClr val="D8E7CF"/>
                </a:solidFill>
                <a:latin typeface="Helvetica Neue"/>
                <a:ea typeface="Helvetica Neue"/>
                <a:cs typeface="Helvetica Neue"/>
              </a:defRPr>
            </a:lvl4pPr>
            <a:lvl5pPr>
              <a:defRPr sz="2550" b="0">
                <a:solidFill>
                  <a:srgbClr val="D8E7CF"/>
                </a:solidFill>
                <a:latin typeface="Helvetica Neue"/>
                <a:ea typeface="Helvetica Neue"/>
                <a:cs typeface="Helvetica Neue"/>
              </a:defRPr>
            </a:lvl5pPr>
            <a:lvl6pPr>
              <a:defRPr sz="2550" b="0">
                <a:solidFill>
                  <a:srgbClr val="D8E7CF"/>
                </a:solidFill>
                <a:latin typeface="Helvetica Neue"/>
                <a:ea typeface="Helvetica Neue"/>
                <a:cs typeface="Helvetica Neue"/>
              </a:defRPr>
            </a:lvl6pPr>
            <a:lvl7pPr>
              <a:defRPr sz="2550" b="0">
                <a:solidFill>
                  <a:srgbClr val="D8E7CF"/>
                </a:solidFill>
                <a:latin typeface="Helvetica Neue"/>
                <a:ea typeface="Helvetica Neue"/>
                <a:cs typeface="Helvetica Neue"/>
              </a:defRPr>
            </a:lvl7pPr>
            <a:lvl8pPr>
              <a:defRPr sz="2550" b="0">
                <a:solidFill>
                  <a:srgbClr val="D8E7CF"/>
                </a:solidFill>
                <a:latin typeface="Helvetica Neue"/>
                <a:ea typeface="Helvetica Neue"/>
                <a:cs typeface="Helvetica Neue"/>
              </a:defRPr>
            </a:lvl8pPr>
            <a:lvl9pPr>
              <a:defRPr sz="2550" b="0">
                <a:solidFill>
                  <a:srgbClr val="D8E7CF"/>
                </a:solidFill>
                <a:latin typeface="Helvetica Neue"/>
                <a:ea typeface="Helvetica Neue"/>
                <a:cs typeface="Helvetica Neue"/>
              </a:defRPr>
            </a:lvl9pPr>
          </a:lstStyle>
          <a:p xmlns:a="http://schemas.openxmlformats.org/drawingml/2006/main">
            <a:pPr>
              <a:defRPr sz="2550" b="0">
                <a:solidFill>
                  <a:srgbClr val="D8E7CF"/>
                </a:solidFill>
                <a:latin typeface="Helvetica Neue"/>
                <a:ea typeface="Helvetica Neue"/>
                <a:cs typeface="Helvetica Neue"/>
              </a:defRPr>
            </a:pPr>
            <a:r>
              <a:rPr sz="2550" b="0">
                <a:solidFill>
                  <a:srgbClr val="D8E7CF"/>
                </a:solidFill>
                <a:latin typeface="Helvetica Neue"/>
                <a:ea typeface="Helvetica Neue"/>
                <a:cs typeface="Helvetica Neue"/>
              </a:rPr>
              <a:t>An analyst workbench for auditable decisions</a:t>
            </a:r>
          </a:p>
        </p:txBody>
      </p:sp>
      <p:sp>
        <p:nvSpPr>
          <p:cNvPr id="5" name="">
            <a:extLst xmlns:a="http://schemas.openxmlformats.org/drawingml/2006/main">
              <a:ext uri="{FF2B5EF4-FFF2-40B4-BE49-F238E27FC236}">
                <a16:creationId xmlns:a16="http://schemas.microsoft.com/office/drawing/2014/main" id="{03A1EC92-A8E1-457C-8270-B38AB2EC85F3}"/>
              </a:ext>
            </a:extLst>
          </p:cNvPr>
          <p:cNvSpPr>
            <a:spLocks xmlns:a="http://schemas.openxmlformats.org/drawingml/2006/main" noGrp="1"/>
          </p:cNvSpPr>
          <p:nvPr/>
        </p:nvSpPr>
        <p:spPr>
          <a:xfrm xmlns:a="http://schemas.openxmlformats.org/drawingml/2006/main">
            <a:off x="609600" y="50006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D8E7CF"/>
                </a:solidFill>
                <a:latin typeface="Helvetica Neue"/>
                <a:ea typeface="Helvetica Neue"/>
                <a:cs typeface="Helvetica Neue"/>
              </a:defRPr>
            </a:defPPr>
            <a:lvl1pPr>
              <a:defRPr sz="2100" b="0">
                <a:solidFill>
                  <a:srgbClr val="D8E7CF"/>
                </a:solidFill>
                <a:latin typeface="Helvetica Neue"/>
                <a:ea typeface="Helvetica Neue"/>
                <a:cs typeface="Helvetica Neue"/>
              </a:defRPr>
            </a:lvl1pPr>
            <a:lvl2pPr>
              <a:defRPr sz="2100" b="0">
                <a:solidFill>
                  <a:srgbClr val="D8E7CF"/>
                </a:solidFill>
                <a:latin typeface="Helvetica Neue"/>
                <a:ea typeface="Helvetica Neue"/>
                <a:cs typeface="Helvetica Neue"/>
              </a:defRPr>
            </a:lvl2pPr>
            <a:lvl3pPr>
              <a:defRPr sz="2100" b="0">
                <a:solidFill>
                  <a:srgbClr val="D8E7CF"/>
                </a:solidFill>
                <a:latin typeface="Helvetica Neue"/>
                <a:ea typeface="Helvetica Neue"/>
                <a:cs typeface="Helvetica Neue"/>
              </a:defRPr>
            </a:lvl3pPr>
            <a:lvl4pPr>
              <a:defRPr sz="2100" b="0">
                <a:solidFill>
                  <a:srgbClr val="D8E7CF"/>
                </a:solidFill>
                <a:latin typeface="Helvetica Neue"/>
                <a:ea typeface="Helvetica Neue"/>
                <a:cs typeface="Helvetica Neue"/>
              </a:defRPr>
            </a:lvl4pPr>
            <a:lvl5pPr>
              <a:defRPr sz="2100" b="0">
                <a:solidFill>
                  <a:srgbClr val="D8E7CF"/>
                </a:solidFill>
                <a:latin typeface="Helvetica Neue"/>
                <a:ea typeface="Helvetica Neue"/>
                <a:cs typeface="Helvetica Neue"/>
              </a:defRPr>
            </a:lvl5pPr>
            <a:lvl6pPr>
              <a:defRPr sz="2100" b="0">
                <a:solidFill>
                  <a:srgbClr val="D8E7CF"/>
                </a:solidFill>
                <a:latin typeface="Helvetica Neue"/>
                <a:ea typeface="Helvetica Neue"/>
                <a:cs typeface="Helvetica Neue"/>
              </a:defRPr>
            </a:lvl6pPr>
            <a:lvl7pPr>
              <a:defRPr sz="2100" b="0">
                <a:solidFill>
                  <a:srgbClr val="D8E7CF"/>
                </a:solidFill>
                <a:latin typeface="Helvetica Neue"/>
                <a:ea typeface="Helvetica Neue"/>
                <a:cs typeface="Helvetica Neue"/>
              </a:defRPr>
            </a:lvl7pPr>
            <a:lvl8pPr>
              <a:defRPr sz="2100" b="0">
                <a:solidFill>
                  <a:srgbClr val="D8E7CF"/>
                </a:solidFill>
                <a:latin typeface="Helvetica Neue"/>
                <a:ea typeface="Helvetica Neue"/>
                <a:cs typeface="Helvetica Neue"/>
              </a:defRPr>
            </a:lvl8pPr>
            <a:lvl9pPr>
              <a:defRPr sz="2100" b="0">
                <a:solidFill>
                  <a:srgbClr val="D8E7CF"/>
                </a:solidFill>
                <a:latin typeface="Helvetica Neue"/>
                <a:ea typeface="Helvetica Neue"/>
                <a:cs typeface="Helvetica Neue"/>
              </a:defRPr>
            </a:lvl9pPr>
          </a:lstStyle>
          <a:p xmlns:a="http://schemas.openxmlformats.org/drawingml/2006/main">
            <a:pPr>
              <a:defRPr sz="2100" b="0">
                <a:solidFill>
                  <a:srgbClr val="D8E7CF"/>
                </a:solidFill>
                <a:latin typeface="Helvetica Neue"/>
                <a:ea typeface="Helvetica Neue"/>
                <a:cs typeface="Helvetica Neue"/>
              </a:defRPr>
            </a:pPr>
            <a:r>
              <a:rPr sz="2100" b="0">
                <a:solidFill>
                  <a:srgbClr val="D8E7CF"/>
                </a:solidFill>
                <a:latin typeface="Helvetica Neue"/>
                <a:ea typeface="Helvetica Neue"/>
                <a:cs typeface="Helvetica Neue"/>
              </a:rPr>
              <a:t>bob the builder</a:t>
            </a:r>
          </a:p>
          <a:p xmlns:a="http://schemas.openxmlformats.org/drawingml/2006/main">
            <a:pPr>
              <a:defRPr sz="2100" b="0">
                <a:solidFill>
                  <a:srgbClr val="D8E7CF"/>
                </a:solidFill>
                <a:latin typeface="Helvetica Neue"/>
                <a:ea typeface="Helvetica Neue"/>
                <a:cs typeface="Helvetica Neue"/>
              </a:defRPr>
            </a:pPr>
            <a:r>
              <a:rPr sz="2100" b="0">
                <a:solidFill>
                  <a:srgbClr val="D8E7CF"/>
                </a:solidFill>
                <a:latin typeface="Helvetica Neue"/>
                <a:ea typeface="Helvetica Neue"/>
                <a:cs typeface="Helvetica Neue"/>
              </a:rPr>
              <a:t>Track 3: Reasoning Architecture</a:t>
            </a:r>
          </a:p>
        </p:txBody>
      </p:sp>
    </p:spTree>
    <p:extLst>
      <p:ext uri="{BB962C8B-B14F-4D97-AF65-F5344CB8AC3E}">
        <p14:creationId xmlns:p14="http://schemas.microsoft.com/office/powerpoint/2010/main" val="1266938627"/>
      </p:ext>
    </p:extLst>
  </p:cSld>
</p:sld>
</file>

<file path=ppt/slides/slide2.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1BA14A-3579-41A2-B31C-C5A8EA955299}"/>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C35"/>
                </a:solidFill>
                <a:latin typeface="Helvetica Neue"/>
                <a:ea typeface="Helvetica Neue"/>
                <a:cs typeface="Helvetica Neue"/>
              </a:defRPr>
            </a:defPPr>
            <a:lvl1pPr>
              <a:defRPr sz="3300" b="1">
                <a:solidFill>
                  <a:srgbClr val="193C35"/>
                </a:solidFill>
                <a:latin typeface="Helvetica Neue"/>
                <a:ea typeface="Helvetica Neue"/>
                <a:cs typeface="Helvetica Neue"/>
              </a:defRPr>
            </a:lvl1pPr>
            <a:lvl2pPr>
              <a:defRPr sz="3300" b="1">
                <a:solidFill>
                  <a:srgbClr val="193C35"/>
                </a:solidFill>
                <a:latin typeface="Helvetica Neue"/>
                <a:ea typeface="Helvetica Neue"/>
                <a:cs typeface="Helvetica Neue"/>
              </a:defRPr>
            </a:lvl2pPr>
            <a:lvl3pPr>
              <a:defRPr sz="3300" b="1">
                <a:solidFill>
                  <a:srgbClr val="193C35"/>
                </a:solidFill>
                <a:latin typeface="Helvetica Neue"/>
                <a:ea typeface="Helvetica Neue"/>
                <a:cs typeface="Helvetica Neue"/>
              </a:defRPr>
            </a:lvl3pPr>
            <a:lvl4pPr>
              <a:defRPr sz="3300" b="1">
                <a:solidFill>
                  <a:srgbClr val="193C35"/>
                </a:solidFill>
                <a:latin typeface="Helvetica Neue"/>
                <a:ea typeface="Helvetica Neue"/>
                <a:cs typeface="Helvetica Neue"/>
              </a:defRPr>
            </a:lvl4pPr>
            <a:lvl5pPr>
              <a:defRPr sz="3300" b="1">
                <a:solidFill>
                  <a:srgbClr val="193C35"/>
                </a:solidFill>
                <a:latin typeface="Helvetica Neue"/>
                <a:ea typeface="Helvetica Neue"/>
                <a:cs typeface="Helvetica Neue"/>
              </a:defRPr>
            </a:lvl5pPr>
            <a:lvl6pPr>
              <a:defRPr sz="3300" b="1">
                <a:solidFill>
                  <a:srgbClr val="193C35"/>
                </a:solidFill>
                <a:latin typeface="Helvetica Neue"/>
                <a:ea typeface="Helvetica Neue"/>
                <a:cs typeface="Helvetica Neue"/>
              </a:defRPr>
            </a:lvl6pPr>
            <a:lvl7pPr>
              <a:defRPr sz="3300" b="1">
                <a:solidFill>
                  <a:srgbClr val="193C35"/>
                </a:solidFill>
                <a:latin typeface="Helvetica Neue"/>
                <a:ea typeface="Helvetica Neue"/>
                <a:cs typeface="Helvetica Neue"/>
              </a:defRPr>
            </a:lvl7pPr>
            <a:lvl8pPr>
              <a:defRPr sz="3300" b="1">
                <a:solidFill>
                  <a:srgbClr val="193C35"/>
                </a:solidFill>
                <a:latin typeface="Helvetica Neue"/>
                <a:ea typeface="Helvetica Neue"/>
                <a:cs typeface="Helvetica Neue"/>
              </a:defRPr>
            </a:lvl8pPr>
            <a:lvl9pPr>
              <a:defRPr sz="3300" b="1">
                <a:solidFill>
                  <a:srgbClr val="193C35"/>
                </a:solidFill>
                <a:latin typeface="Helvetica Neue"/>
                <a:ea typeface="Helvetica Neue"/>
                <a:cs typeface="Helvetica Neue"/>
              </a:defRPr>
            </a:lvl9pPr>
          </a:lstStyle>
          <a:p xmlns:a="http://schemas.openxmlformats.org/drawingml/2006/main">
            <a:pPr>
              <a:defRPr sz="3300" b="1">
                <a:solidFill>
                  <a:srgbClr val="193C35"/>
                </a:solidFill>
                <a:latin typeface="Helvetica Neue"/>
                <a:ea typeface="Helvetica Neue"/>
                <a:cs typeface="Helvetica Neue"/>
              </a:defRPr>
            </a:pPr>
            <a:r>
              <a:rPr sz="3300" b="1">
                <a:solidFill>
                  <a:srgbClr val="193C35"/>
                </a:solidFill>
                <a:latin typeface="Helvetica Neue"/>
                <a:ea typeface="Helvetica Neue"/>
                <a:cs typeface="Helvetica Neue"/>
              </a:rPr>
              <a:t>How a decision reaches the database</a:t>
            </a:r>
          </a:p>
        </p:txBody>
      </p:sp>
      <p:sp>
        <p:nvSpPr>
          <p:cNvPr id="2" name="">
            <a:extLst xmlns:a="http://schemas.openxmlformats.org/drawingml/2006/main">
              <a:ext uri="{FF2B5EF4-FFF2-40B4-BE49-F238E27FC236}">
                <a16:creationId xmlns:a16="http://schemas.microsoft.com/office/drawing/2014/main" id="{C2510084-4E02-4D05-962B-F85FCECCBB60}"/>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35B"/>
                </a:solidFill>
                <a:latin typeface="Helvetica Neue"/>
                <a:ea typeface="Helvetica Neue"/>
                <a:cs typeface="Helvetica Neue"/>
              </a:defRPr>
            </a:defPPr>
            <a:lvl1pPr>
              <a:defRPr sz="1500" b="0">
                <a:solidFill>
                  <a:srgbClr val="54635B"/>
                </a:solidFill>
                <a:latin typeface="Helvetica Neue"/>
                <a:ea typeface="Helvetica Neue"/>
                <a:cs typeface="Helvetica Neue"/>
              </a:defRPr>
            </a:lvl1pPr>
            <a:lvl2pPr>
              <a:defRPr sz="1500" b="0">
                <a:solidFill>
                  <a:srgbClr val="54635B"/>
                </a:solidFill>
                <a:latin typeface="Helvetica Neue"/>
                <a:ea typeface="Helvetica Neue"/>
                <a:cs typeface="Helvetica Neue"/>
              </a:defRPr>
            </a:lvl2pPr>
            <a:lvl3pPr>
              <a:defRPr sz="1500" b="0">
                <a:solidFill>
                  <a:srgbClr val="54635B"/>
                </a:solidFill>
                <a:latin typeface="Helvetica Neue"/>
                <a:ea typeface="Helvetica Neue"/>
                <a:cs typeface="Helvetica Neue"/>
              </a:defRPr>
            </a:lvl3pPr>
            <a:lvl4pPr>
              <a:defRPr sz="1500" b="0">
                <a:solidFill>
                  <a:srgbClr val="54635B"/>
                </a:solidFill>
                <a:latin typeface="Helvetica Neue"/>
                <a:ea typeface="Helvetica Neue"/>
                <a:cs typeface="Helvetica Neue"/>
              </a:defRPr>
            </a:lvl4pPr>
            <a:lvl5pPr>
              <a:defRPr sz="1500" b="0">
                <a:solidFill>
                  <a:srgbClr val="54635B"/>
                </a:solidFill>
                <a:latin typeface="Helvetica Neue"/>
                <a:ea typeface="Helvetica Neue"/>
                <a:cs typeface="Helvetica Neue"/>
              </a:defRPr>
            </a:lvl5pPr>
            <a:lvl6pPr>
              <a:defRPr sz="1500" b="0">
                <a:solidFill>
                  <a:srgbClr val="54635B"/>
                </a:solidFill>
                <a:latin typeface="Helvetica Neue"/>
                <a:ea typeface="Helvetica Neue"/>
                <a:cs typeface="Helvetica Neue"/>
              </a:defRPr>
            </a:lvl6pPr>
            <a:lvl7pPr>
              <a:defRPr sz="1500" b="0">
                <a:solidFill>
                  <a:srgbClr val="54635B"/>
                </a:solidFill>
                <a:latin typeface="Helvetica Neue"/>
                <a:ea typeface="Helvetica Neue"/>
                <a:cs typeface="Helvetica Neue"/>
              </a:defRPr>
            </a:lvl7pPr>
            <a:lvl8pPr>
              <a:defRPr sz="1500" b="0">
                <a:solidFill>
                  <a:srgbClr val="54635B"/>
                </a:solidFill>
                <a:latin typeface="Helvetica Neue"/>
                <a:ea typeface="Helvetica Neue"/>
                <a:cs typeface="Helvetica Neue"/>
              </a:defRPr>
            </a:lvl8pPr>
            <a:lvl9pPr>
              <a:defRPr sz="1500" b="0">
                <a:solidFill>
                  <a:srgbClr val="54635B"/>
                </a:solidFill>
                <a:latin typeface="Helvetica Neue"/>
                <a:ea typeface="Helvetica Neue"/>
                <a:cs typeface="Helvetica Neue"/>
              </a:defRPr>
            </a:lvl9pPr>
          </a:lstStyle>
          <a:p xmlns:a="http://schemas.openxmlformats.org/drawingml/2006/main">
            <a:pPr>
              <a:defRPr sz="1500" b="0">
                <a:solidFill>
                  <a:srgbClr val="54635B"/>
                </a:solidFill>
                <a:latin typeface="Helvetica Neue"/>
                <a:ea typeface="Helvetica Neue"/>
                <a:cs typeface="Helvetica Neue"/>
              </a:defRPr>
            </a:pPr>
            <a:r>
              <a:rPr sz="1500" b="0">
                <a:solidFill>
                  <a:srgbClr val="54635B"/>
                </a:solidFill>
                <a:latin typeface="Helvetica Neue"/>
                <a:ea typeface="Helvetica Neue"/>
                <a:cs typeface="Helvetica Neue"/>
              </a:rPr>
              <a:t>Two separate Nightshift roles; deterministic code controls persistence</a:t>
            </a:r>
          </a:p>
        </p:txBody>
      </p:sp>
      <p:sp>
        <p:nvSpPr>
          <p:cNvPr id="3" name="">
            <a:extLst xmlns:a="http://schemas.openxmlformats.org/drawingml/2006/main">
              <a:ext uri="{FF2B5EF4-FFF2-40B4-BE49-F238E27FC236}">
                <a16:creationId xmlns:a16="http://schemas.microsoft.com/office/drawing/2014/main" id="{C2FE9B3F-EE7A-4BB5-9A11-5BB29F0E205F}"/>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4635B"/>
                </a:solidFill>
                <a:latin typeface="Helvetica Neue"/>
                <a:ea typeface="Helvetica Neue"/>
                <a:cs typeface="Helvetica Neue"/>
              </a:defRPr>
            </a:defPPr>
            <a:lvl1pPr>
              <a:defRPr sz="1425" b="0">
                <a:solidFill>
                  <a:srgbClr val="54635B"/>
                </a:solidFill>
                <a:latin typeface="Helvetica Neue"/>
                <a:ea typeface="Helvetica Neue"/>
                <a:cs typeface="Helvetica Neue"/>
              </a:defRPr>
            </a:lvl1pPr>
            <a:lvl2pPr>
              <a:defRPr sz="1425" b="0">
                <a:solidFill>
                  <a:srgbClr val="54635B"/>
                </a:solidFill>
                <a:latin typeface="Helvetica Neue"/>
                <a:ea typeface="Helvetica Neue"/>
                <a:cs typeface="Helvetica Neue"/>
              </a:defRPr>
            </a:lvl2pPr>
            <a:lvl3pPr>
              <a:defRPr sz="1425" b="0">
                <a:solidFill>
                  <a:srgbClr val="54635B"/>
                </a:solidFill>
                <a:latin typeface="Helvetica Neue"/>
                <a:ea typeface="Helvetica Neue"/>
                <a:cs typeface="Helvetica Neue"/>
              </a:defRPr>
            </a:lvl3pPr>
            <a:lvl4pPr>
              <a:defRPr sz="1425" b="0">
                <a:solidFill>
                  <a:srgbClr val="54635B"/>
                </a:solidFill>
                <a:latin typeface="Helvetica Neue"/>
                <a:ea typeface="Helvetica Neue"/>
                <a:cs typeface="Helvetica Neue"/>
              </a:defRPr>
            </a:lvl4pPr>
            <a:lvl5pPr>
              <a:defRPr sz="1425" b="0">
                <a:solidFill>
                  <a:srgbClr val="54635B"/>
                </a:solidFill>
                <a:latin typeface="Helvetica Neue"/>
                <a:ea typeface="Helvetica Neue"/>
                <a:cs typeface="Helvetica Neue"/>
              </a:defRPr>
            </a:lvl5pPr>
            <a:lvl6pPr>
              <a:defRPr sz="1425" b="0">
                <a:solidFill>
                  <a:srgbClr val="54635B"/>
                </a:solidFill>
                <a:latin typeface="Helvetica Neue"/>
                <a:ea typeface="Helvetica Neue"/>
                <a:cs typeface="Helvetica Neue"/>
              </a:defRPr>
            </a:lvl6pPr>
            <a:lvl7pPr>
              <a:defRPr sz="1425" b="0">
                <a:solidFill>
                  <a:srgbClr val="54635B"/>
                </a:solidFill>
                <a:latin typeface="Helvetica Neue"/>
                <a:ea typeface="Helvetica Neue"/>
                <a:cs typeface="Helvetica Neue"/>
              </a:defRPr>
            </a:lvl7pPr>
            <a:lvl8pPr>
              <a:defRPr sz="1425" b="0">
                <a:solidFill>
                  <a:srgbClr val="54635B"/>
                </a:solidFill>
                <a:latin typeface="Helvetica Neue"/>
                <a:ea typeface="Helvetica Neue"/>
                <a:cs typeface="Helvetica Neue"/>
              </a:defRPr>
            </a:lvl8pPr>
            <a:lvl9pPr>
              <a:defRPr sz="1425" b="0">
                <a:solidFill>
                  <a:srgbClr val="54635B"/>
                </a:solidFill>
                <a:latin typeface="Helvetica Neue"/>
                <a:ea typeface="Helvetica Neue"/>
                <a:cs typeface="Helvetica Neue"/>
              </a:defRPr>
            </a:lvl9pPr>
          </a:lstStyle>
          <a:p xmlns:a="http://schemas.openxmlformats.org/drawingml/2006/main">
            <a:pPr>
              <a:defRPr sz="1425" b="0">
                <a:solidFill>
                  <a:srgbClr val="54635B"/>
                </a:solidFill>
                <a:latin typeface="Helvetica Neue"/>
                <a:ea typeface="Helvetica Neue"/>
                <a:cs typeface="Helvetica Neue"/>
              </a:defRPr>
            </a:pPr>
            <a:r>
              <a:rPr sz="1425" b="0">
                <a:solidFill>
                  <a:srgbClr val="54635B"/>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FB76F88F-AFA9-4AE8-8CB8-1E706289A639}"/>
              </a:ext>
            </a:extLst>
          </p:cNvPr>
          <p:cNvGraphicFramePr/>
          <p:nvPr/>
        </p:nvGraphicFramePr>
        <p:xfrm>
          <a:off xmlns:a="http://schemas.openxmlformats.org/drawingml/2006/main" x="609600" y="1524000"/>
          <a:ext xmlns:a="http://schemas.openxmlformats.org/drawingml/2006/main" cx="10972800" cy="3924300"/>
        </p:xfrm>
        <a:graphic xmlns:a="http://schemas.openxmlformats.org/drawingml/2006/main">
          <a:graphicData uri="http://schemas.openxmlformats.org/drawingml/2006/table">
            <a:tbl>
              <a:tblPr/>
              <a:tblGrid>
                <a:gridCol w="3810000"/>
                <a:gridCol w="7162800"/>
              </a:tblGrid>
              <a:tr h="654050">
                <a:tc>
                  <a:txBody>
                    <a:bodyPr/>
                    <a:lstStyle/>
                    <a:p>
                      <a:r>
                        <a:rPr sz="1950" b="1">
                          <a:solidFill>
                            <a:srgbClr val="FFFFFF"/>
                          </a:solidFill>
                          <a:latin typeface="Helvetica Neue"/>
                          <a:ea typeface="Helvetica Neue"/>
                          <a:cs typeface="Helvetica Neue"/>
                        </a:rPr>
                        <a:t>Stage</a:t>
                      </a:r>
                    </a:p>
                  </a:txBody>
                  <a:tcPr marL="91440" marR="91440" marT="45720" marB="45720">
                    <a:lnL w="9525">
                      <a:solidFill>
                        <a:srgbClr val="B7C4BA"/>
                      </a:solidFill>
                      <a:prstDash val="solid"/>
                    </a:lnL>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c>
                  <a:txBody>
                    <a:bodyPr/>
                    <a:lstStyle/>
                    <a:p>
                      <a:r>
                        <a:rPr sz="1950" b="1">
                          <a:solidFill>
                            <a:srgbClr val="FFFFFF"/>
                          </a:solidFill>
                          <a:latin typeface="Helvetica Neue"/>
                          <a:ea typeface="Helvetica Neue"/>
                          <a:cs typeface="Helvetica Neue"/>
                        </a:rPr>
                        <a:t>What it checks or produces</a:t>
                      </a:r>
                    </a:p>
                  </a:txBody>
                  <a:tcPr marL="91440" marR="91440" marT="45720" marB="45720">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r>
              <a:tr h="654050">
                <a:tc>
                  <a:txBody>
                    <a:bodyPr/>
                    <a:lstStyle/>
                    <a:p>
                      <a:r>
                        <a:rPr sz="1950" b="0">
                          <a:solidFill>
                            <a:srgbClr val="193C35"/>
                          </a:solidFill>
                          <a:latin typeface="Helvetica Neue"/>
                          <a:ea typeface="Helvetica Neue"/>
                          <a:cs typeface="Helvetica Neue"/>
                        </a:rPr>
                        <a:t>1  Zetaris + policy</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950" b="0">
                          <a:solidFill>
                            <a:srgbClr val="193C35"/>
                          </a:solidFill>
                          <a:latin typeface="Helvetica Neue"/>
                          <a:ea typeface="Helvetica Neue"/>
                          <a:cs typeface="Helvetica Neue"/>
                        </a:rPr>
                        <a:t>Source facts and the applicable policy</a:t>
                      </a:r>
                    </a:p>
                  </a:txBody>
                  <a:tcPr marL="91440" marR="91440" marT="45720" marB="45720">
                    <a:lnR w="9525">
                      <a:solidFill>
                        <a:srgbClr val="B7C4BA"/>
                      </a:solidFill>
                      <a:prstDash val="solid"/>
                    </a:lnR>
                    <a:lnB w="9525">
                      <a:solidFill>
                        <a:srgbClr val="B7C4BA"/>
                      </a:solidFill>
                      <a:prstDash val="solid"/>
                    </a:lnB>
                    <a:solidFill>
                      <a:srgbClr val="F4F5EF"/>
                    </a:solidFill>
                  </a:tcPr>
                </a:tc>
              </a:tr>
              <a:tr h="654050">
                <a:tc>
                  <a:txBody>
                    <a:bodyPr/>
                    <a:lstStyle/>
                    <a:p>
                      <a:r>
                        <a:rPr sz="1950" b="0">
                          <a:solidFill>
                            <a:srgbClr val="193C35"/>
                          </a:solidFill>
                          <a:latin typeface="Helvetica Neue"/>
                          <a:ea typeface="Helvetica Neue"/>
                          <a:cs typeface="Helvetica Neue"/>
                        </a:rPr>
                        <a:t>2  Investigator</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950" b="0">
                          <a:solidFill>
                            <a:srgbClr val="193C35"/>
                          </a:solidFill>
                          <a:latin typeface="Helvetica Neue"/>
                          <a:ea typeface="Helvetica Neue"/>
                          <a:cs typeface="Helvetica Neue"/>
                        </a:rPr>
                        <a:t>A structured proposal with citations</a:t>
                      </a:r>
                    </a:p>
                  </a:txBody>
                  <a:tcPr marL="91440" marR="91440" marT="45720" marB="45720">
                    <a:lnR w="9525">
                      <a:solidFill>
                        <a:srgbClr val="B7C4BA"/>
                      </a:solidFill>
                      <a:prstDash val="solid"/>
                    </a:lnR>
                    <a:lnB w="9525">
                      <a:solidFill>
                        <a:srgbClr val="B7C4BA"/>
                      </a:solidFill>
                      <a:prstDash val="solid"/>
                    </a:lnB>
                    <a:solidFill>
                      <a:srgbClr val="F4F5EF"/>
                    </a:solidFill>
                  </a:tcPr>
                </a:tc>
              </a:tr>
              <a:tr h="654050">
                <a:tc>
                  <a:txBody>
                    <a:bodyPr/>
                    <a:lstStyle/>
                    <a:p>
                      <a:r>
                        <a:rPr sz="1950" b="0">
                          <a:solidFill>
                            <a:srgbClr val="193C35"/>
                          </a:solidFill>
                          <a:latin typeface="Helvetica Neue"/>
                          <a:ea typeface="Helvetica Neue"/>
                          <a:cs typeface="Helvetica Neue"/>
                        </a:rPr>
                        <a:t>3  Deterministic critic</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950" b="0">
                          <a:solidFill>
                            <a:srgbClr val="193C35"/>
                          </a:solidFill>
                          <a:latin typeface="Helvetica Neue"/>
                          <a:ea typeface="Helvetica Neue"/>
                          <a:cs typeface="Helvetica Neue"/>
                        </a:rPr>
                        <a:t>Policy, amounts and evidence references</a:t>
                      </a:r>
                    </a:p>
                  </a:txBody>
                  <a:tcPr marL="91440" marR="91440" marT="45720" marB="45720">
                    <a:lnR w="9525">
                      <a:solidFill>
                        <a:srgbClr val="B7C4BA"/>
                      </a:solidFill>
                      <a:prstDash val="solid"/>
                    </a:lnR>
                    <a:lnB w="9525">
                      <a:solidFill>
                        <a:srgbClr val="B7C4BA"/>
                      </a:solidFill>
                      <a:prstDash val="solid"/>
                    </a:lnB>
                    <a:solidFill>
                      <a:srgbClr val="F4F5EF"/>
                    </a:solidFill>
                  </a:tcPr>
                </a:tc>
              </a:tr>
              <a:tr h="654050">
                <a:tc>
                  <a:txBody>
                    <a:bodyPr/>
                    <a:lstStyle/>
                    <a:p>
                      <a:r>
                        <a:rPr sz="1950" b="0">
                          <a:solidFill>
                            <a:srgbClr val="193C35"/>
                          </a:solidFill>
                          <a:latin typeface="Helvetica Neue"/>
                          <a:ea typeface="Helvetica Neue"/>
                          <a:cs typeface="Helvetica Neue"/>
                        </a:rPr>
                        <a:t>4  Independent Reviewer</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950" b="0">
                          <a:solidFill>
                            <a:srgbClr val="193C35"/>
                          </a:solidFill>
                          <a:latin typeface="Helvetica Neue"/>
                          <a:ea typeface="Helvetica Neue"/>
                          <a:cs typeface="Helvetica Neue"/>
                        </a:rPr>
                        <a:t>A separate challenge to the evidence</a:t>
                      </a:r>
                    </a:p>
                  </a:txBody>
                  <a:tcPr marL="91440" marR="91440" marT="45720" marB="45720">
                    <a:lnR w="9525">
                      <a:solidFill>
                        <a:srgbClr val="B7C4BA"/>
                      </a:solidFill>
                      <a:prstDash val="solid"/>
                    </a:lnR>
                    <a:lnB w="9525">
                      <a:solidFill>
                        <a:srgbClr val="B7C4BA"/>
                      </a:solidFill>
                      <a:prstDash val="solid"/>
                    </a:lnB>
                    <a:solidFill>
                      <a:srgbClr val="F4F5EF"/>
                    </a:solidFill>
                  </a:tcPr>
                </a:tc>
              </a:tr>
              <a:tr h="654050">
                <a:tc>
                  <a:txBody>
                    <a:bodyPr/>
                    <a:lstStyle/>
                    <a:p>
                      <a:r>
                        <a:rPr sz="1950" b="0">
                          <a:solidFill>
                            <a:srgbClr val="193C35"/>
                          </a:solidFill>
                          <a:latin typeface="Helvetica Neue"/>
                          <a:ea typeface="Helvetica Neue"/>
                          <a:cs typeface="Helvetica Neue"/>
                        </a:rPr>
                        <a:t>5  Protected database writer</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950" b="0">
                          <a:solidFill>
                            <a:srgbClr val="193C35"/>
                          </a:solidFill>
                          <a:latin typeface="Helvetica Neue"/>
                          <a:ea typeface="Helvetica Neue"/>
                          <a:cs typeface="Helvetica Neue"/>
                        </a:rPr>
                        <a:t>Current facts, then an atomic decision</a:t>
                      </a:r>
                    </a:p>
                  </a:txBody>
                  <a:tcPr marL="91440" marR="91440" marT="45720" marB="45720">
                    <a:lnR w="9525">
                      <a:solidFill>
                        <a:srgbClr val="B7C4BA"/>
                      </a:solidFill>
                      <a:prstDash val="solid"/>
                    </a:lnR>
                    <a:lnB w="9525">
                      <a:solidFill>
                        <a:srgbClr val="B7C4BA"/>
                      </a:solidFill>
                      <a:prstDash val="solid"/>
                    </a:lnB>
                    <a:solidFill>
                      <a:srgbClr val="F4F5EF"/>
                    </a:solidFill>
                  </a:tcPr>
                </a:tc>
              </a:tr>
            </a:tbl>
          </a:graphicData>
        </a:graphic>
      </p:graphicFrame>
      <p:sp>
        <p:nvSpPr>
          <p:cNvPr id="5" name="">
            <a:extLst xmlns:a="http://schemas.openxmlformats.org/drawingml/2006/main">
              <a:ext uri="{FF2B5EF4-FFF2-40B4-BE49-F238E27FC236}">
                <a16:creationId xmlns:a16="http://schemas.microsoft.com/office/drawing/2014/main" id="{70509B70-3CD0-4E5B-BF8C-D9717222B8B3}"/>
              </a:ext>
            </a:extLst>
          </p:cNvPr>
          <p:cNvSpPr>
            <a:spLocks xmlns:a="http://schemas.openxmlformats.org/drawingml/2006/main" noGrp="1"/>
          </p:cNvSpPr>
          <p:nvPr/>
        </p:nvSpPr>
        <p:spPr>
          <a:xfrm xmlns:a="http://schemas.openxmlformats.org/drawingml/2006/main">
            <a:off x="609600" y="57435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93C35"/>
                </a:solidFill>
                <a:latin typeface="Helvetica Neue"/>
                <a:ea typeface="Helvetica Neue"/>
                <a:cs typeface="Helvetica Neue"/>
              </a:defRPr>
            </a:defPPr>
            <a:lvl1pPr>
              <a:defRPr sz="2025" b="1">
                <a:solidFill>
                  <a:srgbClr val="193C35"/>
                </a:solidFill>
                <a:latin typeface="Helvetica Neue"/>
                <a:ea typeface="Helvetica Neue"/>
                <a:cs typeface="Helvetica Neue"/>
              </a:defRPr>
            </a:lvl1pPr>
            <a:lvl2pPr>
              <a:defRPr sz="2025" b="1">
                <a:solidFill>
                  <a:srgbClr val="193C35"/>
                </a:solidFill>
                <a:latin typeface="Helvetica Neue"/>
                <a:ea typeface="Helvetica Neue"/>
                <a:cs typeface="Helvetica Neue"/>
              </a:defRPr>
            </a:lvl2pPr>
            <a:lvl3pPr>
              <a:defRPr sz="2025" b="1">
                <a:solidFill>
                  <a:srgbClr val="193C35"/>
                </a:solidFill>
                <a:latin typeface="Helvetica Neue"/>
                <a:ea typeface="Helvetica Neue"/>
                <a:cs typeface="Helvetica Neue"/>
              </a:defRPr>
            </a:lvl3pPr>
            <a:lvl4pPr>
              <a:defRPr sz="2025" b="1">
                <a:solidFill>
                  <a:srgbClr val="193C35"/>
                </a:solidFill>
                <a:latin typeface="Helvetica Neue"/>
                <a:ea typeface="Helvetica Neue"/>
                <a:cs typeface="Helvetica Neue"/>
              </a:defRPr>
            </a:lvl4pPr>
            <a:lvl5pPr>
              <a:defRPr sz="2025" b="1">
                <a:solidFill>
                  <a:srgbClr val="193C35"/>
                </a:solidFill>
                <a:latin typeface="Helvetica Neue"/>
                <a:ea typeface="Helvetica Neue"/>
                <a:cs typeface="Helvetica Neue"/>
              </a:defRPr>
            </a:lvl5pPr>
            <a:lvl6pPr>
              <a:defRPr sz="2025" b="1">
                <a:solidFill>
                  <a:srgbClr val="193C35"/>
                </a:solidFill>
                <a:latin typeface="Helvetica Neue"/>
                <a:ea typeface="Helvetica Neue"/>
                <a:cs typeface="Helvetica Neue"/>
              </a:defRPr>
            </a:lvl6pPr>
            <a:lvl7pPr>
              <a:defRPr sz="2025" b="1">
                <a:solidFill>
                  <a:srgbClr val="193C35"/>
                </a:solidFill>
                <a:latin typeface="Helvetica Neue"/>
                <a:ea typeface="Helvetica Neue"/>
                <a:cs typeface="Helvetica Neue"/>
              </a:defRPr>
            </a:lvl7pPr>
            <a:lvl8pPr>
              <a:defRPr sz="2025" b="1">
                <a:solidFill>
                  <a:srgbClr val="193C35"/>
                </a:solidFill>
                <a:latin typeface="Helvetica Neue"/>
                <a:ea typeface="Helvetica Neue"/>
                <a:cs typeface="Helvetica Neue"/>
              </a:defRPr>
            </a:lvl8pPr>
            <a:lvl9pPr>
              <a:defRPr sz="2025" b="1">
                <a:solidFill>
                  <a:srgbClr val="193C35"/>
                </a:solidFill>
                <a:latin typeface="Helvetica Neue"/>
                <a:ea typeface="Helvetica Neue"/>
                <a:cs typeface="Helvetica Neue"/>
              </a:defRPr>
            </a:lvl9pPr>
          </a:lstStyle>
          <a:p xmlns:a="http://schemas.openxmlformats.org/drawingml/2006/main">
            <a:pPr>
              <a:defRPr sz="2025" b="1">
                <a:solidFill>
                  <a:srgbClr val="193C35"/>
                </a:solidFill>
                <a:latin typeface="Helvetica Neue"/>
                <a:ea typeface="Helvetica Neue"/>
                <a:cs typeface="Helvetica Neue"/>
              </a:defRPr>
            </a:pPr>
            <a:r>
              <a:rPr sz="2025" b="1">
                <a:solidFill>
                  <a:srgbClr val="193C35"/>
                </a:solidFill>
                <a:latin typeface="Helvetica Neue"/>
                <a:ea typeface="Helvetica Neue"/>
                <a:cs typeface="Helvetica Neue"/>
              </a:rPr>
              <a:t>One correction allowance. Both checks accept the same final proposal.</a:t>
            </a:r>
          </a:p>
        </p:txBody>
      </p:sp>
    </p:spTree>
    <p:extLst>
      <p:ext uri="{BB962C8B-B14F-4D97-AF65-F5344CB8AC3E}">
        <p14:creationId xmlns:p14="http://schemas.microsoft.com/office/powerpoint/2010/main" val="127493963"/>
      </p:ext>
    </p:extLst>
  </p:cSld>
</p:sld>
</file>

<file path=ppt/slides/slide3.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13FBA7-7B79-4571-90A1-273EF76925A3}"/>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C35"/>
                </a:solidFill>
                <a:latin typeface="Helvetica Neue"/>
                <a:ea typeface="Helvetica Neue"/>
                <a:cs typeface="Helvetica Neue"/>
              </a:defRPr>
            </a:defPPr>
            <a:lvl1pPr>
              <a:defRPr sz="3300" b="1">
                <a:solidFill>
                  <a:srgbClr val="193C35"/>
                </a:solidFill>
                <a:latin typeface="Helvetica Neue"/>
                <a:ea typeface="Helvetica Neue"/>
                <a:cs typeface="Helvetica Neue"/>
              </a:defRPr>
            </a:lvl1pPr>
            <a:lvl2pPr>
              <a:defRPr sz="3300" b="1">
                <a:solidFill>
                  <a:srgbClr val="193C35"/>
                </a:solidFill>
                <a:latin typeface="Helvetica Neue"/>
                <a:ea typeface="Helvetica Neue"/>
                <a:cs typeface="Helvetica Neue"/>
              </a:defRPr>
            </a:lvl2pPr>
            <a:lvl3pPr>
              <a:defRPr sz="3300" b="1">
                <a:solidFill>
                  <a:srgbClr val="193C35"/>
                </a:solidFill>
                <a:latin typeface="Helvetica Neue"/>
                <a:ea typeface="Helvetica Neue"/>
                <a:cs typeface="Helvetica Neue"/>
              </a:defRPr>
            </a:lvl3pPr>
            <a:lvl4pPr>
              <a:defRPr sz="3300" b="1">
                <a:solidFill>
                  <a:srgbClr val="193C35"/>
                </a:solidFill>
                <a:latin typeface="Helvetica Neue"/>
                <a:ea typeface="Helvetica Neue"/>
                <a:cs typeface="Helvetica Neue"/>
              </a:defRPr>
            </a:lvl4pPr>
            <a:lvl5pPr>
              <a:defRPr sz="3300" b="1">
                <a:solidFill>
                  <a:srgbClr val="193C35"/>
                </a:solidFill>
                <a:latin typeface="Helvetica Neue"/>
                <a:ea typeface="Helvetica Neue"/>
                <a:cs typeface="Helvetica Neue"/>
              </a:defRPr>
            </a:lvl5pPr>
            <a:lvl6pPr>
              <a:defRPr sz="3300" b="1">
                <a:solidFill>
                  <a:srgbClr val="193C35"/>
                </a:solidFill>
                <a:latin typeface="Helvetica Neue"/>
                <a:ea typeface="Helvetica Neue"/>
                <a:cs typeface="Helvetica Neue"/>
              </a:defRPr>
            </a:lvl6pPr>
            <a:lvl7pPr>
              <a:defRPr sz="3300" b="1">
                <a:solidFill>
                  <a:srgbClr val="193C35"/>
                </a:solidFill>
                <a:latin typeface="Helvetica Neue"/>
                <a:ea typeface="Helvetica Neue"/>
                <a:cs typeface="Helvetica Neue"/>
              </a:defRPr>
            </a:lvl7pPr>
            <a:lvl8pPr>
              <a:defRPr sz="3300" b="1">
                <a:solidFill>
                  <a:srgbClr val="193C35"/>
                </a:solidFill>
                <a:latin typeface="Helvetica Neue"/>
                <a:ea typeface="Helvetica Neue"/>
                <a:cs typeface="Helvetica Neue"/>
              </a:defRPr>
            </a:lvl8pPr>
            <a:lvl9pPr>
              <a:defRPr sz="3300" b="1">
                <a:solidFill>
                  <a:srgbClr val="193C35"/>
                </a:solidFill>
                <a:latin typeface="Helvetica Neue"/>
                <a:ea typeface="Helvetica Neue"/>
                <a:cs typeface="Helvetica Neue"/>
              </a:defRPr>
            </a:lvl9pPr>
          </a:lstStyle>
          <a:p xmlns:a="http://schemas.openxmlformats.org/drawingml/2006/main">
            <a:pPr>
              <a:defRPr sz="3300" b="1">
                <a:solidFill>
                  <a:srgbClr val="193C35"/>
                </a:solidFill>
                <a:latin typeface="Helvetica Neue"/>
                <a:ea typeface="Helvetica Neue"/>
                <a:cs typeface="Helvetica Neue"/>
              </a:defRPr>
            </a:pPr>
            <a:r>
              <a:rPr sz="3300" b="1">
                <a:solidFill>
                  <a:srgbClr val="193C35"/>
                </a:solidFill>
                <a:latin typeface="Helvetica Neue"/>
                <a:ea typeface="Helvetica Neue"/>
                <a:cs typeface="Helvetica Neue"/>
              </a:rPr>
              <a:t>DP-0020: missing refund confirmation</a:t>
            </a:r>
          </a:p>
        </p:txBody>
      </p:sp>
      <p:sp>
        <p:nvSpPr>
          <p:cNvPr id="2" name="">
            <a:extLst xmlns:a="http://schemas.openxmlformats.org/drawingml/2006/main">
              <a:ext uri="{FF2B5EF4-FFF2-40B4-BE49-F238E27FC236}">
                <a16:creationId xmlns:a16="http://schemas.microsoft.com/office/drawing/2014/main" id="{641DAB57-774D-4541-9157-0FECF203737C}"/>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35B"/>
                </a:solidFill>
                <a:latin typeface="Helvetica Neue"/>
                <a:ea typeface="Helvetica Neue"/>
                <a:cs typeface="Helvetica Neue"/>
              </a:defRPr>
            </a:defPPr>
            <a:lvl1pPr>
              <a:defRPr sz="1500" b="0">
                <a:solidFill>
                  <a:srgbClr val="54635B"/>
                </a:solidFill>
                <a:latin typeface="Helvetica Neue"/>
                <a:ea typeface="Helvetica Neue"/>
                <a:cs typeface="Helvetica Neue"/>
              </a:defRPr>
            </a:lvl1pPr>
            <a:lvl2pPr>
              <a:defRPr sz="1500" b="0">
                <a:solidFill>
                  <a:srgbClr val="54635B"/>
                </a:solidFill>
                <a:latin typeface="Helvetica Neue"/>
                <a:ea typeface="Helvetica Neue"/>
                <a:cs typeface="Helvetica Neue"/>
              </a:defRPr>
            </a:lvl2pPr>
            <a:lvl3pPr>
              <a:defRPr sz="1500" b="0">
                <a:solidFill>
                  <a:srgbClr val="54635B"/>
                </a:solidFill>
                <a:latin typeface="Helvetica Neue"/>
                <a:ea typeface="Helvetica Neue"/>
                <a:cs typeface="Helvetica Neue"/>
              </a:defRPr>
            </a:lvl3pPr>
            <a:lvl4pPr>
              <a:defRPr sz="1500" b="0">
                <a:solidFill>
                  <a:srgbClr val="54635B"/>
                </a:solidFill>
                <a:latin typeface="Helvetica Neue"/>
                <a:ea typeface="Helvetica Neue"/>
                <a:cs typeface="Helvetica Neue"/>
              </a:defRPr>
            </a:lvl4pPr>
            <a:lvl5pPr>
              <a:defRPr sz="1500" b="0">
                <a:solidFill>
                  <a:srgbClr val="54635B"/>
                </a:solidFill>
                <a:latin typeface="Helvetica Neue"/>
                <a:ea typeface="Helvetica Neue"/>
                <a:cs typeface="Helvetica Neue"/>
              </a:defRPr>
            </a:lvl5pPr>
            <a:lvl6pPr>
              <a:defRPr sz="1500" b="0">
                <a:solidFill>
                  <a:srgbClr val="54635B"/>
                </a:solidFill>
                <a:latin typeface="Helvetica Neue"/>
                <a:ea typeface="Helvetica Neue"/>
                <a:cs typeface="Helvetica Neue"/>
              </a:defRPr>
            </a:lvl6pPr>
            <a:lvl7pPr>
              <a:defRPr sz="1500" b="0">
                <a:solidFill>
                  <a:srgbClr val="54635B"/>
                </a:solidFill>
                <a:latin typeface="Helvetica Neue"/>
                <a:ea typeface="Helvetica Neue"/>
                <a:cs typeface="Helvetica Neue"/>
              </a:defRPr>
            </a:lvl7pPr>
            <a:lvl8pPr>
              <a:defRPr sz="1500" b="0">
                <a:solidFill>
                  <a:srgbClr val="54635B"/>
                </a:solidFill>
                <a:latin typeface="Helvetica Neue"/>
                <a:ea typeface="Helvetica Neue"/>
                <a:cs typeface="Helvetica Neue"/>
              </a:defRPr>
            </a:lvl8pPr>
            <a:lvl9pPr>
              <a:defRPr sz="1500" b="0">
                <a:solidFill>
                  <a:srgbClr val="54635B"/>
                </a:solidFill>
                <a:latin typeface="Helvetica Neue"/>
                <a:ea typeface="Helvetica Neue"/>
                <a:cs typeface="Helvetica Neue"/>
              </a:defRPr>
            </a:lvl9pPr>
          </a:lstStyle>
          <a:p xmlns:a="http://schemas.openxmlformats.org/drawingml/2006/main">
            <a:pPr>
              <a:defRPr sz="1500" b="0">
                <a:solidFill>
                  <a:srgbClr val="54635B"/>
                </a:solidFill>
                <a:latin typeface="Helvetica Neue"/>
                <a:ea typeface="Helvetica Neue"/>
                <a:cs typeface="Helvetica Neue"/>
              </a:defRPr>
            </a:pPr>
            <a:r>
              <a:rPr sz="1500" b="0">
                <a:solidFill>
                  <a:srgbClr val="54635B"/>
                </a:solidFill>
                <a:latin typeface="Helvetica Neue"/>
                <a:ea typeface="Helvetica Neue"/>
                <a:cs typeface="Helvetica Neue"/>
              </a:rPr>
              <a:t>Recorded live run, 27 Oct 2026. Memory disabled</a:t>
            </a:r>
          </a:p>
        </p:txBody>
      </p:sp>
      <p:sp>
        <p:nvSpPr>
          <p:cNvPr id="3" name="">
            <a:extLst xmlns:a="http://schemas.openxmlformats.org/drawingml/2006/main">
              <a:ext uri="{FF2B5EF4-FFF2-40B4-BE49-F238E27FC236}">
                <a16:creationId xmlns:a16="http://schemas.microsoft.com/office/drawing/2014/main" id="{61B38640-6D9D-4856-9F24-70D744BEC11E}"/>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4635B"/>
                </a:solidFill>
                <a:latin typeface="Helvetica Neue"/>
                <a:ea typeface="Helvetica Neue"/>
                <a:cs typeface="Helvetica Neue"/>
              </a:defRPr>
            </a:defPPr>
            <a:lvl1pPr>
              <a:defRPr sz="1425" b="0">
                <a:solidFill>
                  <a:srgbClr val="54635B"/>
                </a:solidFill>
                <a:latin typeface="Helvetica Neue"/>
                <a:ea typeface="Helvetica Neue"/>
                <a:cs typeface="Helvetica Neue"/>
              </a:defRPr>
            </a:lvl1pPr>
            <a:lvl2pPr>
              <a:defRPr sz="1425" b="0">
                <a:solidFill>
                  <a:srgbClr val="54635B"/>
                </a:solidFill>
                <a:latin typeface="Helvetica Neue"/>
                <a:ea typeface="Helvetica Neue"/>
                <a:cs typeface="Helvetica Neue"/>
              </a:defRPr>
            </a:lvl2pPr>
            <a:lvl3pPr>
              <a:defRPr sz="1425" b="0">
                <a:solidFill>
                  <a:srgbClr val="54635B"/>
                </a:solidFill>
                <a:latin typeface="Helvetica Neue"/>
                <a:ea typeface="Helvetica Neue"/>
                <a:cs typeface="Helvetica Neue"/>
              </a:defRPr>
            </a:lvl3pPr>
            <a:lvl4pPr>
              <a:defRPr sz="1425" b="0">
                <a:solidFill>
                  <a:srgbClr val="54635B"/>
                </a:solidFill>
                <a:latin typeface="Helvetica Neue"/>
                <a:ea typeface="Helvetica Neue"/>
                <a:cs typeface="Helvetica Neue"/>
              </a:defRPr>
            </a:lvl4pPr>
            <a:lvl5pPr>
              <a:defRPr sz="1425" b="0">
                <a:solidFill>
                  <a:srgbClr val="54635B"/>
                </a:solidFill>
                <a:latin typeface="Helvetica Neue"/>
                <a:ea typeface="Helvetica Neue"/>
                <a:cs typeface="Helvetica Neue"/>
              </a:defRPr>
            </a:lvl5pPr>
            <a:lvl6pPr>
              <a:defRPr sz="1425" b="0">
                <a:solidFill>
                  <a:srgbClr val="54635B"/>
                </a:solidFill>
                <a:latin typeface="Helvetica Neue"/>
                <a:ea typeface="Helvetica Neue"/>
                <a:cs typeface="Helvetica Neue"/>
              </a:defRPr>
            </a:lvl6pPr>
            <a:lvl7pPr>
              <a:defRPr sz="1425" b="0">
                <a:solidFill>
                  <a:srgbClr val="54635B"/>
                </a:solidFill>
                <a:latin typeface="Helvetica Neue"/>
                <a:ea typeface="Helvetica Neue"/>
                <a:cs typeface="Helvetica Neue"/>
              </a:defRPr>
            </a:lvl7pPr>
            <a:lvl8pPr>
              <a:defRPr sz="1425" b="0">
                <a:solidFill>
                  <a:srgbClr val="54635B"/>
                </a:solidFill>
                <a:latin typeface="Helvetica Neue"/>
                <a:ea typeface="Helvetica Neue"/>
                <a:cs typeface="Helvetica Neue"/>
              </a:defRPr>
            </a:lvl8pPr>
            <a:lvl9pPr>
              <a:defRPr sz="1425" b="0">
                <a:solidFill>
                  <a:srgbClr val="54635B"/>
                </a:solidFill>
                <a:latin typeface="Helvetica Neue"/>
                <a:ea typeface="Helvetica Neue"/>
                <a:cs typeface="Helvetica Neue"/>
              </a:defRPr>
            </a:lvl9pPr>
          </a:lstStyle>
          <a:p xmlns:a="http://schemas.openxmlformats.org/drawingml/2006/main">
            <a:pPr>
              <a:defRPr sz="1425" b="0">
                <a:solidFill>
                  <a:srgbClr val="54635B"/>
                </a:solidFill>
                <a:latin typeface="Helvetica Neue"/>
                <a:ea typeface="Helvetica Neue"/>
                <a:cs typeface="Helvetica Neue"/>
              </a:defRPr>
            </a:pPr>
            <a:r>
              <a:rPr sz="1425" b="0">
                <a:solidFill>
                  <a:srgbClr val="54635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7E3F72A9-FDE9-4342-8079-0D1718403B3C}"/>
              </a:ext>
            </a:extLst>
          </p:cNvPr>
          <p:cNvSpPr>
            <a:spLocks xmlns:a="http://schemas.openxmlformats.org/drawingml/2006/main" noGrp="1"/>
          </p:cNvSpPr>
          <p:nvPr/>
        </p:nvSpPr>
        <p:spPr>
          <a:xfrm xmlns:a="http://schemas.openxmlformats.org/drawingml/2006/main">
            <a:off x="609600" y="1638300"/>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93C35"/>
                </a:solidFill>
                <a:latin typeface="Helvetica Neue"/>
                <a:ea typeface="Helvetica Neue"/>
                <a:cs typeface="Helvetica Neue"/>
              </a:defRPr>
            </a:defPPr>
            <a:lvl1pPr>
              <a:defRPr sz="2850" b="1">
                <a:solidFill>
                  <a:srgbClr val="193C35"/>
                </a:solidFill>
                <a:latin typeface="Helvetica Neue"/>
                <a:ea typeface="Helvetica Neue"/>
                <a:cs typeface="Helvetica Neue"/>
              </a:defRPr>
            </a:lvl1pPr>
            <a:lvl2pPr>
              <a:defRPr sz="2850" b="1">
                <a:solidFill>
                  <a:srgbClr val="193C35"/>
                </a:solidFill>
                <a:latin typeface="Helvetica Neue"/>
                <a:ea typeface="Helvetica Neue"/>
                <a:cs typeface="Helvetica Neue"/>
              </a:defRPr>
            </a:lvl2pPr>
            <a:lvl3pPr>
              <a:defRPr sz="2850" b="1">
                <a:solidFill>
                  <a:srgbClr val="193C35"/>
                </a:solidFill>
                <a:latin typeface="Helvetica Neue"/>
                <a:ea typeface="Helvetica Neue"/>
                <a:cs typeface="Helvetica Neue"/>
              </a:defRPr>
            </a:lvl3pPr>
            <a:lvl4pPr>
              <a:defRPr sz="2850" b="1">
                <a:solidFill>
                  <a:srgbClr val="193C35"/>
                </a:solidFill>
                <a:latin typeface="Helvetica Neue"/>
                <a:ea typeface="Helvetica Neue"/>
                <a:cs typeface="Helvetica Neue"/>
              </a:defRPr>
            </a:lvl4pPr>
            <a:lvl5pPr>
              <a:defRPr sz="2850" b="1">
                <a:solidFill>
                  <a:srgbClr val="193C35"/>
                </a:solidFill>
                <a:latin typeface="Helvetica Neue"/>
                <a:ea typeface="Helvetica Neue"/>
                <a:cs typeface="Helvetica Neue"/>
              </a:defRPr>
            </a:lvl5pPr>
            <a:lvl6pPr>
              <a:defRPr sz="2850" b="1">
                <a:solidFill>
                  <a:srgbClr val="193C35"/>
                </a:solidFill>
                <a:latin typeface="Helvetica Neue"/>
                <a:ea typeface="Helvetica Neue"/>
                <a:cs typeface="Helvetica Neue"/>
              </a:defRPr>
            </a:lvl6pPr>
            <a:lvl7pPr>
              <a:defRPr sz="2850" b="1">
                <a:solidFill>
                  <a:srgbClr val="193C35"/>
                </a:solidFill>
                <a:latin typeface="Helvetica Neue"/>
                <a:ea typeface="Helvetica Neue"/>
                <a:cs typeface="Helvetica Neue"/>
              </a:defRPr>
            </a:lvl7pPr>
            <a:lvl8pPr>
              <a:defRPr sz="2850" b="1">
                <a:solidFill>
                  <a:srgbClr val="193C35"/>
                </a:solidFill>
                <a:latin typeface="Helvetica Neue"/>
                <a:ea typeface="Helvetica Neue"/>
                <a:cs typeface="Helvetica Neue"/>
              </a:defRPr>
            </a:lvl8pPr>
            <a:lvl9pPr>
              <a:defRPr sz="2850" b="1">
                <a:solidFill>
                  <a:srgbClr val="193C35"/>
                </a:solidFill>
                <a:latin typeface="Helvetica Neue"/>
                <a:ea typeface="Helvetica Neue"/>
                <a:cs typeface="Helvetica Neue"/>
              </a:defRPr>
            </a:lvl9pPr>
          </a:lstStyle>
          <a:p xmlns:a="http://schemas.openxmlformats.org/drawingml/2006/main">
            <a:pPr>
              <a:defRPr sz="2850" b="1">
                <a:solidFill>
                  <a:srgbClr val="193C35"/>
                </a:solidFill>
                <a:latin typeface="Helvetica Neue"/>
                <a:ea typeface="Helvetica Neue"/>
                <a:cs typeface="Helvetica Neue"/>
              </a:defRPr>
            </a:pPr>
            <a:r>
              <a:rPr sz="2850" b="1">
                <a:solidFill>
                  <a:srgbClr val="193C35"/>
                </a:solidFill>
                <a:latin typeface="Helvetica Neue"/>
                <a:ea typeface="Helvetica Neue"/>
                <a:cs typeface="Helvetica Neue"/>
              </a:rPr>
              <a:t>SGD 114 captured</a:t>
            </a:r>
          </a:p>
        </p:txBody>
      </p:sp>
      <p:sp>
        <p:nvSpPr>
          <p:cNvPr id="5" name="">
            <a:extLst xmlns:a="http://schemas.openxmlformats.org/drawingml/2006/main">
              <a:ext uri="{FF2B5EF4-FFF2-40B4-BE49-F238E27FC236}">
                <a16:creationId xmlns:a16="http://schemas.microsoft.com/office/drawing/2014/main" id="{8F08486B-36F9-4250-BCD0-130502AA3BEC}"/>
              </a:ext>
            </a:extLst>
          </p:cNvPr>
          <p:cNvSpPr>
            <a:spLocks xmlns:a="http://schemas.openxmlformats.org/drawingml/2006/main" noGrp="1"/>
          </p:cNvSpPr>
          <p:nvPr/>
        </p:nvSpPr>
        <p:spPr>
          <a:xfrm xmlns:a="http://schemas.openxmlformats.org/drawingml/2006/main">
            <a:off x="609600" y="2362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93C35"/>
                </a:solidFill>
                <a:latin typeface="Helvetica Neue"/>
                <a:ea typeface="Helvetica Neue"/>
                <a:cs typeface="Helvetica Neue"/>
              </a:defRPr>
            </a:defPPr>
            <a:lvl1pPr>
              <a:defRPr sz="2325" b="1">
                <a:solidFill>
                  <a:srgbClr val="193C35"/>
                </a:solidFill>
                <a:latin typeface="Helvetica Neue"/>
                <a:ea typeface="Helvetica Neue"/>
                <a:cs typeface="Helvetica Neue"/>
              </a:defRPr>
            </a:lvl1pPr>
            <a:lvl2pPr>
              <a:defRPr sz="2325" b="1">
                <a:solidFill>
                  <a:srgbClr val="193C35"/>
                </a:solidFill>
                <a:latin typeface="Helvetica Neue"/>
                <a:ea typeface="Helvetica Neue"/>
                <a:cs typeface="Helvetica Neue"/>
              </a:defRPr>
            </a:lvl2pPr>
            <a:lvl3pPr>
              <a:defRPr sz="2325" b="1">
                <a:solidFill>
                  <a:srgbClr val="193C35"/>
                </a:solidFill>
                <a:latin typeface="Helvetica Neue"/>
                <a:ea typeface="Helvetica Neue"/>
                <a:cs typeface="Helvetica Neue"/>
              </a:defRPr>
            </a:lvl3pPr>
            <a:lvl4pPr>
              <a:defRPr sz="2325" b="1">
                <a:solidFill>
                  <a:srgbClr val="193C35"/>
                </a:solidFill>
                <a:latin typeface="Helvetica Neue"/>
                <a:ea typeface="Helvetica Neue"/>
                <a:cs typeface="Helvetica Neue"/>
              </a:defRPr>
            </a:lvl4pPr>
            <a:lvl5pPr>
              <a:defRPr sz="2325" b="1">
                <a:solidFill>
                  <a:srgbClr val="193C35"/>
                </a:solidFill>
                <a:latin typeface="Helvetica Neue"/>
                <a:ea typeface="Helvetica Neue"/>
                <a:cs typeface="Helvetica Neue"/>
              </a:defRPr>
            </a:lvl5pPr>
            <a:lvl6pPr>
              <a:defRPr sz="2325" b="1">
                <a:solidFill>
                  <a:srgbClr val="193C35"/>
                </a:solidFill>
                <a:latin typeface="Helvetica Neue"/>
                <a:ea typeface="Helvetica Neue"/>
                <a:cs typeface="Helvetica Neue"/>
              </a:defRPr>
            </a:lvl6pPr>
            <a:lvl7pPr>
              <a:defRPr sz="2325" b="1">
                <a:solidFill>
                  <a:srgbClr val="193C35"/>
                </a:solidFill>
                <a:latin typeface="Helvetica Neue"/>
                <a:ea typeface="Helvetica Neue"/>
                <a:cs typeface="Helvetica Neue"/>
              </a:defRPr>
            </a:lvl7pPr>
            <a:lvl8pPr>
              <a:defRPr sz="2325" b="1">
                <a:solidFill>
                  <a:srgbClr val="193C35"/>
                </a:solidFill>
                <a:latin typeface="Helvetica Neue"/>
                <a:ea typeface="Helvetica Neue"/>
                <a:cs typeface="Helvetica Neue"/>
              </a:defRPr>
            </a:lvl8pPr>
            <a:lvl9pPr>
              <a:defRPr sz="2325" b="1">
                <a:solidFill>
                  <a:srgbClr val="193C35"/>
                </a:solidFill>
                <a:latin typeface="Helvetica Neue"/>
                <a:ea typeface="Helvetica Neue"/>
                <a:cs typeface="Helvetica Neue"/>
              </a:defRPr>
            </a:lvl9pPr>
          </a:lstStyle>
          <a:p xmlns:a="http://schemas.openxmlformats.org/drawingml/2006/main">
            <a:pPr>
              <a:defRPr sz="2325" b="1">
                <a:solidFill>
                  <a:srgbClr val="193C35"/>
                </a:solidFill>
                <a:latin typeface="Helvetica Neue"/>
                <a:ea typeface="Helvetica Neue"/>
                <a:cs typeface="Helvetica Neue"/>
              </a:defRPr>
            </a:pPr>
            <a:r>
              <a:rPr sz="2325" b="1">
                <a:solidFill>
                  <a:srgbClr val="193C35"/>
                </a:solidFill>
                <a:latin typeface="Helvetica Neue"/>
                <a:ea typeface="Helvetica Neue"/>
                <a:cs typeface="Helvetica Neue"/>
              </a:rPr>
              <a:t>Missing: refund confirmation</a:t>
            </a:r>
          </a:p>
        </p:txBody>
      </p:sp>
      <p:sp>
        <p:nvSpPr>
          <p:cNvPr id="6" name="">
            <a:extLst xmlns:a="http://schemas.openxmlformats.org/drawingml/2006/main">
              <a:ext uri="{FF2B5EF4-FFF2-40B4-BE49-F238E27FC236}">
                <a16:creationId xmlns:a16="http://schemas.microsoft.com/office/drawing/2014/main" id="{144B2B37-D82E-479A-A4F4-3895CF07B5A9}"/>
              </a:ext>
            </a:extLst>
          </p:cNvPr>
          <p:cNvSpPr>
            <a:spLocks xmlns:a="http://schemas.openxmlformats.org/drawingml/2006/main" noGrp="1"/>
          </p:cNvSpPr>
          <p:nvPr/>
        </p:nvSpPr>
        <p:spPr>
          <a:xfrm xmlns:a="http://schemas.openxmlformats.org/drawingml/2006/main">
            <a:off x="609600" y="3162300"/>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93C35"/>
                </a:solidFill>
                <a:latin typeface="Helvetica Neue"/>
                <a:ea typeface="Helvetica Neue"/>
                <a:cs typeface="Helvetica Neue"/>
              </a:defRPr>
            </a:defPPr>
            <a:lvl1pPr>
              <a:defRPr sz="2175" b="0">
                <a:solidFill>
                  <a:srgbClr val="193C35"/>
                </a:solidFill>
                <a:latin typeface="Helvetica Neue"/>
                <a:ea typeface="Helvetica Neue"/>
                <a:cs typeface="Helvetica Neue"/>
              </a:defRPr>
            </a:lvl1pPr>
            <a:lvl2pPr>
              <a:defRPr sz="2175" b="0">
                <a:solidFill>
                  <a:srgbClr val="193C35"/>
                </a:solidFill>
                <a:latin typeface="Helvetica Neue"/>
                <a:ea typeface="Helvetica Neue"/>
                <a:cs typeface="Helvetica Neue"/>
              </a:defRPr>
            </a:lvl2pPr>
            <a:lvl3pPr>
              <a:defRPr sz="2175" b="0">
                <a:solidFill>
                  <a:srgbClr val="193C35"/>
                </a:solidFill>
                <a:latin typeface="Helvetica Neue"/>
                <a:ea typeface="Helvetica Neue"/>
                <a:cs typeface="Helvetica Neue"/>
              </a:defRPr>
            </a:lvl3pPr>
            <a:lvl4pPr>
              <a:defRPr sz="2175" b="0">
                <a:solidFill>
                  <a:srgbClr val="193C35"/>
                </a:solidFill>
                <a:latin typeface="Helvetica Neue"/>
                <a:ea typeface="Helvetica Neue"/>
                <a:cs typeface="Helvetica Neue"/>
              </a:defRPr>
            </a:lvl4pPr>
            <a:lvl5pPr>
              <a:defRPr sz="2175" b="0">
                <a:solidFill>
                  <a:srgbClr val="193C35"/>
                </a:solidFill>
                <a:latin typeface="Helvetica Neue"/>
                <a:ea typeface="Helvetica Neue"/>
                <a:cs typeface="Helvetica Neue"/>
              </a:defRPr>
            </a:lvl5pPr>
            <a:lvl6pPr>
              <a:defRPr sz="2175" b="0">
                <a:solidFill>
                  <a:srgbClr val="193C35"/>
                </a:solidFill>
                <a:latin typeface="Helvetica Neue"/>
                <a:ea typeface="Helvetica Neue"/>
                <a:cs typeface="Helvetica Neue"/>
              </a:defRPr>
            </a:lvl6pPr>
            <a:lvl7pPr>
              <a:defRPr sz="2175" b="0">
                <a:solidFill>
                  <a:srgbClr val="193C35"/>
                </a:solidFill>
                <a:latin typeface="Helvetica Neue"/>
                <a:ea typeface="Helvetica Neue"/>
                <a:cs typeface="Helvetica Neue"/>
              </a:defRPr>
            </a:lvl7pPr>
            <a:lvl8pPr>
              <a:defRPr sz="2175" b="0">
                <a:solidFill>
                  <a:srgbClr val="193C35"/>
                </a:solidFill>
                <a:latin typeface="Helvetica Neue"/>
                <a:ea typeface="Helvetica Neue"/>
                <a:cs typeface="Helvetica Neue"/>
              </a:defRPr>
            </a:lvl8pPr>
            <a:lvl9pPr>
              <a:defRPr sz="2175" b="0">
                <a:solidFill>
                  <a:srgbClr val="193C35"/>
                </a:solidFill>
                <a:latin typeface="Helvetica Neue"/>
                <a:ea typeface="Helvetica Neue"/>
                <a:cs typeface="Helvetica Neue"/>
              </a:defRPr>
            </a:lvl9pPr>
          </a:lstStyle>
          <a:p xmlns:a="http://schemas.openxmlformats.org/drawingml/2006/main">
            <a:pPr>
              <a:defRPr sz="2175" b="0">
                <a:solidFill>
                  <a:srgbClr val="193C35"/>
                </a:solidFill>
                <a:latin typeface="Helvetica Neue"/>
                <a:ea typeface="Helvetica Neue"/>
                <a:cs typeface="Helvetica Neue"/>
              </a:defRPr>
            </a:pPr>
            <a:r>
              <a:rPr sz="2175" b="0">
                <a:solidFill>
                  <a:srgbClr val="193C35"/>
                </a:solidFill>
                <a:latin typeface="Helvetica Neue"/>
                <a:ea typeface="Helvetica Neue"/>
                <a:cs typeface="Helvetica Neue"/>
              </a:rPr>
              <a:t>A merchant promise does not</a:t>
            </a:r>
          </a:p>
          <a:p xmlns:a="http://schemas.openxmlformats.org/drawingml/2006/main">
            <a:pPr>
              <a:defRPr sz="2175" b="0">
                <a:solidFill>
                  <a:srgbClr val="193C35"/>
                </a:solidFill>
                <a:latin typeface="Helvetica Neue"/>
                <a:ea typeface="Helvetica Neue"/>
                <a:cs typeface="Helvetica Neue"/>
              </a:defRPr>
            </a:pPr>
            <a:r>
              <a:rPr sz="2175" b="0">
                <a:solidFill>
                  <a:srgbClr val="193C35"/>
                </a:solidFill>
                <a:latin typeface="Helvetica Neue"/>
                <a:ea typeface="Helvetica Neue"/>
                <a:cs typeface="Helvetica Neue"/>
              </a:rPr>
              <a:t>confirm a completed refund.</a:t>
            </a:r>
          </a:p>
        </p:txBody>
      </p:sp>
      <p:sp>
        <p:nvSpPr>
          <p:cNvPr id="7" name="">
            <a:extLst xmlns:a="http://schemas.openxmlformats.org/drawingml/2006/main">
              <a:ext uri="{FF2B5EF4-FFF2-40B4-BE49-F238E27FC236}">
                <a16:creationId xmlns:a16="http://schemas.microsoft.com/office/drawing/2014/main" id="{6E3DEC96-D7D8-4173-B8A6-A86EAC7AC456}"/>
              </a:ext>
            </a:extLst>
          </p:cNvPr>
          <p:cNvSpPr>
            <a:spLocks xmlns:a="http://schemas.openxmlformats.org/drawingml/2006/main" noGrp="1"/>
          </p:cNvSpPr>
          <p:nvPr/>
        </p:nvSpPr>
        <p:spPr>
          <a:xfrm xmlns:a="http://schemas.openxmlformats.org/drawingml/2006/main">
            <a:off x="609600" y="4343400"/>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93C35"/>
                </a:solidFill>
                <a:latin typeface="Helvetica Neue"/>
                <a:ea typeface="Helvetica Neue"/>
                <a:cs typeface="Helvetica Neue"/>
              </a:defRPr>
            </a:defPPr>
            <a:lvl1pPr>
              <a:defRPr sz="2325" b="1">
                <a:solidFill>
                  <a:srgbClr val="193C35"/>
                </a:solidFill>
                <a:latin typeface="Helvetica Neue"/>
                <a:ea typeface="Helvetica Neue"/>
                <a:cs typeface="Helvetica Neue"/>
              </a:defRPr>
            </a:lvl1pPr>
            <a:lvl2pPr>
              <a:defRPr sz="2325" b="1">
                <a:solidFill>
                  <a:srgbClr val="193C35"/>
                </a:solidFill>
                <a:latin typeface="Helvetica Neue"/>
                <a:ea typeface="Helvetica Neue"/>
                <a:cs typeface="Helvetica Neue"/>
              </a:defRPr>
            </a:lvl2pPr>
            <a:lvl3pPr>
              <a:defRPr sz="2325" b="1">
                <a:solidFill>
                  <a:srgbClr val="193C35"/>
                </a:solidFill>
                <a:latin typeface="Helvetica Neue"/>
                <a:ea typeface="Helvetica Neue"/>
                <a:cs typeface="Helvetica Neue"/>
              </a:defRPr>
            </a:lvl3pPr>
            <a:lvl4pPr>
              <a:defRPr sz="2325" b="1">
                <a:solidFill>
                  <a:srgbClr val="193C35"/>
                </a:solidFill>
                <a:latin typeface="Helvetica Neue"/>
                <a:ea typeface="Helvetica Neue"/>
                <a:cs typeface="Helvetica Neue"/>
              </a:defRPr>
            </a:lvl4pPr>
            <a:lvl5pPr>
              <a:defRPr sz="2325" b="1">
                <a:solidFill>
                  <a:srgbClr val="193C35"/>
                </a:solidFill>
                <a:latin typeface="Helvetica Neue"/>
                <a:ea typeface="Helvetica Neue"/>
                <a:cs typeface="Helvetica Neue"/>
              </a:defRPr>
            </a:lvl5pPr>
            <a:lvl6pPr>
              <a:defRPr sz="2325" b="1">
                <a:solidFill>
                  <a:srgbClr val="193C35"/>
                </a:solidFill>
                <a:latin typeface="Helvetica Neue"/>
                <a:ea typeface="Helvetica Neue"/>
                <a:cs typeface="Helvetica Neue"/>
              </a:defRPr>
            </a:lvl6pPr>
            <a:lvl7pPr>
              <a:defRPr sz="2325" b="1">
                <a:solidFill>
                  <a:srgbClr val="193C35"/>
                </a:solidFill>
                <a:latin typeface="Helvetica Neue"/>
                <a:ea typeface="Helvetica Neue"/>
                <a:cs typeface="Helvetica Neue"/>
              </a:defRPr>
            </a:lvl7pPr>
            <a:lvl8pPr>
              <a:defRPr sz="2325" b="1">
                <a:solidFill>
                  <a:srgbClr val="193C35"/>
                </a:solidFill>
                <a:latin typeface="Helvetica Neue"/>
                <a:ea typeface="Helvetica Neue"/>
                <a:cs typeface="Helvetica Neue"/>
              </a:defRPr>
            </a:lvl8pPr>
            <a:lvl9pPr>
              <a:defRPr sz="2325" b="1">
                <a:solidFill>
                  <a:srgbClr val="193C35"/>
                </a:solidFill>
                <a:latin typeface="Helvetica Neue"/>
                <a:ea typeface="Helvetica Neue"/>
                <a:cs typeface="Helvetica Neue"/>
              </a:defRPr>
            </a:lvl9pPr>
          </a:lstStyle>
          <a:p xmlns:a="http://schemas.openxmlformats.org/drawingml/2006/main">
            <a:pPr>
              <a:defRPr sz="2325" b="1">
                <a:solidFill>
                  <a:srgbClr val="193C35"/>
                </a:solidFill>
                <a:latin typeface="Helvetica Neue"/>
                <a:ea typeface="Helvetica Neue"/>
                <a:cs typeface="Helvetica Neue"/>
              </a:defRPr>
            </a:pPr>
            <a:r>
              <a:rPr sz="2325" b="1">
                <a:solidFill>
                  <a:srgbClr val="193C35"/>
                </a:solidFill>
                <a:latin typeface="Helvetica Neue"/>
                <a:ea typeface="Helvetica Neue"/>
                <a:cs typeface="Helvetica Neue"/>
              </a:rPr>
              <a:t>Evidence request committed</a:t>
            </a:r>
          </a:p>
          <a:p xmlns:a="http://schemas.openxmlformats.org/drawingml/2006/main">
            <a:pPr>
              <a:defRPr sz="2325" b="1">
                <a:solidFill>
                  <a:srgbClr val="193C35"/>
                </a:solidFill>
                <a:latin typeface="Helvetica Neue"/>
                <a:ea typeface="Helvetica Neue"/>
                <a:cs typeface="Helvetica Neue"/>
              </a:defRPr>
            </a:pPr>
            <a:r>
              <a:rPr sz="2325" b="1">
                <a:solidFill>
                  <a:srgbClr val="193C35"/>
                </a:solidFill>
                <a:latin typeface="Helvetica Neue"/>
                <a:ea typeface="Helvetica Neue"/>
                <a:cs typeface="Helvetica Neue"/>
              </a:rPr>
              <a:t>2 model calls, 0 credit effect</a:t>
            </a:r>
          </a:p>
        </p:txBody>
      </p:sp>
      <p:sp>
        <p:nvSpPr>
          <p:cNvPr id="8" name="">
            <a:extLst xmlns:a="http://schemas.openxmlformats.org/drawingml/2006/main">
              <a:ext uri="{FF2B5EF4-FFF2-40B4-BE49-F238E27FC236}">
                <a16:creationId xmlns:a16="http://schemas.microsoft.com/office/drawing/2014/main" id="{3EE1CB5F-A521-4A54-B584-C1E2D359D9DE}"/>
              </a:ext>
            </a:extLst>
          </p:cNvPr>
          <p:cNvSpPr>
            <a:spLocks xmlns:a="http://schemas.openxmlformats.org/drawingml/2006/main" noGrp="1"/>
          </p:cNvSpPr>
          <p:nvPr/>
        </p:nvSpPr>
        <p:spPr>
          <a:xfrm xmlns:a="http://schemas.openxmlformats.org/drawingml/2006/main">
            <a:off x="609600" y="5429250"/>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93C35"/>
                </a:solidFill>
                <a:latin typeface="Helvetica Neue"/>
                <a:ea typeface="Helvetica Neue"/>
                <a:cs typeface="Helvetica Neue"/>
              </a:defRPr>
            </a:defPPr>
            <a:lvl1pPr>
              <a:defRPr sz="1875" b="0">
                <a:solidFill>
                  <a:srgbClr val="193C35"/>
                </a:solidFill>
                <a:latin typeface="Helvetica Neue"/>
                <a:ea typeface="Helvetica Neue"/>
                <a:cs typeface="Helvetica Neue"/>
              </a:defRPr>
            </a:lvl1pPr>
            <a:lvl2pPr>
              <a:defRPr sz="1875" b="0">
                <a:solidFill>
                  <a:srgbClr val="193C35"/>
                </a:solidFill>
                <a:latin typeface="Helvetica Neue"/>
                <a:ea typeface="Helvetica Neue"/>
                <a:cs typeface="Helvetica Neue"/>
              </a:defRPr>
            </a:lvl2pPr>
            <a:lvl3pPr>
              <a:defRPr sz="1875" b="0">
                <a:solidFill>
                  <a:srgbClr val="193C35"/>
                </a:solidFill>
                <a:latin typeface="Helvetica Neue"/>
                <a:ea typeface="Helvetica Neue"/>
                <a:cs typeface="Helvetica Neue"/>
              </a:defRPr>
            </a:lvl3pPr>
            <a:lvl4pPr>
              <a:defRPr sz="1875" b="0">
                <a:solidFill>
                  <a:srgbClr val="193C35"/>
                </a:solidFill>
                <a:latin typeface="Helvetica Neue"/>
                <a:ea typeface="Helvetica Neue"/>
                <a:cs typeface="Helvetica Neue"/>
              </a:defRPr>
            </a:lvl4pPr>
            <a:lvl5pPr>
              <a:defRPr sz="1875" b="0">
                <a:solidFill>
                  <a:srgbClr val="193C35"/>
                </a:solidFill>
                <a:latin typeface="Helvetica Neue"/>
                <a:ea typeface="Helvetica Neue"/>
                <a:cs typeface="Helvetica Neue"/>
              </a:defRPr>
            </a:lvl5pPr>
            <a:lvl6pPr>
              <a:defRPr sz="1875" b="0">
                <a:solidFill>
                  <a:srgbClr val="193C35"/>
                </a:solidFill>
                <a:latin typeface="Helvetica Neue"/>
                <a:ea typeface="Helvetica Neue"/>
                <a:cs typeface="Helvetica Neue"/>
              </a:defRPr>
            </a:lvl6pPr>
            <a:lvl7pPr>
              <a:defRPr sz="1875" b="0">
                <a:solidFill>
                  <a:srgbClr val="193C35"/>
                </a:solidFill>
                <a:latin typeface="Helvetica Neue"/>
                <a:ea typeface="Helvetica Neue"/>
                <a:cs typeface="Helvetica Neue"/>
              </a:defRPr>
            </a:lvl7pPr>
            <a:lvl8pPr>
              <a:defRPr sz="1875" b="0">
                <a:solidFill>
                  <a:srgbClr val="193C35"/>
                </a:solidFill>
                <a:latin typeface="Helvetica Neue"/>
                <a:ea typeface="Helvetica Neue"/>
                <a:cs typeface="Helvetica Neue"/>
              </a:defRPr>
            </a:lvl8pPr>
            <a:lvl9pPr>
              <a:defRPr sz="1875" b="0">
                <a:solidFill>
                  <a:srgbClr val="193C35"/>
                </a:solidFill>
                <a:latin typeface="Helvetica Neue"/>
                <a:ea typeface="Helvetica Neue"/>
                <a:cs typeface="Helvetica Neue"/>
              </a:defRPr>
            </a:lvl9pPr>
          </a:lstStyle>
          <a:p xmlns:a="http://schemas.openxmlformats.org/drawingml/2006/main">
            <a:pPr>
              <a:defRPr sz="1875" b="0">
                <a:solidFill>
                  <a:srgbClr val="193C35"/>
                </a:solidFill>
                <a:latin typeface="Helvetica Neue"/>
                <a:ea typeface="Helvetica Neue"/>
                <a:cs typeface="Helvetica Neue"/>
              </a:defRPr>
            </a:pPr>
            <a:r>
              <a:rPr sz="1875" b="0">
                <a:solidFill>
                  <a:srgbClr val="193C35"/>
                </a:solidFill>
                <a:latin typeface="Helvetica Neue"/>
                <a:ea typeface="Helvetica Neue"/>
                <a:cs typeface="Helvetica Neue"/>
              </a:rPr>
              <a:t>Exact recovery: same decision,</a:t>
            </a:r>
          </a:p>
          <a:p xmlns:a="http://schemas.openxmlformats.org/drawingml/2006/main">
            <a:pPr>
              <a:defRPr sz="1875" b="0">
                <a:solidFill>
                  <a:srgbClr val="193C35"/>
                </a:solidFill>
                <a:latin typeface="Helvetica Neue"/>
                <a:ea typeface="Helvetica Neue"/>
                <a:cs typeface="Helvetica Neue"/>
              </a:defRPr>
            </a:pPr>
            <a:r>
              <a:rPr sz="1875" b="0">
                <a:solidFill>
                  <a:srgbClr val="193C35"/>
                </a:solidFill>
                <a:latin typeface="Helvetica Neue"/>
                <a:ea typeface="Helvetica Neue"/>
                <a:cs typeface="Helvetica Neue"/>
              </a:rPr>
              <a:t>zero model calls</a:t>
            </a:r>
          </a:p>
        </p:txBody>
      </p:sp>
      <p:pic>
        <p:nvPicPr>
          <p:cNvPr id="9" name="">
            <a:extLst xmlns:a="http://schemas.openxmlformats.org/drawingml/2006/main">
              <a:ext uri="{FF2B5EF4-FFF2-40B4-BE49-F238E27FC236}">
                <a16:creationId xmlns:a16="http://schemas.microsoft.com/office/drawing/2014/main" id="{CD78690D-E74C-48C8-A9F6-0F96FD68E467}"/>
              </a:ext>
            </a:extLst>
          </p:cNvPr>
          <p:cNvPicPr>
            <a:picLocks xmlns:a="http://schemas.openxmlformats.org/drawingml/2006/main" noChangeAspect="1"/>
          </p:cNvPicPr>
          <p:nvPr/>
        </p:nvPicPr>
        <p:blipFill>
          <a:blip xmlns:r="http://schemas.openxmlformats.org/officeDocument/2006/relationships" xmlns:a="http://schemas.openxmlformats.org/drawingml/2006/main" r:embed="R8b257d1df776441f"/>
          <a:srcRect xmlns:a="http://schemas.openxmlformats.org/drawingml/2006/main" l="2500" t="7000" r="2500" b="2500"/>
          <a:stretch xmlns:a="http://schemas.openxmlformats.org/drawingml/2006/main"/>
        </p:blipFill>
        <p:spPr>
          <a:xfrm xmlns:a="http://schemas.openxmlformats.org/drawingml/2006/main">
            <a:off x="6334125" y="1524000"/>
            <a:ext cx="5238750" cy="4572000"/>
          </a:xfrm>
          <a:prstGeom xmlns:a="http://schemas.openxmlformats.org/drawingml/2006/main" prst="rect">
            <a:avLst/>
          </a:prstGeom>
        </p:spPr>
      </p:pic>
    </p:spTree>
    <p:extLst>
      <p:ext uri="{BB962C8B-B14F-4D97-AF65-F5344CB8AC3E}">
        <p14:creationId xmlns:p14="http://schemas.microsoft.com/office/powerpoint/2010/main" val="1474783543"/>
      </p:ext>
    </p:extLst>
  </p:cSld>
</p:sld>
</file>

<file path=ppt/slides/slide4.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961574-4FF6-4B7F-AFD1-8181C7E1F649}"/>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C35"/>
                </a:solidFill>
                <a:latin typeface="Helvetica Neue"/>
                <a:ea typeface="Helvetica Neue"/>
                <a:cs typeface="Helvetica Neue"/>
              </a:defRPr>
            </a:defPPr>
            <a:lvl1pPr>
              <a:defRPr sz="3300" b="1">
                <a:solidFill>
                  <a:srgbClr val="193C35"/>
                </a:solidFill>
                <a:latin typeface="Helvetica Neue"/>
                <a:ea typeface="Helvetica Neue"/>
                <a:cs typeface="Helvetica Neue"/>
              </a:defRPr>
            </a:lvl1pPr>
            <a:lvl2pPr>
              <a:defRPr sz="3300" b="1">
                <a:solidFill>
                  <a:srgbClr val="193C35"/>
                </a:solidFill>
                <a:latin typeface="Helvetica Neue"/>
                <a:ea typeface="Helvetica Neue"/>
                <a:cs typeface="Helvetica Neue"/>
              </a:defRPr>
            </a:lvl2pPr>
            <a:lvl3pPr>
              <a:defRPr sz="3300" b="1">
                <a:solidFill>
                  <a:srgbClr val="193C35"/>
                </a:solidFill>
                <a:latin typeface="Helvetica Neue"/>
                <a:ea typeface="Helvetica Neue"/>
                <a:cs typeface="Helvetica Neue"/>
              </a:defRPr>
            </a:lvl3pPr>
            <a:lvl4pPr>
              <a:defRPr sz="3300" b="1">
                <a:solidFill>
                  <a:srgbClr val="193C35"/>
                </a:solidFill>
                <a:latin typeface="Helvetica Neue"/>
                <a:ea typeface="Helvetica Neue"/>
                <a:cs typeface="Helvetica Neue"/>
              </a:defRPr>
            </a:lvl4pPr>
            <a:lvl5pPr>
              <a:defRPr sz="3300" b="1">
                <a:solidFill>
                  <a:srgbClr val="193C35"/>
                </a:solidFill>
                <a:latin typeface="Helvetica Neue"/>
                <a:ea typeface="Helvetica Neue"/>
                <a:cs typeface="Helvetica Neue"/>
              </a:defRPr>
            </a:lvl5pPr>
            <a:lvl6pPr>
              <a:defRPr sz="3300" b="1">
                <a:solidFill>
                  <a:srgbClr val="193C35"/>
                </a:solidFill>
                <a:latin typeface="Helvetica Neue"/>
                <a:ea typeface="Helvetica Neue"/>
                <a:cs typeface="Helvetica Neue"/>
              </a:defRPr>
            </a:lvl6pPr>
            <a:lvl7pPr>
              <a:defRPr sz="3300" b="1">
                <a:solidFill>
                  <a:srgbClr val="193C35"/>
                </a:solidFill>
                <a:latin typeface="Helvetica Neue"/>
                <a:ea typeface="Helvetica Neue"/>
                <a:cs typeface="Helvetica Neue"/>
              </a:defRPr>
            </a:lvl7pPr>
            <a:lvl8pPr>
              <a:defRPr sz="3300" b="1">
                <a:solidFill>
                  <a:srgbClr val="193C35"/>
                </a:solidFill>
                <a:latin typeface="Helvetica Neue"/>
                <a:ea typeface="Helvetica Neue"/>
                <a:cs typeface="Helvetica Neue"/>
              </a:defRPr>
            </a:lvl8pPr>
            <a:lvl9pPr>
              <a:defRPr sz="3300" b="1">
                <a:solidFill>
                  <a:srgbClr val="193C35"/>
                </a:solidFill>
                <a:latin typeface="Helvetica Neue"/>
                <a:ea typeface="Helvetica Neue"/>
                <a:cs typeface="Helvetica Neue"/>
              </a:defRPr>
            </a:lvl9pPr>
          </a:lstStyle>
          <a:p xmlns:a="http://schemas.openxmlformats.org/drawingml/2006/main">
            <a:pPr>
              <a:defRPr sz="3300" b="1">
                <a:solidFill>
                  <a:srgbClr val="193C35"/>
                </a:solidFill>
                <a:latin typeface="Helvetica Neue"/>
                <a:ea typeface="Helvetica Neue"/>
                <a:cs typeface="Helvetica Neue"/>
              </a:defRPr>
            </a:pPr>
            <a:r>
              <a:rPr sz="3300" b="1">
                <a:solidFill>
                  <a:srgbClr val="193C35"/>
                </a:solidFill>
                <a:latin typeface="Helvetica Neue"/>
                <a:ea typeface="Helvetica Neue"/>
                <a:cs typeface="Helvetica Neue"/>
              </a:rPr>
              <a:t>DP-0014: calculate the remaining amount</a:t>
            </a:r>
          </a:p>
        </p:txBody>
      </p:sp>
      <p:sp>
        <p:nvSpPr>
          <p:cNvPr id="2" name="">
            <a:extLst xmlns:a="http://schemas.openxmlformats.org/drawingml/2006/main">
              <a:ext uri="{FF2B5EF4-FFF2-40B4-BE49-F238E27FC236}">
                <a16:creationId xmlns:a16="http://schemas.microsoft.com/office/drawing/2014/main" id="{FFBB3A02-CED3-4E99-BBA6-E64B73E35DAC}"/>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35B"/>
                </a:solidFill>
                <a:latin typeface="Helvetica Neue"/>
                <a:ea typeface="Helvetica Neue"/>
                <a:cs typeface="Helvetica Neue"/>
              </a:defRPr>
            </a:defPPr>
            <a:lvl1pPr>
              <a:defRPr sz="1500" b="0">
                <a:solidFill>
                  <a:srgbClr val="54635B"/>
                </a:solidFill>
                <a:latin typeface="Helvetica Neue"/>
                <a:ea typeface="Helvetica Neue"/>
                <a:cs typeface="Helvetica Neue"/>
              </a:defRPr>
            </a:lvl1pPr>
            <a:lvl2pPr>
              <a:defRPr sz="1500" b="0">
                <a:solidFill>
                  <a:srgbClr val="54635B"/>
                </a:solidFill>
                <a:latin typeface="Helvetica Neue"/>
                <a:ea typeface="Helvetica Neue"/>
                <a:cs typeface="Helvetica Neue"/>
              </a:defRPr>
            </a:lvl2pPr>
            <a:lvl3pPr>
              <a:defRPr sz="1500" b="0">
                <a:solidFill>
                  <a:srgbClr val="54635B"/>
                </a:solidFill>
                <a:latin typeface="Helvetica Neue"/>
                <a:ea typeface="Helvetica Neue"/>
                <a:cs typeface="Helvetica Neue"/>
              </a:defRPr>
            </a:lvl3pPr>
            <a:lvl4pPr>
              <a:defRPr sz="1500" b="0">
                <a:solidFill>
                  <a:srgbClr val="54635B"/>
                </a:solidFill>
                <a:latin typeface="Helvetica Neue"/>
                <a:ea typeface="Helvetica Neue"/>
                <a:cs typeface="Helvetica Neue"/>
              </a:defRPr>
            </a:lvl4pPr>
            <a:lvl5pPr>
              <a:defRPr sz="1500" b="0">
                <a:solidFill>
                  <a:srgbClr val="54635B"/>
                </a:solidFill>
                <a:latin typeface="Helvetica Neue"/>
                <a:ea typeface="Helvetica Neue"/>
                <a:cs typeface="Helvetica Neue"/>
              </a:defRPr>
            </a:lvl5pPr>
            <a:lvl6pPr>
              <a:defRPr sz="1500" b="0">
                <a:solidFill>
                  <a:srgbClr val="54635B"/>
                </a:solidFill>
                <a:latin typeface="Helvetica Neue"/>
                <a:ea typeface="Helvetica Neue"/>
                <a:cs typeface="Helvetica Neue"/>
              </a:defRPr>
            </a:lvl6pPr>
            <a:lvl7pPr>
              <a:defRPr sz="1500" b="0">
                <a:solidFill>
                  <a:srgbClr val="54635B"/>
                </a:solidFill>
                <a:latin typeface="Helvetica Neue"/>
                <a:ea typeface="Helvetica Neue"/>
                <a:cs typeface="Helvetica Neue"/>
              </a:defRPr>
            </a:lvl7pPr>
            <a:lvl8pPr>
              <a:defRPr sz="1500" b="0">
                <a:solidFill>
                  <a:srgbClr val="54635B"/>
                </a:solidFill>
                <a:latin typeface="Helvetica Neue"/>
                <a:ea typeface="Helvetica Neue"/>
                <a:cs typeface="Helvetica Neue"/>
              </a:defRPr>
            </a:lvl8pPr>
            <a:lvl9pPr>
              <a:defRPr sz="1500" b="0">
                <a:solidFill>
                  <a:srgbClr val="54635B"/>
                </a:solidFill>
                <a:latin typeface="Helvetica Neue"/>
                <a:ea typeface="Helvetica Neue"/>
                <a:cs typeface="Helvetica Neue"/>
              </a:defRPr>
            </a:lvl9pPr>
          </a:lstStyle>
          <a:p xmlns:a="http://schemas.openxmlformats.org/drawingml/2006/main">
            <a:pPr>
              <a:defRPr sz="1500" b="0">
                <a:solidFill>
                  <a:srgbClr val="54635B"/>
                </a:solidFill>
                <a:latin typeface="Helvetica Neue"/>
                <a:ea typeface="Helvetica Neue"/>
                <a:cs typeface="Helvetica Neue"/>
              </a:defRPr>
            </a:pPr>
            <a:r>
              <a:rPr sz="1500" b="0">
                <a:solidFill>
                  <a:srgbClr val="54635B"/>
                </a:solidFill>
                <a:latin typeface="Helvetica Neue"/>
                <a:ea typeface="Helvetica Neue"/>
                <a:cs typeface="Helvetica Neue"/>
              </a:rPr>
              <a:t>Scripted models, real isolated PostgreSQL. Recorded rehearsal, 27 Oct 2026</a:t>
            </a:r>
          </a:p>
        </p:txBody>
      </p:sp>
      <p:sp>
        <p:nvSpPr>
          <p:cNvPr id="3" name="">
            <a:extLst xmlns:a="http://schemas.openxmlformats.org/drawingml/2006/main">
              <a:ext uri="{FF2B5EF4-FFF2-40B4-BE49-F238E27FC236}">
                <a16:creationId xmlns:a16="http://schemas.microsoft.com/office/drawing/2014/main" id="{BCE5696F-FABA-4B6A-A987-23212C980510}"/>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4635B"/>
                </a:solidFill>
                <a:latin typeface="Helvetica Neue"/>
                <a:ea typeface="Helvetica Neue"/>
                <a:cs typeface="Helvetica Neue"/>
              </a:defRPr>
            </a:defPPr>
            <a:lvl1pPr>
              <a:defRPr sz="1425" b="0">
                <a:solidFill>
                  <a:srgbClr val="54635B"/>
                </a:solidFill>
                <a:latin typeface="Helvetica Neue"/>
                <a:ea typeface="Helvetica Neue"/>
                <a:cs typeface="Helvetica Neue"/>
              </a:defRPr>
            </a:lvl1pPr>
            <a:lvl2pPr>
              <a:defRPr sz="1425" b="0">
                <a:solidFill>
                  <a:srgbClr val="54635B"/>
                </a:solidFill>
                <a:latin typeface="Helvetica Neue"/>
                <a:ea typeface="Helvetica Neue"/>
                <a:cs typeface="Helvetica Neue"/>
              </a:defRPr>
            </a:lvl2pPr>
            <a:lvl3pPr>
              <a:defRPr sz="1425" b="0">
                <a:solidFill>
                  <a:srgbClr val="54635B"/>
                </a:solidFill>
                <a:latin typeface="Helvetica Neue"/>
                <a:ea typeface="Helvetica Neue"/>
                <a:cs typeface="Helvetica Neue"/>
              </a:defRPr>
            </a:lvl3pPr>
            <a:lvl4pPr>
              <a:defRPr sz="1425" b="0">
                <a:solidFill>
                  <a:srgbClr val="54635B"/>
                </a:solidFill>
                <a:latin typeface="Helvetica Neue"/>
                <a:ea typeface="Helvetica Neue"/>
                <a:cs typeface="Helvetica Neue"/>
              </a:defRPr>
            </a:lvl4pPr>
            <a:lvl5pPr>
              <a:defRPr sz="1425" b="0">
                <a:solidFill>
                  <a:srgbClr val="54635B"/>
                </a:solidFill>
                <a:latin typeface="Helvetica Neue"/>
                <a:ea typeface="Helvetica Neue"/>
                <a:cs typeface="Helvetica Neue"/>
              </a:defRPr>
            </a:lvl5pPr>
            <a:lvl6pPr>
              <a:defRPr sz="1425" b="0">
                <a:solidFill>
                  <a:srgbClr val="54635B"/>
                </a:solidFill>
                <a:latin typeface="Helvetica Neue"/>
                <a:ea typeface="Helvetica Neue"/>
                <a:cs typeface="Helvetica Neue"/>
              </a:defRPr>
            </a:lvl6pPr>
            <a:lvl7pPr>
              <a:defRPr sz="1425" b="0">
                <a:solidFill>
                  <a:srgbClr val="54635B"/>
                </a:solidFill>
                <a:latin typeface="Helvetica Neue"/>
                <a:ea typeface="Helvetica Neue"/>
                <a:cs typeface="Helvetica Neue"/>
              </a:defRPr>
            </a:lvl7pPr>
            <a:lvl8pPr>
              <a:defRPr sz="1425" b="0">
                <a:solidFill>
                  <a:srgbClr val="54635B"/>
                </a:solidFill>
                <a:latin typeface="Helvetica Neue"/>
                <a:ea typeface="Helvetica Neue"/>
                <a:cs typeface="Helvetica Neue"/>
              </a:defRPr>
            </a:lvl8pPr>
            <a:lvl9pPr>
              <a:defRPr sz="1425" b="0">
                <a:solidFill>
                  <a:srgbClr val="54635B"/>
                </a:solidFill>
                <a:latin typeface="Helvetica Neue"/>
                <a:ea typeface="Helvetica Neue"/>
                <a:cs typeface="Helvetica Neue"/>
              </a:defRPr>
            </a:lvl9pPr>
          </a:lstStyle>
          <a:p xmlns:a="http://schemas.openxmlformats.org/drawingml/2006/main">
            <a:pPr>
              <a:defRPr sz="1425" b="0">
                <a:solidFill>
                  <a:srgbClr val="54635B"/>
                </a:solidFill>
                <a:latin typeface="Helvetica Neue"/>
                <a:ea typeface="Helvetica Neue"/>
                <a:cs typeface="Helvetica Neue"/>
              </a:defRPr>
            </a:pPr>
            <a:r>
              <a:rPr sz="1425" b="0">
                <a:solidFill>
                  <a:srgbClr val="54635B"/>
                </a:solidFill>
                <a:latin typeface="Helvetica Neue"/>
                <a:ea typeface="Helvetica Neue"/>
                <a:cs typeface="Helvetica Neue"/>
              </a:rPr>
              <a:t>04</a:t>
            </a:r>
          </a:p>
        </p:txBody>
      </p:sp>
      <p:graphicFrame>
        <p:nvGraphicFramePr>
          <p:cNvPr id="4" name="">
            <a:extLst xmlns:a="http://schemas.openxmlformats.org/drawingml/2006/main">
              <a:ext uri="{FF2B5EF4-FFF2-40B4-BE49-F238E27FC236}">
                <a16:creationId xmlns:a16="http://schemas.microsoft.com/office/drawing/2014/main" id="{AADF274F-C8DF-4BBD-A24C-D86CE72CC3CE}"/>
              </a:ext>
            </a:extLst>
          </p:cNvPr>
          <p:cNvGraphicFramePr/>
          <p:nvPr/>
        </p:nvGraphicFramePr>
        <p:xfrm>
          <a:off xmlns:a="http://schemas.openxmlformats.org/drawingml/2006/main" x="609600" y="1571625"/>
          <a:ext xmlns:a="http://schemas.openxmlformats.org/drawingml/2006/main" cx="10972800" cy="2762250"/>
        </p:xfrm>
        <a:graphic xmlns:a="http://schemas.openxmlformats.org/drawingml/2006/main">
          <a:graphicData uri="http://schemas.openxmlformats.org/drawingml/2006/table">
            <a:tbl>
              <a:tblPr/>
              <a:tblGrid>
                <a:gridCol w="7620000"/>
                <a:gridCol w="3352800"/>
              </a:tblGrid>
              <a:tr h="690563">
                <a:tc>
                  <a:txBody>
                    <a:bodyPr/>
                    <a:lstStyle/>
                    <a:p>
                      <a:r>
                        <a:rPr sz="2400" b="1">
                          <a:solidFill>
                            <a:srgbClr val="FFFFFF"/>
                          </a:solidFill>
                          <a:latin typeface="Helvetica Neue"/>
                          <a:ea typeface="Helvetica Neue"/>
                          <a:cs typeface="Helvetica Neue"/>
                        </a:rPr>
                        <a:t>Source movement</a:t>
                      </a:r>
                    </a:p>
                  </a:txBody>
                  <a:tcPr marL="91440" marR="91440" marT="45720" marB="45720">
                    <a:lnL w="9525">
                      <a:solidFill>
                        <a:srgbClr val="B7C4BA"/>
                      </a:solidFill>
                      <a:prstDash val="solid"/>
                    </a:lnL>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c>
                  <a:txBody>
                    <a:bodyPr/>
                    <a:lstStyle/>
                    <a:p>
                      <a:r>
                        <a:rPr sz="2400" b="1">
                          <a:solidFill>
                            <a:srgbClr val="FFFFFF"/>
                          </a:solidFill>
                          <a:latin typeface="Helvetica Neue"/>
                          <a:ea typeface="Helvetica Neue"/>
                          <a:cs typeface="Helvetica Neue"/>
                        </a:rPr>
                        <a:t>Amount (SGD)</a:t>
                      </a:r>
                    </a:p>
                  </a:txBody>
                  <a:tcPr marL="91440" marR="91440" marT="45720" marB="45720">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r>
              <a:tr h="690563">
                <a:tc>
                  <a:txBody>
                    <a:bodyPr/>
                    <a:lstStyle/>
                    <a:p>
                      <a:r>
                        <a:rPr sz="2400" b="0">
                          <a:solidFill>
                            <a:srgbClr val="193C35"/>
                          </a:solidFill>
                          <a:latin typeface="Helvetica Neue"/>
                          <a:ea typeface="Helvetica Neue"/>
                          <a:cs typeface="Helvetica Neue"/>
                        </a:rPr>
                        <a:t>Completed capture</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400" b="0">
                          <a:solidFill>
                            <a:srgbClr val="193C35"/>
                          </a:solidFill>
                          <a:latin typeface="Helvetica Neue"/>
                          <a:ea typeface="Helvetica Neue"/>
                          <a:cs typeface="Helvetica Neue"/>
                        </a:rPr>
                        <a:t>100.00</a:t>
                      </a:r>
                    </a:p>
                  </a:txBody>
                  <a:tcPr marL="91440" marR="91440" marT="45720" marB="45720">
                    <a:lnR w="9525">
                      <a:solidFill>
                        <a:srgbClr val="B7C4BA"/>
                      </a:solidFill>
                      <a:prstDash val="solid"/>
                    </a:lnR>
                    <a:lnB w="9525">
                      <a:solidFill>
                        <a:srgbClr val="B7C4BA"/>
                      </a:solidFill>
                      <a:prstDash val="solid"/>
                    </a:lnB>
                    <a:solidFill>
                      <a:srgbClr val="F4F5EF"/>
                    </a:solidFill>
                  </a:tcPr>
                </a:tc>
              </a:tr>
              <a:tr h="690563">
                <a:tc>
                  <a:txBody>
                    <a:bodyPr/>
                    <a:lstStyle/>
                    <a:p>
                      <a:r>
                        <a:rPr sz="2400" b="0">
                          <a:solidFill>
                            <a:srgbClr val="193C35"/>
                          </a:solidFill>
                          <a:latin typeface="Helvetica Neue"/>
                          <a:ea typeface="Helvetica Neue"/>
                          <a:cs typeface="Helvetica Neue"/>
                        </a:rPr>
                        <a:t>Existing merchant refund</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400" b="0">
                          <a:solidFill>
                            <a:srgbClr val="193C35"/>
                          </a:solidFill>
                          <a:latin typeface="Helvetica Neue"/>
                          <a:ea typeface="Helvetica Neue"/>
                          <a:cs typeface="Helvetica Neue"/>
                        </a:rPr>
                        <a:t>−40.00</a:t>
                      </a:r>
                    </a:p>
                  </a:txBody>
                  <a:tcPr marL="91440" marR="91440" marT="45720" marB="45720">
                    <a:lnR w="9525">
                      <a:solidFill>
                        <a:srgbClr val="B7C4BA"/>
                      </a:solidFill>
                      <a:prstDash val="solid"/>
                    </a:lnR>
                    <a:lnB w="9525">
                      <a:solidFill>
                        <a:srgbClr val="B7C4BA"/>
                      </a:solidFill>
                      <a:prstDash val="solid"/>
                    </a:lnB>
                    <a:solidFill>
                      <a:srgbClr val="F4F5EF"/>
                    </a:solidFill>
                  </a:tcPr>
                </a:tc>
              </a:tr>
              <a:tr h="690563">
                <a:tc>
                  <a:txBody>
                    <a:bodyPr/>
                    <a:lstStyle/>
                    <a:p>
                      <a:r>
                        <a:rPr sz="2400" b="0">
                          <a:solidFill>
                            <a:srgbClr val="193C35"/>
                          </a:solidFill>
                          <a:latin typeface="Helvetica Neue"/>
                          <a:ea typeface="Helvetica Neue"/>
                          <a:cs typeface="Helvetica Neue"/>
                        </a:rPr>
                        <a:t>Remaining eligible amount</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400" b="0">
                          <a:solidFill>
                            <a:srgbClr val="193C35"/>
                          </a:solidFill>
                          <a:latin typeface="Helvetica Neue"/>
                          <a:ea typeface="Helvetica Neue"/>
                          <a:cs typeface="Helvetica Neue"/>
                        </a:rPr>
                        <a:t>60.00</a:t>
                      </a:r>
                    </a:p>
                  </a:txBody>
                  <a:tcPr marL="91440" marR="91440" marT="45720" marB="45720">
                    <a:lnR w="9525">
                      <a:solidFill>
                        <a:srgbClr val="B7C4BA"/>
                      </a:solidFill>
                      <a:prstDash val="solid"/>
                    </a:lnR>
                    <a:lnB w="9525">
                      <a:solidFill>
                        <a:srgbClr val="B7C4BA"/>
                      </a:solidFill>
                      <a:prstDash val="solid"/>
                    </a:lnB>
                    <a:solidFill>
                      <a:srgbClr val="F4F5EF"/>
                    </a:solidFill>
                  </a:tcPr>
                </a:tc>
              </a:tr>
            </a:tbl>
          </a:graphicData>
        </a:graphic>
      </p:graphicFrame>
      <p:sp>
        <p:nvSpPr>
          <p:cNvPr id="5" name="">
            <a:extLst xmlns:a="http://schemas.openxmlformats.org/drawingml/2006/main">
              <a:ext uri="{FF2B5EF4-FFF2-40B4-BE49-F238E27FC236}">
                <a16:creationId xmlns:a16="http://schemas.microsoft.com/office/drawing/2014/main" id="{3DF2B785-F028-41D9-B33B-A7AE3D2A44BA}"/>
              </a:ext>
            </a:extLst>
          </p:cNvPr>
          <p:cNvSpPr>
            <a:spLocks xmlns:a="http://schemas.openxmlformats.org/drawingml/2006/main" noGrp="1"/>
          </p:cNvSpPr>
          <p:nvPr/>
        </p:nvSpPr>
        <p:spPr>
          <a:xfrm xmlns:a="http://schemas.openxmlformats.org/drawingml/2006/main">
            <a:off x="609600" y="46386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93C35"/>
                </a:solidFill>
                <a:latin typeface="Helvetica Neue"/>
                <a:ea typeface="Helvetica Neue"/>
                <a:cs typeface="Helvetica Neue"/>
              </a:defRPr>
            </a:defPPr>
            <a:lvl1pPr>
              <a:defRPr sz="2550" b="1">
                <a:solidFill>
                  <a:srgbClr val="193C35"/>
                </a:solidFill>
                <a:latin typeface="Helvetica Neue"/>
                <a:ea typeface="Helvetica Neue"/>
                <a:cs typeface="Helvetica Neue"/>
              </a:defRPr>
            </a:lvl1pPr>
            <a:lvl2pPr>
              <a:defRPr sz="2550" b="1">
                <a:solidFill>
                  <a:srgbClr val="193C35"/>
                </a:solidFill>
                <a:latin typeface="Helvetica Neue"/>
                <a:ea typeface="Helvetica Neue"/>
                <a:cs typeface="Helvetica Neue"/>
              </a:defRPr>
            </a:lvl2pPr>
            <a:lvl3pPr>
              <a:defRPr sz="2550" b="1">
                <a:solidFill>
                  <a:srgbClr val="193C35"/>
                </a:solidFill>
                <a:latin typeface="Helvetica Neue"/>
                <a:ea typeface="Helvetica Neue"/>
                <a:cs typeface="Helvetica Neue"/>
              </a:defRPr>
            </a:lvl3pPr>
            <a:lvl4pPr>
              <a:defRPr sz="2550" b="1">
                <a:solidFill>
                  <a:srgbClr val="193C35"/>
                </a:solidFill>
                <a:latin typeface="Helvetica Neue"/>
                <a:ea typeface="Helvetica Neue"/>
                <a:cs typeface="Helvetica Neue"/>
              </a:defRPr>
            </a:lvl4pPr>
            <a:lvl5pPr>
              <a:defRPr sz="2550" b="1">
                <a:solidFill>
                  <a:srgbClr val="193C35"/>
                </a:solidFill>
                <a:latin typeface="Helvetica Neue"/>
                <a:ea typeface="Helvetica Neue"/>
                <a:cs typeface="Helvetica Neue"/>
              </a:defRPr>
            </a:lvl5pPr>
            <a:lvl6pPr>
              <a:defRPr sz="2550" b="1">
                <a:solidFill>
                  <a:srgbClr val="193C35"/>
                </a:solidFill>
                <a:latin typeface="Helvetica Neue"/>
                <a:ea typeface="Helvetica Neue"/>
                <a:cs typeface="Helvetica Neue"/>
              </a:defRPr>
            </a:lvl6pPr>
            <a:lvl7pPr>
              <a:defRPr sz="2550" b="1">
                <a:solidFill>
                  <a:srgbClr val="193C35"/>
                </a:solidFill>
                <a:latin typeface="Helvetica Neue"/>
                <a:ea typeface="Helvetica Neue"/>
                <a:cs typeface="Helvetica Neue"/>
              </a:defRPr>
            </a:lvl7pPr>
            <a:lvl8pPr>
              <a:defRPr sz="2550" b="1">
                <a:solidFill>
                  <a:srgbClr val="193C35"/>
                </a:solidFill>
                <a:latin typeface="Helvetica Neue"/>
                <a:ea typeface="Helvetica Neue"/>
                <a:cs typeface="Helvetica Neue"/>
              </a:defRPr>
            </a:lvl8pPr>
            <a:lvl9pPr>
              <a:defRPr sz="2550" b="1">
                <a:solidFill>
                  <a:srgbClr val="193C35"/>
                </a:solidFill>
                <a:latin typeface="Helvetica Neue"/>
                <a:ea typeface="Helvetica Neue"/>
                <a:cs typeface="Helvetica Neue"/>
              </a:defRPr>
            </a:lvl9pPr>
          </a:lstStyle>
          <a:p xmlns:a="http://schemas.openxmlformats.org/drawingml/2006/main">
            <a:pPr>
              <a:defRPr sz="2550" b="1">
                <a:solidFill>
                  <a:srgbClr val="193C35"/>
                </a:solidFill>
                <a:latin typeface="Helvetica Neue"/>
                <a:ea typeface="Helvetica Neue"/>
                <a:cs typeface="Helvetica Neue"/>
              </a:defRPr>
            </a:pPr>
            <a:r>
              <a:rPr sz="2550" b="1">
                <a:solidFill>
                  <a:srgbClr val="193C35"/>
                </a:solidFill>
                <a:latin typeface="Helvetica Neue"/>
                <a:ea typeface="Helvetica Neue"/>
                <a:cs typeface="Helvetica Neue"/>
              </a:rPr>
              <a:t>SGD 60 recorded as a separate simulated credit</a:t>
            </a:r>
          </a:p>
        </p:txBody>
      </p:sp>
      <p:sp>
        <p:nvSpPr>
          <p:cNvPr id="6" name="">
            <a:extLst xmlns:a="http://schemas.openxmlformats.org/drawingml/2006/main">
              <a:ext uri="{FF2B5EF4-FFF2-40B4-BE49-F238E27FC236}">
                <a16:creationId xmlns:a16="http://schemas.microsoft.com/office/drawing/2014/main" id="{23138F5B-E0C7-4B61-9573-B60874D6AECA}"/>
              </a:ext>
            </a:extLst>
          </p:cNvPr>
          <p:cNvSpPr>
            <a:spLocks xmlns:a="http://schemas.openxmlformats.org/drawingml/2006/main" noGrp="1"/>
          </p:cNvSpPr>
          <p:nvPr/>
        </p:nvSpPr>
        <p:spPr>
          <a:xfrm xmlns:a="http://schemas.openxmlformats.org/drawingml/2006/main">
            <a:off x="609600" y="5353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93C35"/>
                </a:solidFill>
                <a:latin typeface="Helvetica Neue"/>
                <a:ea typeface="Helvetica Neue"/>
                <a:cs typeface="Helvetica Neue"/>
              </a:defRPr>
            </a:defPPr>
            <a:lvl1pPr>
              <a:defRPr sz="2025" b="0">
                <a:solidFill>
                  <a:srgbClr val="193C35"/>
                </a:solidFill>
                <a:latin typeface="Helvetica Neue"/>
                <a:ea typeface="Helvetica Neue"/>
                <a:cs typeface="Helvetica Neue"/>
              </a:defRPr>
            </a:lvl1pPr>
            <a:lvl2pPr>
              <a:defRPr sz="2025" b="0">
                <a:solidFill>
                  <a:srgbClr val="193C35"/>
                </a:solidFill>
                <a:latin typeface="Helvetica Neue"/>
                <a:ea typeface="Helvetica Neue"/>
                <a:cs typeface="Helvetica Neue"/>
              </a:defRPr>
            </a:lvl2pPr>
            <a:lvl3pPr>
              <a:defRPr sz="2025" b="0">
                <a:solidFill>
                  <a:srgbClr val="193C35"/>
                </a:solidFill>
                <a:latin typeface="Helvetica Neue"/>
                <a:ea typeface="Helvetica Neue"/>
                <a:cs typeface="Helvetica Neue"/>
              </a:defRPr>
            </a:lvl3pPr>
            <a:lvl4pPr>
              <a:defRPr sz="2025" b="0">
                <a:solidFill>
                  <a:srgbClr val="193C35"/>
                </a:solidFill>
                <a:latin typeface="Helvetica Neue"/>
                <a:ea typeface="Helvetica Neue"/>
                <a:cs typeface="Helvetica Neue"/>
              </a:defRPr>
            </a:lvl4pPr>
            <a:lvl5pPr>
              <a:defRPr sz="2025" b="0">
                <a:solidFill>
                  <a:srgbClr val="193C35"/>
                </a:solidFill>
                <a:latin typeface="Helvetica Neue"/>
                <a:ea typeface="Helvetica Neue"/>
                <a:cs typeface="Helvetica Neue"/>
              </a:defRPr>
            </a:lvl5pPr>
            <a:lvl6pPr>
              <a:defRPr sz="2025" b="0">
                <a:solidFill>
                  <a:srgbClr val="193C35"/>
                </a:solidFill>
                <a:latin typeface="Helvetica Neue"/>
                <a:ea typeface="Helvetica Neue"/>
                <a:cs typeface="Helvetica Neue"/>
              </a:defRPr>
            </a:lvl6pPr>
            <a:lvl7pPr>
              <a:defRPr sz="2025" b="0">
                <a:solidFill>
                  <a:srgbClr val="193C35"/>
                </a:solidFill>
                <a:latin typeface="Helvetica Neue"/>
                <a:ea typeface="Helvetica Neue"/>
                <a:cs typeface="Helvetica Neue"/>
              </a:defRPr>
            </a:lvl7pPr>
            <a:lvl8pPr>
              <a:defRPr sz="2025" b="0">
                <a:solidFill>
                  <a:srgbClr val="193C35"/>
                </a:solidFill>
                <a:latin typeface="Helvetica Neue"/>
                <a:ea typeface="Helvetica Neue"/>
                <a:cs typeface="Helvetica Neue"/>
              </a:defRPr>
            </a:lvl8pPr>
            <a:lvl9pPr>
              <a:defRPr sz="2025" b="0">
                <a:solidFill>
                  <a:srgbClr val="193C35"/>
                </a:solidFill>
                <a:latin typeface="Helvetica Neue"/>
                <a:ea typeface="Helvetica Neue"/>
                <a:cs typeface="Helvetica Neue"/>
              </a:defRPr>
            </a:lvl9pPr>
          </a:lstStyle>
          <a:p xmlns:a="http://schemas.openxmlformats.org/drawingml/2006/main">
            <a:pPr>
              <a:defRPr sz="2025" b="0">
                <a:solidFill>
                  <a:srgbClr val="193C35"/>
                </a:solidFill>
                <a:latin typeface="Helvetica Neue"/>
                <a:ea typeface="Helvetica Neue"/>
                <a:cs typeface="Helvetica Neue"/>
              </a:defRPr>
            </a:pPr>
            <a:r>
              <a:rPr sz="2025" b="0">
                <a:solidFill>
                  <a:srgbClr val="193C35"/>
                </a:solidFill>
                <a:latin typeface="Helvetica Neue"/>
                <a:ea typeface="Helvetica Neue"/>
                <a:cs typeface="Helvetica Neue"/>
              </a:rPr>
              <a:t>Identical request: original decision reused</a:t>
            </a:r>
          </a:p>
          <a:p xmlns:a="http://schemas.openxmlformats.org/drawingml/2006/main">
            <a:pPr>
              <a:defRPr sz="2025" b="0">
                <a:solidFill>
                  <a:srgbClr val="193C35"/>
                </a:solidFill>
                <a:latin typeface="Helvetica Neue"/>
                <a:ea typeface="Helvetica Neue"/>
                <a:cs typeface="Helvetica Neue"/>
              </a:defRPr>
            </a:pPr>
            <a:r>
              <a:rPr sz="2025" b="0">
                <a:solidFill>
                  <a:srgbClr val="193C35"/>
                </a:solidFill>
                <a:latin typeface="Helvetica Neue"/>
                <a:ea typeface="Helvetica Neue"/>
                <a:cs typeface="Helvetica Neue"/>
              </a:rPr>
              <a:t>Fresh attempt: rejected because effective credit already exists</a:t>
            </a:r>
          </a:p>
        </p:txBody>
      </p:sp>
    </p:spTree>
    <p:extLst>
      <p:ext uri="{BB962C8B-B14F-4D97-AF65-F5344CB8AC3E}">
        <p14:creationId xmlns:p14="http://schemas.microsoft.com/office/powerpoint/2010/main" val="676130800"/>
      </p:ext>
    </p:extLst>
  </p:cSld>
</p:sld>
</file>

<file path=ppt/slides/slide5.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FD3B18-3A20-482B-9BD8-EEEE9DD1CB47}"/>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C35"/>
                </a:solidFill>
                <a:latin typeface="Helvetica Neue"/>
                <a:ea typeface="Helvetica Neue"/>
                <a:cs typeface="Helvetica Neue"/>
              </a:defRPr>
            </a:defPPr>
            <a:lvl1pPr>
              <a:defRPr sz="3300" b="1">
                <a:solidFill>
                  <a:srgbClr val="193C35"/>
                </a:solidFill>
                <a:latin typeface="Helvetica Neue"/>
                <a:ea typeface="Helvetica Neue"/>
                <a:cs typeface="Helvetica Neue"/>
              </a:defRPr>
            </a:lvl1pPr>
            <a:lvl2pPr>
              <a:defRPr sz="3300" b="1">
                <a:solidFill>
                  <a:srgbClr val="193C35"/>
                </a:solidFill>
                <a:latin typeface="Helvetica Neue"/>
                <a:ea typeface="Helvetica Neue"/>
                <a:cs typeface="Helvetica Neue"/>
              </a:defRPr>
            </a:lvl2pPr>
            <a:lvl3pPr>
              <a:defRPr sz="3300" b="1">
                <a:solidFill>
                  <a:srgbClr val="193C35"/>
                </a:solidFill>
                <a:latin typeface="Helvetica Neue"/>
                <a:ea typeface="Helvetica Neue"/>
                <a:cs typeface="Helvetica Neue"/>
              </a:defRPr>
            </a:lvl3pPr>
            <a:lvl4pPr>
              <a:defRPr sz="3300" b="1">
                <a:solidFill>
                  <a:srgbClr val="193C35"/>
                </a:solidFill>
                <a:latin typeface="Helvetica Neue"/>
                <a:ea typeface="Helvetica Neue"/>
                <a:cs typeface="Helvetica Neue"/>
              </a:defRPr>
            </a:lvl4pPr>
            <a:lvl5pPr>
              <a:defRPr sz="3300" b="1">
                <a:solidFill>
                  <a:srgbClr val="193C35"/>
                </a:solidFill>
                <a:latin typeface="Helvetica Neue"/>
                <a:ea typeface="Helvetica Neue"/>
                <a:cs typeface="Helvetica Neue"/>
              </a:defRPr>
            </a:lvl5pPr>
            <a:lvl6pPr>
              <a:defRPr sz="3300" b="1">
                <a:solidFill>
                  <a:srgbClr val="193C35"/>
                </a:solidFill>
                <a:latin typeface="Helvetica Neue"/>
                <a:ea typeface="Helvetica Neue"/>
                <a:cs typeface="Helvetica Neue"/>
              </a:defRPr>
            </a:lvl6pPr>
            <a:lvl7pPr>
              <a:defRPr sz="3300" b="1">
                <a:solidFill>
                  <a:srgbClr val="193C35"/>
                </a:solidFill>
                <a:latin typeface="Helvetica Neue"/>
                <a:ea typeface="Helvetica Neue"/>
                <a:cs typeface="Helvetica Neue"/>
              </a:defRPr>
            </a:lvl7pPr>
            <a:lvl8pPr>
              <a:defRPr sz="3300" b="1">
                <a:solidFill>
                  <a:srgbClr val="193C35"/>
                </a:solidFill>
                <a:latin typeface="Helvetica Neue"/>
                <a:ea typeface="Helvetica Neue"/>
                <a:cs typeface="Helvetica Neue"/>
              </a:defRPr>
            </a:lvl8pPr>
            <a:lvl9pPr>
              <a:defRPr sz="3300" b="1">
                <a:solidFill>
                  <a:srgbClr val="193C35"/>
                </a:solidFill>
                <a:latin typeface="Helvetica Neue"/>
                <a:ea typeface="Helvetica Neue"/>
                <a:cs typeface="Helvetica Neue"/>
              </a:defRPr>
            </a:lvl9pPr>
          </a:lstStyle>
          <a:p xmlns:a="http://schemas.openxmlformats.org/drawingml/2006/main">
            <a:pPr>
              <a:defRPr sz="3300" b="1">
                <a:solidFill>
                  <a:srgbClr val="193C35"/>
                </a:solidFill>
                <a:latin typeface="Helvetica Neue"/>
                <a:ea typeface="Helvetica Neue"/>
                <a:cs typeface="Helvetica Neue"/>
              </a:defRPr>
            </a:pPr>
            <a:r>
              <a:rPr sz="3300" b="1">
                <a:solidFill>
                  <a:srgbClr val="193C35"/>
                </a:solidFill>
                <a:latin typeface="Helvetica Neue"/>
                <a:ea typeface="Helvetica Neue"/>
                <a:cs typeface="Helvetica Neue"/>
              </a:rPr>
              <a:t>DP-0003: reject one extra cent</a:t>
            </a:r>
          </a:p>
        </p:txBody>
      </p:sp>
      <p:sp>
        <p:nvSpPr>
          <p:cNvPr id="2" name="">
            <a:extLst xmlns:a="http://schemas.openxmlformats.org/drawingml/2006/main">
              <a:ext uri="{FF2B5EF4-FFF2-40B4-BE49-F238E27FC236}">
                <a16:creationId xmlns:a16="http://schemas.microsoft.com/office/drawing/2014/main" id="{F59F311D-7D1A-4D61-824E-4FDA14EBECAA}"/>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35B"/>
                </a:solidFill>
                <a:latin typeface="Helvetica Neue"/>
                <a:ea typeface="Helvetica Neue"/>
                <a:cs typeface="Helvetica Neue"/>
              </a:defRPr>
            </a:defPPr>
            <a:lvl1pPr>
              <a:defRPr sz="1500" b="0">
                <a:solidFill>
                  <a:srgbClr val="54635B"/>
                </a:solidFill>
                <a:latin typeface="Helvetica Neue"/>
                <a:ea typeface="Helvetica Neue"/>
                <a:cs typeface="Helvetica Neue"/>
              </a:defRPr>
            </a:lvl1pPr>
            <a:lvl2pPr>
              <a:defRPr sz="1500" b="0">
                <a:solidFill>
                  <a:srgbClr val="54635B"/>
                </a:solidFill>
                <a:latin typeface="Helvetica Neue"/>
                <a:ea typeface="Helvetica Neue"/>
                <a:cs typeface="Helvetica Neue"/>
              </a:defRPr>
            </a:lvl2pPr>
            <a:lvl3pPr>
              <a:defRPr sz="1500" b="0">
                <a:solidFill>
                  <a:srgbClr val="54635B"/>
                </a:solidFill>
                <a:latin typeface="Helvetica Neue"/>
                <a:ea typeface="Helvetica Neue"/>
                <a:cs typeface="Helvetica Neue"/>
              </a:defRPr>
            </a:lvl3pPr>
            <a:lvl4pPr>
              <a:defRPr sz="1500" b="0">
                <a:solidFill>
                  <a:srgbClr val="54635B"/>
                </a:solidFill>
                <a:latin typeface="Helvetica Neue"/>
                <a:ea typeface="Helvetica Neue"/>
                <a:cs typeface="Helvetica Neue"/>
              </a:defRPr>
            </a:lvl4pPr>
            <a:lvl5pPr>
              <a:defRPr sz="1500" b="0">
                <a:solidFill>
                  <a:srgbClr val="54635B"/>
                </a:solidFill>
                <a:latin typeface="Helvetica Neue"/>
                <a:ea typeface="Helvetica Neue"/>
                <a:cs typeface="Helvetica Neue"/>
              </a:defRPr>
            </a:lvl5pPr>
            <a:lvl6pPr>
              <a:defRPr sz="1500" b="0">
                <a:solidFill>
                  <a:srgbClr val="54635B"/>
                </a:solidFill>
                <a:latin typeface="Helvetica Neue"/>
                <a:ea typeface="Helvetica Neue"/>
                <a:cs typeface="Helvetica Neue"/>
              </a:defRPr>
            </a:lvl6pPr>
            <a:lvl7pPr>
              <a:defRPr sz="1500" b="0">
                <a:solidFill>
                  <a:srgbClr val="54635B"/>
                </a:solidFill>
                <a:latin typeface="Helvetica Neue"/>
                <a:ea typeface="Helvetica Neue"/>
                <a:cs typeface="Helvetica Neue"/>
              </a:defRPr>
            </a:lvl7pPr>
            <a:lvl8pPr>
              <a:defRPr sz="1500" b="0">
                <a:solidFill>
                  <a:srgbClr val="54635B"/>
                </a:solidFill>
                <a:latin typeface="Helvetica Neue"/>
                <a:ea typeface="Helvetica Neue"/>
                <a:cs typeface="Helvetica Neue"/>
              </a:defRPr>
            </a:lvl8pPr>
            <a:lvl9pPr>
              <a:defRPr sz="1500" b="0">
                <a:solidFill>
                  <a:srgbClr val="54635B"/>
                </a:solidFill>
                <a:latin typeface="Helvetica Neue"/>
                <a:ea typeface="Helvetica Neue"/>
                <a:cs typeface="Helvetica Neue"/>
              </a:defRPr>
            </a:lvl9pPr>
          </a:lstStyle>
          <a:p xmlns:a="http://schemas.openxmlformats.org/drawingml/2006/main">
            <a:pPr>
              <a:defRPr sz="1500" b="0">
                <a:solidFill>
                  <a:srgbClr val="54635B"/>
                </a:solidFill>
                <a:latin typeface="Helvetica Neue"/>
                <a:ea typeface="Helvetica Neue"/>
                <a:cs typeface="Helvetica Neue"/>
              </a:defRPr>
            </a:pPr>
            <a:r>
              <a:rPr sz="1500" b="0">
                <a:solidFill>
                  <a:srgbClr val="54635B"/>
                </a:solidFill>
                <a:latin typeface="Helvetica Neue"/>
                <a:ea typeface="Helvetica Neue"/>
                <a:cs typeface="Helvetica Neue"/>
              </a:rPr>
              <a:t>Injected fault in an isolated test. Scripted model responses</a:t>
            </a:r>
          </a:p>
        </p:txBody>
      </p:sp>
      <p:sp>
        <p:nvSpPr>
          <p:cNvPr id="3" name="">
            <a:extLst xmlns:a="http://schemas.openxmlformats.org/drawingml/2006/main">
              <a:ext uri="{FF2B5EF4-FFF2-40B4-BE49-F238E27FC236}">
                <a16:creationId xmlns:a16="http://schemas.microsoft.com/office/drawing/2014/main" id="{6A143553-4920-4A8E-BE79-87ED5E648B60}"/>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4635B"/>
                </a:solidFill>
                <a:latin typeface="Helvetica Neue"/>
                <a:ea typeface="Helvetica Neue"/>
                <a:cs typeface="Helvetica Neue"/>
              </a:defRPr>
            </a:defPPr>
            <a:lvl1pPr>
              <a:defRPr sz="1425" b="0">
                <a:solidFill>
                  <a:srgbClr val="54635B"/>
                </a:solidFill>
                <a:latin typeface="Helvetica Neue"/>
                <a:ea typeface="Helvetica Neue"/>
                <a:cs typeface="Helvetica Neue"/>
              </a:defRPr>
            </a:lvl1pPr>
            <a:lvl2pPr>
              <a:defRPr sz="1425" b="0">
                <a:solidFill>
                  <a:srgbClr val="54635B"/>
                </a:solidFill>
                <a:latin typeface="Helvetica Neue"/>
                <a:ea typeface="Helvetica Neue"/>
                <a:cs typeface="Helvetica Neue"/>
              </a:defRPr>
            </a:lvl2pPr>
            <a:lvl3pPr>
              <a:defRPr sz="1425" b="0">
                <a:solidFill>
                  <a:srgbClr val="54635B"/>
                </a:solidFill>
                <a:latin typeface="Helvetica Neue"/>
                <a:ea typeface="Helvetica Neue"/>
                <a:cs typeface="Helvetica Neue"/>
              </a:defRPr>
            </a:lvl3pPr>
            <a:lvl4pPr>
              <a:defRPr sz="1425" b="0">
                <a:solidFill>
                  <a:srgbClr val="54635B"/>
                </a:solidFill>
                <a:latin typeface="Helvetica Neue"/>
                <a:ea typeface="Helvetica Neue"/>
                <a:cs typeface="Helvetica Neue"/>
              </a:defRPr>
            </a:lvl4pPr>
            <a:lvl5pPr>
              <a:defRPr sz="1425" b="0">
                <a:solidFill>
                  <a:srgbClr val="54635B"/>
                </a:solidFill>
                <a:latin typeface="Helvetica Neue"/>
                <a:ea typeface="Helvetica Neue"/>
                <a:cs typeface="Helvetica Neue"/>
              </a:defRPr>
            </a:lvl5pPr>
            <a:lvl6pPr>
              <a:defRPr sz="1425" b="0">
                <a:solidFill>
                  <a:srgbClr val="54635B"/>
                </a:solidFill>
                <a:latin typeface="Helvetica Neue"/>
                <a:ea typeface="Helvetica Neue"/>
                <a:cs typeface="Helvetica Neue"/>
              </a:defRPr>
            </a:lvl6pPr>
            <a:lvl7pPr>
              <a:defRPr sz="1425" b="0">
                <a:solidFill>
                  <a:srgbClr val="54635B"/>
                </a:solidFill>
                <a:latin typeface="Helvetica Neue"/>
                <a:ea typeface="Helvetica Neue"/>
                <a:cs typeface="Helvetica Neue"/>
              </a:defRPr>
            </a:lvl7pPr>
            <a:lvl8pPr>
              <a:defRPr sz="1425" b="0">
                <a:solidFill>
                  <a:srgbClr val="54635B"/>
                </a:solidFill>
                <a:latin typeface="Helvetica Neue"/>
                <a:ea typeface="Helvetica Neue"/>
                <a:cs typeface="Helvetica Neue"/>
              </a:defRPr>
            </a:lvl8pPr>
            <a:lvl9pPr>
              <a:defRPr sz="1425" b="0">
                <a:solidFill>
                  <a:srgbClr val="54635B"/>
                </a:solidFill>
                <a:latin typeface="Helvetica Neue"/>
                <a:ea typeface="Helvetica Neue"/>
                <a:cs typeface="Helvetica Neue"/>
              </a:defRPr>
            </a:lvl9pPr>
          </a:lstStyle>
          <a:p xmlns:a="http://schemas.openxmlformats.org/drawingml/2006/main">
            <a:pPr>
              <a:defRPr sz="1425" b="0">
                <a:solidFill>
                  <a:srgbClr val="54635B"/>
                </a:solidFill>
                <a:latin typeface="Helvetica Neue"/>
                <a:ea typeface="Helvetica Neue"/>
                <a:cs typeface="Helvetica Neue"/>
              </a:defRPr>
            </a:pPr>
            <a:r>
              <a:rPr sz="1425" b="0">
                <a:solidFill>
                  <a:srgbClr val="54635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9823DF9B-141B-4A5F-BA27-860F5D9E9014}"/>
              </a:ext>
            </a:extLst>
          </p:cNvPr>
          <p:cNvSpPr>
            <a:spLocks xmlns:a="http://schemas.openxmlformats.org/drawingml/2006/main" noGrp="1"/>
          </p:cNvSpPr>
          <p:nvPr/>
        </p:nvSpPr>
        <p:spPr>
          <a:xfrm xmlns:a="http://schemas.openxmlformats.org/drawingml/2006/main">
            <a:off x="609600" y="1743075"/>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9D392E"/>
                </a:solidFill>
                <a:latin typeface="Helvetica Neue"/>
                <a:ea typeface="Helvetica Neue"/>
                <a:cs typeface="Helvetica Neue"/>
              </a:defRPr>
            </a:defPPr>
            <a:lvl1pPr>
              <a:defRPr sz="4350" b="1">
                <a:solidFill>
                  <a:srgbClr val="9D392E"/>
                </a:solidFill>
                <a:latin typeface="Helvetica Neue"/>
                <a:ea typeface="Helvetica Neue"/>
                <a:cs typeface="Helvetica Neue"/>
              </a:defRPr>
            </a:lvl1pPr>
            <a:lvl2pPr>
              <a:defRPr sz="4350" b="1">
                <a:solidFill>
                  <a:srgbClr val="9D392E"/>
                </a:solidFill>
                <a:latin typeface="Helvetica Neue"/>
                <a:ea typeface="Helvetica Neue"/>
                <a:cs typeface="Helvetica Neue"/>
              </a:defRPr>
            </a:lvl2pPr>
            <a:lvl3pPr>
              <a:defRPr sz="4350" b="1">
                <a:solidFill>
                  <a:srgbClr val="9D392E"/>
                </a:solidFill>
                <a:latin typeface="Helvetica Neue"/>
                <a:ea typeface="Helvetica Neue"/>
                <a:cs typeface="Helvetica Neue"/>
              </a:defRPr>
            </a:lvl3pPr>
            <a:lvl4pPr>
              <a:defRPr sz="4350" b="1">
                <a:solidFill>
                  <a:srgbClr val="9D392E"/>
                </a:solidFill>
                <a:latin typeface="Helvetica Neue"/>
                <a:ea typeface="Helvetica Neue"/>
                <a:cs typeface="Helvetica Neue"/>
              </a:defRPr>
            </a:lvl4pPr>
            <a:lvl5pPr>
              <a:defRPr sz="4350" b="1">
                <a:solidFill>
                  <a:srgbClr val="9D392E"/>
                </a:solidFill>
                <a:latin typeface="Helvetica Neue"/>
                <a:ea typeface="Helvetica Neue"/>
                <a:cs typeface="Helvetica Neue"/>
              </a:defRPr>
            </a:lvl5pPr>
            <a:lvl6pPr>
              <a:defRPr sz="4350" b="1">
                <a:solidFill>
                  <a:srgbClr val="9D392E"/>
                </a:solidFill>
                <a:latin typeface="Helvetica Neue"/>
                <a:ea typeface="Helvetica Neue"/>
                <a:cs typeface="Helvetica Neue"/>
              </a:defRPr>
            </a:lvl6pPr>
            <a:lvl7pPr>
              <a:defRPr sz="4350" b="1">
                <a:solidFill>
                  <a:srgbClr val="9D392E"/>
                </a:solidFill>
                <a:latin typeface="Helvetica Neue"/>
                <a:ea typeface="Helvetica Neue"/>
                <a:cs typeface="Helvetica Neue"/>
              </a:defRPr>
            </a:lvl7pPr>
            <a:lvl8pPr>
              <a:defRPr sz="4350" b="1">
                <a:solidFill>
                  <a:srgbClr val="9D392E"/>
                </a:solidFill>
                <a:latin typeface="Helvetica Neue"/>
                <a:ea typeface="Helvetica Neue"/>
                <a:cs typeface="Helvetica Neue"/>
              </a:defRPr>
            </a:lvl8pPr>
            <a:lvl9pPr>
              <a:defRPr sz="4350" b="1">
                <a:solidFill>
                  <a:srgbClr val="9D392E"/>
                </a:solidFill>
                <a:latin typeface="Helvetica Neue"/>
                <a:ea typeface="Helvetica Neue"/>
                <a:cs typeface="Helvetica Neue"/>
              </a:defRPr>
            </a:lvl9pPr>
          </a:lstStyle>
          <a:p xmlns:a="http://schemas.openxmlformats.org/drawingml/2006/main">
            <a:pPr>
              <a:defRPr sz="4350" b="1">
                <a:solidFill>
                  <a:srgbClr val="9D392E"/>
                </a:solidFill>
                <a:latin typeface="Helvetica Neue"/>
                <a:ea typeface="Helvetica Neue"/>
                <a:cs typeface="Helvetica Neue"/>
              </a:defRPr>
            </a:pPr>
            <a:r>
              <a:rPr sz="4350" b="1">
                <a:solidFill>
                  <a:srgbClr val="9D392E"/>
                </a:solidFill>
                <a:latin typeface="Helvetica Neue"/>
                <a:ea typeface="Helvetica Neue"/>
                <a:cs typeface="Helvetica Neue"/>
              </a:rPr>
              <a:t>SGD 200.01</a:t>
            </a:r>
          </a:p>
        </p:txBody>
      </p:sp>
      <p:sp>
        <p:nvSpPr>
          <p:cNvPr id="5" name="">
            <a:extLst xmlns:a="http://schemas.openxmlformats.org/drawingml/2006/main">
              <a:ext uri="{FF2B5EF4-FFF2-40B4-BE49-F238E27FC236}">
                <a16:creationId xmlns:a16="http://schemas.microsoft.com/office/drawing/2014/main" id="{AE2EBB8F-AD54-41CC-BF68-855408895FA8}"/>
              </a:ext>
            </a:extLst>
          </p:cNvPr>
          <p:cNvSpPr>
            <a:spLocks xmlns:a="http://schemas.openxmlformats.org/drawingml/2006/main" noGrp="1"/>
          </p:cNvSpPr>
          <p:nvPr/>
        </p:nvSpPr>
        <p:spPr>
          <a:xfrm xmlns:a="http://schemas.openxmlformats.org/drawingml/2006/main">
            <a:off x="609600" y="2571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9D392E"/>
                </a:solidFill>
                <a:latin typeface="Helvetica Neue"/>
                <a:ea typeface="Helvetica Neue"/>
                <a:cs typeface="Helvetica Neue"/>
              </a:defRPr>
            </a:defPPr>
            <a:lvl1pPr>
              <a:defRPr sz="2100" b="0">
                <a:solidFill>
                  <a:srgbClr val="9D392E"/>
                </a:solidFill>
                <a:latin typeface="Helvetica Neue"/>
                <a:ea typeface="Helvetica Neue"/>
                <a:cs typeface="Helvetica Neue"/>
              </a:defRPr>
            </a:lvl1pPr>
            <a:lvl2pPr>
              <a:defRPr sz="2100" b="0">
                <a:solidFill>
                  <a:srgbClr val="9D392E"/>
                </a:solidFill>
                <a:latin typeface="Helvetica Neue"/>
                <a:ea typeface="Helvetica Neue"/>
                <a:cs typeface="Helvetica Neue"/>
              </a:defRPr>
            </a:lvl2pPr>
            <a:lvl3pPr>
              <a:defRPr sz="2100" b="0">
                <a:solidFill>
                  <a:srgbClr val="9D392E"/>
                </a:solidFill>
                <a:latin typeface="Helvetica Neue"/>
                <a:ea typeface="Helvetica Neue"/>
                <a:cs typeface="Helvetica Neue"/>
              </a:defRPr>
            </a:lvl3pPr>
            <a:lvl4pPr>
              <a:defRPr sz="2100" b="0">
                <a:solidFill>
                  <a:srgbClr val="9D392E"/>
                </a:solidFill>
                <a:latin typeface="Helvetica Neue"/>
                <a:ea typeface="Helvetica Neue"/>
                <a:cs typeface="Helvetica Neue"/>
              </a:defRPr>
            </a:lvl4pPr>
            <a:lvl5pPr>
              <a:defRPr sz="2100" b="0">
                <a:solidFill>
                  <a:srgbClr val="9D392E"/>
                </a:solidFill>
                <a:latin typeface="Helvetica Neue"/>
                <a:ea typeface="Helvetica Neue"/>
                <a:cs typeface="Helvetica Neue"/>
              </a:defRPr>
            </a:lvl5pPr>
            <a:lvl6pPr>
              <a:defRPr sz="2100" b="0">
                <a:solidFill>
                  <a:srgbClr val="9D392E"/>
                </a:solidFill>
                <a:latin typeface="Helvetica Neue"/>
                <a:ea typeface="Helvetica Neue"/>
                <a:cs typeface="Helvetica Neue"/>
              </a:defRPr>
            </a:lvl6pPr>
            <a:lvl7pPr>
              <a:defRPr sz="2100" b="0">
                <a:solidFill>
                  <a:srgbClr val="9D392E"/>
                </a:solidFill>
                <a:latin typeface="Helvetica Neue"/>
                <a:ea typeface="Helvetica Neue"/>
                <a:cs typeface="Helvetica Neue"/>
              </a:defRPr>
            </a:lvl7pPr>
            <a:lvl8pPr>
              <a:defRPr sz="2100" b="0">
                <a:solidFill>
                  <a:srgbClr val="9D392E"/>
                </a:solidFill>
                <a:latin typeface="Helvetica Neue"/>
                <a:ea typeface="Helvetica Neue"/>
                <a:cs typeface="Helvetica Neue"/>
              </a:defRPr>
            </a:lvl8pPr>
            <a:lvl9pPr>
              <a:defRPr sz="2100" b="0">
                <a:solidFill>
                  <a:srgbClr val="9D392E"/>
                </a:solidFill>
                <a:latin typeface="Helvetica Neue"/>
                <a:ea typeface="Helvetica Neue"/>
                <a:cs typeface="Helvetica Neue"/>
              </a:defRPr>
            </a:lvl9pPr>
          </a:lstStyle>
          <a:p xmlns:a="http://schemas.openxmlformats.org/drawingml/2006/main">
            <a:pPr>
              <a:defRPr sz="2100" b="0">
                <a:solidFill>
                  <a:srgbClr val="9D392E"/>
                </a:solidFill>
                <a:latin typeface="Helvetica Neue"/>
                <a:ea typeface="Helvetica Neue"/>
                <a:cs typeface="Helvetica Neue"/>
              </a:defRPr>
            </a:pPr>
            <a:r>
              <a:rPr sz="2100" b="0">
                <a:solidFill>
                  <a:srgbClr val="9D392E"/>
                </a:solidFill>
                <a:latin typeface="Helvetica Neue"/>
                <a:ea typeface="Helvetica Neue"/>
                <a:cs typeface="Helvetica Neue"/>
              </a:rPr>
              <a:t>Injected proposal</a:t>
            </a:r>
          </a:p>
        </p:txBody>
      </p:sp>
      <p:sp>
        <p:nvSpPr>
          <p:cNvPr id="6" name="">
            <a:extLst xmlns:a="http://schemas.openxmlformats.org/drawingml/2006/main">
              <a:ext uri="{FF2B5EF4-FFF2-40B4-BE49-F238E27FC236}">
                <a16:creationId xmlns:a16="http://schemas.microsoft.com/office/drawing/2014/main" id="{BC470AD0-89E4-41B0-B2F7-6D7FBD58ADA7}"/>
              </a:ext>
            </a:extLst>
          </p:cNvPr>
          <p:cNvSpPr>
            <a:spLocks xmlns:a="http://schemas.openxmlformats.org/drawingml/2006/main" noGrp="1"/>
          </p:cNvSpPr>
          <p:nvPr/>
        </p:nvSpPr>
        <p:spPr>
          <a:xfrm xmlns:a="http://schemas.openxmlformats.org/drawingml/2006/main">
            <a:off x="6572250" y="1743075"/>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193C35"/>
                </a:solidFill>
                <a:latin typeface="Helvetica Neue"/>
                <a:ea typeface="Helvetica Neue"/>
                <a:cs typeface="Helvetica Neue"/>
              </a:defRPr>
            </a:defPPr>
            <a:lvl1pPr>
              <a:defRPr sz="4350" b="1">
                <a:solidFill>
                  <a:srgbClr val="193C35"/>
                </a:solidFill>
                <a:latin typeface="Helvetica Neue"/>
                <a:ea typeface="Helvetica Neue"/>
                <a:cs typeface="Helvetica Neue"/>
              </a:defRPr>
            </a:lvl1pPr>
            <a:lvl2pPr>
              <a:defRPr sz="4350" b="1">
                <a:solidFill>
                  <a:srgbClr val="193C35"/>
                </a:solidFill>
                <a:latin typeface="Helvetica Neue"/>
                <a:ea typeface="Helvetica Neue"/>
                <a:cs typeface="Helvetica Neue"/>
              </a:defRPr>
            </a:lvl2pPr>
            <a:lvl3pPr>
              <a:defRPr sz="4350" b="1">
                <a:solidFill>
                  <a:srgbClr val="193C35"/>
                </a:solidFill>
                <a:latin typeface="Helvetica Neue"/>
                <a:ea typeface="Helvetica Neue"/>
                <a:cs typeface="Helvetica Neue"/>
              </a:defRPr>
            </a:lvl3pPr>
            <a:lvl4pPr>
              <a:defRPr sz="4350" b="1">
                <a:solidFill>
                  <a:srgbClr val="193C35"/>
                </a:solidFill>
                <a:latin typeface="Helvetica Neue"/>
                <a:ea typeface="Helvetica Neue"/>
                <a:cs typeface="Helvetica Neue"/>
              </a:defRPr>
            </a:lvl4pPr>
            <a:lvl5pPr>
              <a:defRPr sz="4350" b="1">
                <a:solidFill>
                  <a:srgbClr val="193C35"/>
                </a:solidFill>
                <a:latin typeface="Helvetica Neue"/>
                <a:ea typeface="Helvetica Neue"/>
                <a:cs typeface="Helvetica Neue"/>
              </a:defRPr>
            </a:lvl5pPr>
            <a:lvl6pPr>
              <a:defRPr sz="4350" b="1">
                <a:solidFill>
                  <a:srgbClr val="193C35"/>
                </a:solidFill>
                <a:latin typeface="Helvetica Neue"/>
                <a:ea typeface="Helvetica Neue"/>
                <a:cs typeface="Helvetica Neue"/>
              </a:defRPr>
            </a:lvl6pPr>
            <a:lvl7pPr>
              <a:defRPr sz="4350" b="1">
                <a:solidFill>
                  <a:srgbClr val="193C35"/>
                </a:solidFill>
                <a:latin typeface="Helvetica Neue"/>
                <a:ea typeface="Helvetica Neue"/>
                <a:cs typeface="Helvetica Neue"/>
              </a:defRPr>
            </a:lvl7pPr>
            <a:lvl8pPr>
              <a:defRPr sz="4350" b="1">
                <a:solidFill>
                  <a:srgbClr val="193C35"/>
                </a:solidFill>
                <a:latin typeface="Helvetica Neue"/>
                <a:ea typeface="Helvetica Neue"/>
                <a:cs typeface="Helvetica Neue"/>
              </a:defRPr>
            </a:lvl8pPr>
            <a:lvl9pPr>
              <a:defRPr sz="4350" b="1">
                <a:solidFill>
                  <a:srgbClr val="193C35"/>
                </a:solidFill>
                <a:latin typeface="Helvetica Neue"/>
                <a:ea typeface="Helvetica Neue"/>
                <a:cs typeface="Helvetica Neue"/>
              </a:defRPr>
            </a:lvl9pPr>
          </a:lstStyle>
          <a:p xmlns:a="http://schemas.openxmlformats.org/drawingml/2006/main">
            <a:pPr>
              <a:defRPr sz="4350" b="1">
                <a:solidFill>
                  <a:srgbClr val="193C35"/>
                </a:solidFill>
                <a:latin typeface="Helvetica Neue"/>
                <a:ea typeface="Helvetica Neue"/>
                <a:cs typeface="Helvetica Neue"/>
              </a:defRPr>
            </a:pPr>
            <a:r>
              <a:rPr sz="4350" b="1">
                <a:solidFill>
                  <a:srgbClr val="193C35"/>
                </a:solidFill>
                <a:latin typeface="Helvetica Neue"/>
                <a:ea typeface="Helvetica Neue"/>
                <a:cs typeface="Helvetica Neue"/>
              </a:rPr>
              <a:t>SGD 200.00</a:t>
            </a:r>
          </a:p>
        </p:txBody>
      </p:sp>
      <p:sp>
        <p:nvSpPr>
          <p:cNvPr id="7" name="">
            <a:extLst xmlns:a="http://schemas.openxmlformats.org/drawingml/2006/main">
              <a:ext uri="{FF2B5EF4-FFF2-40B4-BE49-F238E27FC236}">
                <a16:creationId xmlns:a16="http://schemas.microsoft.com/office/drawing/2014/main" id="{0DA10445-D2E1-4710-83CD-2F9948D3354F}"/>
              </a:ext>
            </a:extLst>
          </p:cNvPr>
          <p:cNvSpPr>
            <a:spLocks xmlns:a="http://schemas.openxmlformats.org/drawingml/2006/main" noGrp="1"/>
          </p:cNvSpPr>
          <p:nvPr/>
        </p:nvSpPr>
        <p:spPr>
          <a:xfrm xmlns:a="http://schemas.openxmlformats.org/drawingml/2006/main">
            <a:off x="6572250" y="25717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93C35"/>
                </a:solidFill>
                <a:latin typeface="Helvetica Neue"/>
                <a:ea typeface="Helvetica Neue"/>
                <a:cs typeface="Helvetica Neue"/>
              </a:defRPr>
            </a:defPPr>
            <a:lvl1pPr>
              <a:defRPr sz="2100" b="0">
                <a:solidFill>
                  <a:srgbClr val="193C35"/>
                </a:solidFill>
                <a:latin typeface="Helvetica Neue"/>
                <a:ea typeface="Helvetica Neue"/>
                <a:cs typeface="Helvetica Neue"/>
              </a:defRPr>
            </a:lvl1pPr>
            <a:lvl2pPr>
              <a:defRPr sz="2100" b="0">
                <a:solidFill>
                  <a:srgbClr val="193C35"/>
                </a:solidFill>
                <a:latin typeface="Helvetica Neue"/>
                <a:ea typeface="Helvetica Neue"/>
                <a:cs typeface="Helvetica Neue"/>
              </a:defRPr>
            </a:lvl2pPr>
            <a:lvl3pPr>
              <a:defRPr sz="2100" b="0">
                <a:solidFill>
                  <a:srgbClr val="193C35"/>
                </a:solidFill>
                <a:latin typeface="Helvetica Neue"/>
                <a:ea typeface="Helvetica Neue"/>
                <a:cs typeface="Helvetica Neue"/>
              </a:defRPr>
            </a:lvl3pPr>
            <a:lvl4pPr>
              <a:defRPr sz="2100" b="0">
                <a:solidFill>
                  <a:srgbClr val="193C35"/>
                </a:solidFill>
                <a:latin typeface="Helvetica Neue"/>
                <a:ea typeface="Helvetica Neue"/>
                <a:cs typeface="Helvetica Neue"/>
              </a:defRPr>
            </a:lvl4pPr>
            <a:lvl5pPr>
              <a:defRPr sz="2100" b="0">
                <a:solidFill>
                  <a:srgbClr val="193C35"/>
                </a:solidFill>
                <a:latin typeface="Helvetica Neue"/>
                <a:ea typeface="Helvetica Neue"/>
                <a:cs typeface="Helvetica Neue"/>
              </a:defRPr>
            </a:lvl5pPr>
            <a:lvl6pPr>
              <a:defRPr sz="2100" b="0">
                <a:solidFill>
                  <a:srgbClr val="193C35"/>
                </a:solidFill>
                <a:latin typeface="Helvetica Neue"/>
                <a:ea typeface="Helvetica Neue"/>
                <a:cs typeface="Helvetica Neue"/>
              </a:defRPr>
            </a:lvl6pPr>
            <a:lvl7pPr>
              <a:defRPr sz="2100" b="0">
                <a:solidFill>
                  <a:srgbClr val="193C35"/>
                </a:solidFill>
                <a:latin typeface="Helvetica Neue"/>
                <a:ea typeface="Helvetica Neue"/>
                <a:cs typeface="Helvetica Neue"/>
              </a:defRPr>
            </a:lvl7pPr>
            <a:lvl8pPr>
              <a:defRPr sz="2100" b="0">
                <a:solidFill>
                  <a:srgbClr val="193C35"/>
                </a:solidFill>
                <a:latin typeface="Helvetica Neue"/>
                <a:ea typeface="Helvetica Neue"/>
                <a:cs typeface="Helvetica Neue"/>
              </a:defRPr>
            </a:lvl8pPr>
            <a:lvl9pPr>
              <a:defRPr sz="2100" b="0">
                <a:solidFill>
                  <a:srgbClr val="193C35"/>
                </a:solidFill>
                <a:latin typeface="Helvetica Neue"/>
                <a:ea typeface="Helvetica Neue"/>
                <a:cs typeface="Helvetica Neue"/>
              </a:defRPr>
            </a:lvl9pPr>
          </a:lstStyle>
          <a:p xmlns:a="http://schemas.openxmlformats.org/drawingml/2006/main">
            <a:pPr>
              <a:defRPr sz="2100" b="0">
                <a:solidFill>
                  <a:srgbClr val="193C35"/>
                </a:solidFill>
                <a:latin typeface="Helvetica Neue"/>
                <a:ea typeface="Helvetica Neue"/>
                <a:cs typeface="Helvetica Neue"/>
              </a:defRPr>
            </a:pPr>
            <a:r>
              <a:rPr sz="2100" b="0">
                <a:solidFill>
                  <a:srgbClr val="193C35"/>
                </a:solidFill>
                <a:latin typeface="Helvetica Neue"/>
                <a:ea typeface="Helvetica Neue"/>
                <a:cs typeface="Helvetica Neue"/>
              </a:rPr>
              <a:t>Allowed and corrected amount</a:t>
            </a:r>
          </a:p>
        </p:txBody>
      </p:sp>
      <p:graphicFrame>
        <p:nvGraphicFramePr>
          <p:cNvPr id="8" name="">
            <a:extLst xmlns:a="http://schemas.openxmlformats.org/drawingml/2006/main">
              <a:ext uri="{FF2B5EF4-FFF2-40B4-BE49-F238E27FC236}">
                <a16:creationId xmlns:a16="http://schemas.microsoft.com/office/drawing/2014/main" id="{CCBD412A-AE99-48CB-B73A-4DE76E848E0D}"/>
              </a:ext>
            </a:extLst>
          </p:cNvPr>
          <p:cNvGraphicFramePr/>
          <p:nvPr/>
        </p:nvGraphicFramePr>
        <p:xfrm>
          <a:off xmlns:a="http://schemas.openxmlformats.org/drawingml/2006/main" x="609600" y="3552825"/>
          <a:ext xmlns:a="http://schemas.openxmlformats.org/drawingml/2006/main" cx="10972800" cy="2428875"/>
        </p:xfrm>
        <a:graphic xmlns:a="http://schemas.openxmlformats.org/drawingml/2006/main">
          <a:graphicData uri="http://schemas.openxmlformats.org/drawingml/2006/table">
            <a:tbl>
              <a:tblPr/>
              <a:tblGrid>
                <a:gridCol w="4476750"/>
                <a:gridCol w="6496050"/>
              </a:tblGrid>
              <a:tr h="607219">
                <a:tc>
                  <a:txBody>
                    <a:bodyPr/>
                    <a:lstStyle/>
                    <a:p>
                      <a:r>
                        <a:rPr sz="1950" b="1">
                          <a:solidFill>
                            <a:srgbClr val="FFFFFF"/>
                          </a:solidFill>
                          <a:latin typeface="Helvetica Neue"/>
                          <a:ea typeface="Helvetica Neue"/>
                          <a:cs typeface="Helvetica Neue"/>
                        </a:rPr>
                        <a:t>Check</a:t>
                      </a:r>
                    </a:p>
                  </a:txBody>
                  <a:tcPr marL="91440" marR="91440" marT="45720" marB="45720">
                    <a:lnL w="9525">
                      <a:solidFill>
                        <a:srgbClr val="B7C4BA"/>
                      </a:solidFill>
                      <a:prstDash val="solid"/>
                    </a:lnL>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c>
                  <a:txBody>
                    <a:bodyPr/>
                    <a:lstStyle/>
                    <a:p>
                      <a:r>
                        <a:rPr sz="1950" b="1">
                          <a:solidFill>
                            <a:srgbClr val="FFFFFF"/>
                          </a:solidFill>
                          <a:latin typeface="Helvetica Neue"/>
                          <a:ea typeface="Helvetica Neue"/>
                          <a:cs typeface="Helvetica Neue"/>
                        </a:rPr>
                        <a:t>Observed result</a:t>
                      </a:r>
                    </a:p>
                  </a:txBody>
                  <a:tcPr marL="91440" marR="91440" marT="45720" marB="45720">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r>
              <a:tr h="607219">
                <a:tc>
                  <a:txBody>
                    <a:bodyPr/>
                    <a:lstStyle/>
                    <a:p>
                      <a:r>
                        <a:rPr sz="1950" b="0">
                          <a:solidFill>
                            <a:srgbClr val="193C35"/>
                          </a:solidFill>
                          <a:latin typeface="Helvetica Neue"/>
                          <a:ea typeface="Helvetica Neue"/>
                          <a:cs typeface="Helvetica Neue"/>
                        </a:rPr>
                        <a:t>Critic on the faulty proposal</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950" b="0">
                          <a:solidFill>
                            <a:srgbClr val="193C35"/>
                          </a:solidFill>
                          <a:latin typeface="Helvetica Neue"/>
                          <a:ea typeface="Helvetica Neue"/>
                          <a:cs typeface="Helvetica Neue"/>
                        </a:rPr>
                        <a:t>Reject excess amount; request correction</a:t>
                      </a:r>
                    </a:p>
                  </a:txBody>
                  <a:tcPr marL="91440" marR="91440" marT="45720" marB="45720">
                    <a:lnR w="9525">
                      <a:solidFill>
                        <a:srgbClr val="B7C4BA"/>
                      </a:solidFill>
                      <a:prstDash val="solid"/>
                    </a:lnR>
                    <a:lnB w="9525">
                      <a:solidFill>
                        <a:srgbClr val="B7C4BA"/>
                      </a:solidFill>
                      <a:prstDash val="solid"/>
                    </a:lnB>
                    <a:solidFill>
                      <a:srgbClr val="F4F5EF"/>
                    </a:solidFill>
                  </a:tcPr>
                </a:tc>
              </a:tr>
              <a:tr h="607219">
                <a:tc>
                  <a:txBody>
                    <a:bodyPr/>
                    <a:lstStyle/>
                    <a:p>
                      <a:r>
                        <a:rPr sz="1950" b="0">
                          <a:solidFill>
                            <a:srgbClr val="193C35"/>
                          </a:solidFill>
                          <a:latin typeface="Helvetica Neue"/>
                          <a:ea typeface="Helvetica Neue"/>
                          <a:cs typeface="Helvetica Neue"/>
                        </a:rPr>
                        <a:t>One revised proposal</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950" b="0">
                          <a:solidFill>
                            <a:srgbClr val="193C35"/>
                          </a:solidFill>
                          <a:latin typeface="Helvetica Neue"/>
                          <a:ea typeface="Helvetica Neue"/>
                          <a:cs typeface="Helvetica Neue"/>
                        </a:rPr>
                        <a:t>Critic accepted; Reviewer accepted</a:t>
                      </a:r>
                    </a:p>
                  </a:txBody>
                  <a:tcPr marL="91440" marR="91440" marT="45720" marB="45720">
                    <a:lnR w="9525">
                      <a:solidFill>
                        <a:srgbClr val="B7C4BA"/>
                      </a:solidFill>
                      <a:prstDash val="solid"/>
                    </a:lnR>
                    <a:lnB w="9525">
                      <a:solidFill>
                        <a:srgbClr val="B7C4BA"/>
                      </a:solidFill>
                      <a:prstDash val="solid"/>
                    </a:lnB>
                    <a:solidFill>
                      <a:srgbClr val="F4F5EF"/>
                    </a:solidFill>
                  </a:tcPr>
                </a:tc>
              </a:tr>
              <a:tr h="607219">
                <a:tc>
                  <a:txBody>
                    <a:bodyPr/>
                    <a:lstStyle/>
                    <a:p>
                      <a:r>
                        <a:rPr sz="1950" b="0">
                          <a:solidFill>
                            <a:srgbClr val="193C35"/>
                          </a:solidFill>
                          <a:latin typeface="Helvetica Neue"/>
                          <a:ea typeface="Helvetica Neue"/>
                          <a:cs typeface="Helvetica Neue"/>
                        </a:rPr>
                        <a:t>Protected write</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950" b="0">
                          <a:solidFill>
                            <a:srgbClr val="193C35"/>
                          </a:solidFill>
                          <a:latin typeface="Helvetica Neue"/>
                          <a:ea typeface="Helvetica Neue"/>
                          <a:cs typeface="Helvetica Neue"/>
                        </a:rPr>
                        <a:t>Committed SGD 200.00</a:t>
                      </a:r>
                    </a:p>
                  </a:txBody>
                  <a:tcPr marL="91440" marR="91440" marT="45720" marB="45720">
                    <a:lnR w="9525">
                      <a:solidFill>
                        <a:srgbClr val="B7C4BA"/>
                      </a:solidFill>
                      <a:prstDash val="solid"/>
                    </a:lnR>
                    <a:lnB w="9525">
                      <a:solidFill>
                        <a:srgbClr val="B7C4BA"/>
                      </a:solidFill>
                      <a:prstDash val="solid"/>
                    </a:lnB>
                    <a:solidFill>
                      <a:srgbClr val="F4F5EF"/>
                    </a:solidFill>
                  </a:tcPr>
                </a:tc>
              </a:tr>
            </a:tbl>
          </a:graphicData>
        </a:graphic>
      </p:graphicFrame>
    </p:spTree>
    <p:extLst>
      <p:ext uri="{BB962C8B-B14F-4D97-AF65-F5344CB8AC3E}">
        <p14:creationId xmlns:p14="http://schemas.microsoft.com/office/powerpoint/2010/main" val="1877979167"/>
      </p:ext>
    </p:extLst>
  </p:cSld>
</p:sld>
</file>

<file path=ppt/slides/slide6.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108DB99-A90B-4E72-82A3-EE37EF9B8088}"/>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C35"/>
                </a:solidFill>
                <a:latin typeface="Helvetica Neue"/>
                <a:ea typeface="Helvetica Neue"/>
                <a:cs typeface="Helvetica Neue"/>
              </a:defRPr>
            </a:defPPr>
            <a:lvl1pPr>
              <a:defRPr sz="3300" b="1">
                <a:solidFill>
                  <a:srgbClr val="193C35"/>
                </a:solidFill>
                <a:latin typeface="Helvetica Neue"/>
                <a:ea typeface="Helvetica Neue"/>
                <a:cs typeface="Helvetica Neue"/>
              </a:defRPr>
            </a:lvl1pPr>
            <a:lvl2pPr>
              <a:defRPr sz="3300" b="1">
                <a:solidFill>
                  <a:srgbClr val="193C35"/>
                </a:solidFill>
                <a:latin typeface="Helvetica Neue"/>
                <a:ea typeface="Helvetica Neue"/>
                <a:cs typeface="Helvetica Neue"/>
              </a:defRPr>
            </a:lvl2pPr>
            <a:lvl3pPr>
              <a:defRPr sz="3300" b="1">
                <a:solidFill>
                  <a:srgbClr val="193C35"/>
                </a:solidFill>
                <a:latin typeface="Helvetica Neue"/>
                <a:ea typeface="Helvetica Neue"/>
                <a:cs typeface="Helvetica Neue"/>
              </a:defRPr>
            </a:lvl3pPr>
            <a:lvl4pPr>
              <a:defRPr sz="3300" b="1">
                <a:solidFill>
                  <a:srgbClr val="193C35"/>
                </a:solidFill>
                <a:latin typeface="Helvetica Neue"/>
                <a:ea typeface="Helvetica Neue"/>
                <a:cs typeface="Helvetica Neue"/>
              </a:defRPr>
            </a:lvl4pPr>
            <a:lvl5pPr>
              <a:defRPr sz="3300" b="1">
                <a:solidFill>
                  <a:srgbClr val="193C35"/>
                </a:solidFill>
                <a:latin typeface="Helvetica Neue"/>
                <a:ea typeface="Helvetica Neue"/>
                <a:cs typeface="Helvetica Neue"/>
              </a:defRPr>
            </a:lvl5pPr>
            <a:lvl6pPr>
              <a:defRPr sz="3300" b="1">
                <a:solidFill>
                  <a:srgbClr val="193C35"/>
                </a:solidFill>
                <a:latin typeface="Helvetica Neue"/>
                <a:ea typeface="Helvetica Neue"/>
                <a:cs typeface="Helvetica Neue"/>
              </a:defRPr>
            </a:lvl6pPr>
            <a:lvl7pPr>
              <a:defRPr sz="3300" b="1">
                <a:solidFill>
                  <a:srgbClr val="193C35"/>
                </a:solidFill>
                <a:latin typeface="Helvetica Neue"/>
                <a:ea typeface="Helvetica Neue"/>
                <a:cs typeface="Helvetica Neue"/>
              </a:defRPr>
            </a:lvl7pPr>
            <a:lvl8pPr>
              <a:defRPr sz="3300" b="1">
                <a:solidFill>
                  <a:srgbClr val="193C35"/>
                </a:solidFill>
                <a:latin typeface="Helvetica Neue"/>
                <a:ea typeface="Helvetica Neue"/>
                <a:cs typeface="Helvetica Neue"/>
              </a:defRPr>
            </a:lvl8pPr>
            <a:lvl9pPr>
              <a:defRPr sz="3300" b="1">
                <a:solidFill>
                  <a:srgbClr val="193C35"/>
                </a:solidFill>
                <a:latin typeface="Helvetica Neue"/>
                <a:ea typeface="Helvetica Neue"/>
                <a:cs typeface="Helvetica Neue"/>
              </a:defRPr>
            </a:lvl9pPr>
          </a:lstStyle>
          <a:p xmlns:a="http://schemas.openxmlformats.org/drawingml/2006/main">
            <a:pPr>
              <a:defRPr sz="3300" b="1">
                <a:solidFill>
                  <a:srgbClr val="193C35"/>
                </a:solidFill>
                <a:latin typeface="Helvetica Neue"/>
                <a:ea typeface="Helvetica Neue"/>
                <a:cs typeface="Helvetica Neue"/>
              </a:defRPr>
            </a:pPr>
            <a:r>
              <a:rPr sz="3300" b="1">
                <a:solidFill>
                  <a:srgbClr val="193C35"/>
                </a:solidFill>
                <a:latin typeface="Helvetica Neue"/>
                <a:ea typeface="Helvetica Neue"/>
                <a:cs typeface="Helvetica Neue"/>
              </a:rPr>
              <a:t>DP-0017: verify remembered history</a:t>
            </a:r>
          </a:p>
        </p:txBody>
      </p:sp>
      <p:sp>
        <p:nvSpPr>
          <p:cNvPr id="2" name="">
            <a:extLst xmlns:a="http://schemas.openxmlformats.org/drawingml/2006/main">
              <a:ext uri="{FF2B5EF4-FFF2-40B4-BE49-F238E27FC236}">
                <a16:creationId xmlns:a16="http://schemas.microsoft.com/office/drawing/2014/main" id="{4123260F-3EDB-442C-9072-1C0004CA8B13}"/>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35B"/>
                </a:solidFill>
                <a:latin typeface="Helvetica Neue"/>
                <a:ea typeface="Helvetica Neue"/>
                <a:cs typeface="Helvetica Neue"/>
              </a:defRPr>
            </a:defPPr>
            <a:lvl1pPr>
              <a:defRPr sz="1500" b="0">
                <a:solidFill>
                  <a:srgbClr val="54635B"/>
                </a:solidFill>
                <a:latin typeface="Helvetica Neue"/>
                <a:ea typeface="Helvetica Neue"/>
                <a:cs typeface="Helvetica Neue"/>
              </a:defRPr>
            </a:lvl1pPr>
            <a:lvl2pPr>
              <a:defRPr sz="1500" b="0">
                <a:solidFill>
                  <a:srgbClr val="54635B"/>
                </a:solidFill>
                <a:latin typeface="Helvetica Neue"/>
                <a:ea typeface="Helvetica Neue"/>
                <a:cs typeface="Helvetica Neue"/>
              </a:defRPr>
            </a:lvl2pPr>
            <a:lvl3pPr>
              <a:defRPr sz="1500" b="0">
                <a:solidFill>
                  <a:srgbClr val="54635B"/>
                </a:solidFill>
                <a:latin typeface="Helvetica Neue"/>
                <a:ea typeface="Helvetica Neue"/>
                <a:cs typeface="Helvetica Neue"/>
              </a:defRPr>
            </a:lvl3pPr>
            <a:lvl4pPr>
              <a:defRPr sz="1500" b="0">
                <a:solidFill>
                  <a:srgbClr val="54635B"/>
                </a:solidFill>
                <a:latin typeface="Helvetica Neue"/>
                <a:ea typeface="Helvetica Neue"/>
                <a:cs typeface="Helvetica Neue"/>
              </a:defRPr>
            </a:lvl4pPr>
            <a:lvl5pPr>
              <a:defRPr sz="1500" b="0">
                <a:solidFill>
                  <a:srgbClr val="54635B"/>
                </a:solidFill>
                <a:latin typeface="Helvetica Neue"/>
                <a:ea typeface="Helvetica Neue"/>
                <a:cs typeface="Helvetica Neue"/>
              </a:defRPr>
            </a:lvl5pPr>
            <a:lvl6pPr>
              <a:defRPr sz="1500" b="0">
                <a:solidFill>
                  <a:srgbClr val="54635B"/>
                </a:solidFill>
                <a:latin typeface="Helvetica Neue"/>
                <a:ea typeface="Helvetica Neue"/>
                <a:cs typeface="Helvetica Neue"/>
              </a:defRPr>
            </a:lvl6pPr>
            <a:lvl7pPr>
              <a:defRPr sz="1500" b="0">
                <a:solidFill>
                  <a:srgbClr val="54635B"/>
                </a:solidFill>
                <a:latin typeface="Helvetica Neue"/>
                <a:ea typeface="Helvetica Neue"/>
                <a:cs typeface="Helvetica Neue"/>
              </a:defRPr>
            </a:lvl7pPr>
            <a:lvl8pPr>
              <a:defRPr sz="1500" b="0">
                <a:solidFill>
                  <a:srgbClr val="54635B"/>
                </a:solidFill>
                <a:latin typeface="Helvetica Neue"/>
                <a:ea typeface="Helvetica Neue"/>
                <a:cs typeface="Helvetica Neue"/>
              </a:defRPr>
            </a:lvl8pPr>
            <a:lvl9pPr>
              <a:defRPr sz="1500" b="0">
                <a:solidFill>
                  <a:srgbClr val="54635B"/>
                </a:solidFill>
                <a:latin typeface="Helvetica Neue"/>
                <a:ea typeface="Helvetica Neue"/>
                <a:cs typeface="Helvetica Neue"/>
              </a:defRPr>
            </a:lvl9pPr>
          </a:lstStyle>
          <a:p xmlns:a="http://schemas.openxmlformats.org/drawingml/2006/main">
            <a:pPr>
              <a:defRPr sz="1500" b="0">
                <a:solidFill>
                  <a:srgbClr val="54635B"/>
                </a:solidFill>
                <a:latin typeface="Helvetica Neue"/>
                <a:ea typeface="Helvetica Neue"/>
                <a:cs typeface="Helvetica Neue"/>
              </a:defRPr>
            </a:pPr>
            <a:r>
              <a:rPr sz="1500" b="0">
                <a:solidFill>
                  <a:srgbClr val="54635B"/>
                </a:solidFill>
                <a:latin typeface="Helvetica Neue"/>
                <a:ea typeface="Helvetica Neue"/>
                <a:cs typeface="Helvetica Neue"/>
              </a:rPr>
              <a:t>Scripted-model rehearsal; real H-MEM reference with mock embeddings</a:t>
            </a:r>
          </a:p>
        </p:txBody>
      </p:sp>
      <p:sp>
        <p:nvSpPr>
          <p:cNvPr id="3" name="">
            <a:extLst xmlns:a="http://schemas.openxmlformats.org/drawingml/2006/main">
              <a:ext uri="{FF2B5EF4-FFF2-40B4-BE49-F238E27FC236}">
                <a16:creationId xmlns:a16="http://schemas.microsoft.com/office/drawing/2014/main" id="{93F5452C-2F99-40FE-A768-04B883428DF5}"/>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4635B"/>
                </a:solidFill>
                <a:latin typeface="Helvetica Neue"/>
                <a:ea typeface="Helvetica Neue"/>
                <a:cs typeface="Helvetica Neue"/>
              </a:defRPr>
            </a:defPPr>
            <a:lvl1pPr>
              <a:defRPr sz="1425" b="0">
                <a:solidFill>
                  <a:srgbClr val="54635B"/>
                </a:solidFill>
                <a:latin typeface="Helvetica Neue"/>
                <a:ea typeface="Helvetica Neue"/>
                <a:cs typeface="Helvetica Neue"/>
              </a:defRPr>
            </a:lvl1pPr>
            <a:lvl2pPr>
              <a:defRPr sz="1425" b="0">
                <a:solidFill>
                  <a:srgbClr val="54635B"/>
                </a:solidFill>
                <a:latin typeface="Helvetica Neue"/>
                <a:ea typeface="Helvetica Neue"/>
                <a:cs typeface="Helvetica Neue"/>
              </a:defRPr>
            </a:lvl2pPr>
            <a:lvl3pPr>
              <a:defRPr sz="1425" b="0">
                <a:solidFill>
                  <a:srgbClr val="54635B"/>
                </a:solidFill>
                <a:latin typeface="Helvetica Neue"/>
                <a:ea typeface="Helvetica Neue"/>
                <a:cs typeface="Helvetica Neue"/>
              </a:defRPr>
            </a:lvl3pPr>
            <a:lvl4pPr>
              <a:defRPr sz="1425" b="0">
                <a:solidFill>
                  <a:srgbClr val="54635B"/>
                </a:solidFill>
                <a:latin typeface="Helvetica Neue"/>
                <a:ea typeface="Helvetica Neue"/>
                <a:cs typeface="Helvetica Neue"/>
              </a:defRPr>
            </a:lvl4pPr>
            <a:lvl5pPr>
              <a:defRPr sz="1425" b="0">
                <a:solidFill>
                  <a:srgbClr val="54635B"/>
                </a:solidFill>
                <a:latin typeface="Helvetica Neue"/>
                <a:ea typeface="Helvetica Neue"/>
                <a:cs typeface="Helvetica Neue"/>
              </a:defRPr>
            </a:lvl5pPr>
            <a:lvl6pPr>
              <a:defRPr sz="1425" b="0">
                <a:solidFill>
                  <a:srgbClr val="54635B"/>
                </a:solidFill>
                <a:latin typeface="Helvetica Neue"/>
                <a:ea typeface="Helvetica Neue"/>
                <a:cs typeface="Helvetica Neue"/>
              </a:defRPr>
            </a:lvl6pPr>
            <a:lvl7pPr>
              <a:defRPr sz="1425" b="0">
                <a:solidFill>
                  <a:srgbClr val="54635B"/>
                </a:solidFill>
                <a:latin typeface="Helvetica Neue"/>
                <a:ea typeface="Helvetica Neue"/>
                <a:cs typeface="Helvetica Neue"/>
              </a:defRPr>
            </a:lvl7pPr>
            <a:lvl8pPr>
              <a:defRPr sz="1425" b="0">
                <a:solidFill>
                  <a:srgbClr val="54635B"/>
                </a:solidFill>
                <a:latin typeface="Helvetica Neue"/>
                <a:ea typeface="Helvetica Neue"/>
                <a:cs typeface="Helvetica Neue"/>
              </a:defRPr>
            </a:lvl8pPr>
            <a:lvl9pPr>
              <a:defRPr sz="1425" b="0">
                <a:solidFill>
                  <a:srgbClr val="54635B"/>
                </a:solidFill>
                <a:latin typeface="Helvetica Neue"/>
                <a:ea typeface="Helvetica Neue"/>
                <a:cs typeface="Helvetica Neue"/>
              </a:defRPr>
            </a:lvl9pPr>
          </a:lstStyle>
          <a:p xmlns:a="http://schemas.openxmlformats.org/drawingml/2006/main">
            <a:pPr>
              <a:defRPr sz="1425" b="0">
                <a:solidFill>
                  <a:srgbClr val="54635B"/>
                </a:solidFill>
                <a:latin typeface="Helvetica Neue"/>
                <a:ea typeface="Helvetica Neue"/>
                <a:cs typeface="Helvetica Neue"/>
              </a:defRPr>
            </a:pPr>
            <a:r>
              <a:rPr sz="1425" b="0">
                <a:solidFill>
                  <a:srgbClr val="54635B"/>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B90AC0A4-730A-41F9-94EE-EA4E1CB55A64}"/>
              </a:ext>
            </a:extLst>
          </p:cNvPr>
          <p:cNvSpPr>
            <a:spLocks xmlns:a="http://schemas.openxmlformats.org/drawingml/2006/main" noGrp="1"/>
          </p:cNvSpPr>
          <p:nvPr/>
        </p:nvSpPr>
        <p:spPr>
          <a:xfrm xmlns:a="http://schemas.openxmlformats.org/drawingml/2006/main">
            <a:off x="609600" y="16668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93C35"/>
                </a:solidFill>
                <a:latin typeface="Helvetica Neue"/>
                <a:ea typeface="Helvetica Neue"/>
                <a:cs typeface="Helvetica Neue"/>
              </a:defRPr>
            </a:defPPr>
            <a:lvl1pPr>
              <a:defRPr sz="3600" b="1">
                <a:solidFill>
                  <a:srgbClr val="193C35"/>
                </a:solidFill>
                <a:latin typeface="Helvetica Neue"/>
                <a:ea typeface="Helvetica Neue"/>
                <a:cs typeface="Helvetica Neue"/>
              </a:defRPr>
            </a:lvl1pPr>
            <a:lvl2pPr>
              <a:defRPr sz="3600" b="1">
                <a:solidFill>
                  <a:srgbClr val="193C35"/>
                </a:solidFill>
                <a:latin typeface="Helvetica Neue"/>
                <a:ea typeface="Helvetica Neue"/>
                <a:cs typeface="Helvetica Neue"/>
              </a:defRPr>
            </a:lvl2pPr>
            <a:lvl3pPr>
              <a:defRPr sz="3600" b="1">
                <a:solidFill>
                  <a:srgbClr val="193C35"/>
                </a:solidFill>
                <a:latin typeface="Helvetica Neue"/>
                <a:ea typeface="Helvetica Neue"/>
                <a:cs typeface="Helvetica Neue"/>
              </a:defRPr>
            </a:lvl3pPr>
            <a:lvl4pPr>
              <a:defRPr sz="3600" b="1">
                <a:solidFill>
                  <a:srgbClr val="193C35"/>
                </a:solidFill>
                <a:latin typeface="Helvetica Neue"/>
                <a:ea typeface="Helvetica Neue"/>
                <a:cs typeface="Helvetica Neue"/>
              </a:defRPr>
            </a:lvl4pPr>
            <a:lvl5pPr>
              <a:defRPr sz="3600" b="1">
                <a:solidFill>
                  <a:srgbClr val="193C35"/>
                </a:solidFill>
                <a:latin typeface="Helvetica Neue"/>
                <a:ea typeface="Helvetica Neue"/>
                <a:cs typeface="Helvetica Neue"/>
              </a:defRPr>
            </a:lvl5pPr>
            <a:lvl6pPr>
              <a:defRPr sz="3600" b="1">
                <a:solidFill>
                  <a:srgbClr val="193C35"/>
                </a:solidFill>
                <a:latin typeface="Helvetica Neue"/>
                <a:ea typeface="Helvetica Neue"/>
                <a:cs typeface="Helvetica Neue"/>
              </a:defRPr>
            </a:lvl6pPr>
            <a:lvl7pPr>
              <a:defRPr sz="3600" b="1">
                <a:solidFill>
                  <a:srgbClr val="193C35"/>
                </a:solidFill>
                <a:latin typeface="Helvetica Neue"/>
                <a:ea typeface="Helvetica Neue"/>
                <a:cs typeface="Helvetica Neue"/>
              </a:defRPr>
            </a:lvl7pPr>
            <a:lvl8pPr>
              <a:defRPr sz="3600" b="1">
                <a:solidFill>
                  <a:srgbClr val="193C35"/>
                </a:solidFill>
                <a:latin typeface="Helvetica Neue"/>
                <a:ea typeface="Helvetica Neue"/>
                <a:cs typeface="Helvetica Neue"/>
              </a:defRPr>
            </a:lvl8pPr>
            <a:lvl9pPr>
              <a:defRPr sz="3600" b="1">
                <a:solidFill>
                  <a:srgbClr val="193C35"/>
                </a:solidFill>
                <a:latin typeface="Helvetica Neue"/>
                <a:ea typeface="Helvetica Neue"/>
                <a:cs typeface="Helvetica Neue"/>
              </a:defRPr>
            </a:lvl9pPr>
          </a:lstStyle>
          <a:p xmlns:a="http://schemas.openxmlformats.org/drawingml/2006/main">
            <a:pPr>
              <a:defRPr sz="3600" b="1">
                <a:solidFill>
                  <a:srgbClr val="193C35"/>
                </a:solidFill>
                <a:latin typeface="Helvetica Neue"/>
                <a:ea typeface="Helvetica Neue"/>
                <a:cs typeface="Helvetica Neue"/>
              </a:defRPr>
            </a:pPr>
            <a:r>
              <a:rPr sz="3600" b="1">
                <a:solidFill>
                  <a:srgbClr val="193C35"/>
                </a:solidFill>
                <a:latin typeface="Helvetica Neue"/>
                <a:ea typeface="Helvetica Neue"/>
                <a:cs typeface="Helvetica Neue"/>
              </a:rPr>
              <a:t>DP-0014</a:t>
            </a:r>
          </a:p>
        </p:txBody>
      </p:sp>
      <p:sp>
        <p:nvSpPr>
          <p:cNvPr id="5" name="">
            <a:extLst xmlns:a="http://schemas.openxmlformats.org/drawingml/2006/main">
              <a:ext uri="{FF2B5EF4-FFF2-40B4-BE49-F238E27FC236}">
                <a16:creationId xmlns:a16="http://schemas.microsoft.com/office/drawing/2014/main" id="{6B4A1856-1F47-40D0-A879-8E9D2075D9A9}"/>
              </a:ext>
            </a:extLst>
          </p:cNvPr>
          <p:cNvSpPr>
            <a:spLocks xmlns:a="http://schemas.openxmlformats.org/drawingml/2006/main" noGrp="1"/>
          </p:cNvSpPr>
          <p:nvPr/>
        </p:nvSpPr>
        <p:spPr>
          <a:xfrm xmlns:a="http://schemas.openxmlformats.org/drawingml/2006/main">
            <a:off x="609600" y="23812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93C35"/>
                </a:solidFill>
                <a:latin typeface="Helvetica Neue"/>
                <a:ea typeface="Helvetica Neue"/>
                <a:cs typeface="Helvetica Neue"/>
              </a:defRPr>
            </a:defPPr>
            <a:lvl1pPr>
              <a:defRPr sz="2250" b="0">
                <a:solidFill>
                  <a:srgbClr val="193C35"/>
                </a:solidFill>
                <a:latin typeface="Helvetica Neue"/>
                <a:ea typeface="Helvetica Neue"/>
                <a:cs typeface="Helvetica Neue"/>
              </a:defRPr>
            </a:lvl1pPr>
            <a:lvl2pPr>
              <a:defRPr sz="2250" b="0">
                <a:solidFill>
                  <a:srgbClr val="193C35"/>
                </a:solidFill>
                <a:latin typeface="Helvetica Neue"/>
                <a:ea typeface="Helvetica Neue"/>
                <a:cs typeface="Helvetica Neue"/>
              </a:defRPr>
            </a:lvl2pPr>
            <a:lvl3pPr>
              <a:defRPr sz="2250" b="0">
                <a:solidFill>
                  <a:srgbClr val="193C35"/>
                </a:solidFill>
                <a:latin typeface="Helvetica Neue"/>
                <a:ea typeface="Helvetica Neue"/>
                <a:cs typeface="Helvetica Neue"/>
              </a:defRPr>
            </a:lvl3pPr>
            <a:lvl4pPr>
              <a:defRPr sz="2250" b="0">
                <a:solidFill>
                  <a:srgbClr val="193C35"/>
                </a:solidFill>
                <a:latin typeface="Helvetica Neue"/>
                <a:ea typeface="Helvetica Neue"/>
                <a:cs typeface="Helvetica Neue"/>
              </a:defRPr>
            </a:lvl4pPr>
            <a:lvl5pPr>
              <a:defRPr sz="2250" b="0">
                <a:solidFill>
                  <a:srgbClr val="193C35"/>
                </a:solidFill>
                <a:latin typeface="Helvetica Neue"/>
                <a:ea typeface="Helvetica Neue"/>
                <a:cs typeface="Helvetica Neue"/>
              </a:defRPr>
            </a:lvl5pPr>
            <a:lvl6pPr>
              <a:defRPr sz="2250" b="0">
                <a:solidFill>
                  <a:srgbClr val="193C35"/>
                </a:solidFill>
                <a:latin typeface="Helvetica Neue"/>
                <a:ea typeface="Helvetica Neue"/>
                <a:cs typeface="Helvetica Neue"/>
              </a:defRPr>
            </a:lvl6pPr>
            <a:lvl7pPr>
              <a:defRPr sz="2250" b="0">
                <a:solidFill>
                  <a:srgbClr val="193C35"/>
                </a:solidFill>
                <a:latin typeface="Helvetica Neue"/>
                <a:ea typeface="Helvetica Neue"/>
                <a:cs typeface="Helvetica Neue"/>
              </a:defRPr>
            </a:lvl7pPr>
            <a:lvl8pPr>
              <a:defRPr sz="2250" b="0">
                <a:solidFill>
                  <a:srgbClr val="193C35"/>
                </a:solidFill>
                <a:latin typeface="Helvetica Neue"/>
                <a:ea typeface="Helvetica Neue"/>
                <a:cs typeface="Helvetica Neue"/>
              </a:defRPr>
            </a:lvl8pPr>
            <a:lvl9pPr>
              <a:defRPr sz="2250" b="0">
                <a:solidFill>
                  <a:srgbClr val="193C35"/>
                </a:solidFill>
                <a:latin typeface="Helvetica Neue"/>
                <a:ea typeface="Helvetica Neue"/>
                <a:cs typeface="Helvetica Neue"/>
              </a:defRPr>
            </a:lvl9pPr>
          </a:lstStyle>
          <a:p xmlns:a="http://schemas.openxmlformats.org/drawingml/2006/main">
            <a:pPr>
              <a:defRPr sz="2250" b="0">
                <a:solidFill>
                  <a:srgbClr val="193C35"/>
                </a:solidFill>
                <a:latin typeface="Helvetica Neue"/>
                <a:ea typeface="Helvetica Neue"/>
                <a:cs typeface="Helvetica Neue"/>
              </a:defRPr>
            </a:pPr>
            <a:r>
              <a:rPr sz="2250" b="0">
                <a:solidFill>
                  <a:srgbClr val="193C35"/>
                </a:solidFill>
                <a:latin typeface="Helvetica Neue"/>
                <a:ea typeface="Helvetica Neue"/>
                <a:cs typeface="Helvetica Neue"/>
              </a:rPr>
              <a:t>Earlier committed decision</a:t>
            </a:r>
          </a:p>
        </p:txBody>
      </p:sp>
      <p:sp>
        <p:nvSpPr>
          <p:cNvPr id="6" name="">
            <a:extLst xmlns:a="http://schemas.openxmlformats.org/drawingml/2006/main">
              <a:ext uri="{FF2B5EF4-FFF2-40B4-BE49-F238E27FC236}">
                <a16:creationId xmlns:a16="http://schemas.microsoft.com/office/drawing/2014/main" id="{4D02A10D-B1C0-4F44-BE93-5F4C83DFBE6C}"/>
              </a:ext>
            </a:extLst>
          </p:cNvPr>
          <p:cNvSpPr>
            <a:spLocks xmlns:a="http://schemas.openxmlformats.org/drawingml/2006/main" noGrp="1"/>
          </p:cNvSpPr>
          <p:nvPr/>
        </p:nvSpPr>
        <p:spPr>
          <a:xfrm xmlns:a="http://schemas.openxmlformats.org/drawingml/2006/main">
            <a:off x="6572250" y="16668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93C35"/>
                </a:solidFill>
                <a:latin typeface="Helvetica Neue"/>
                <a:ea typeface="Helvetica Neue"/>
                <a:cs typeface="Helvetica Neue"/>
              </a:defRPr>
            </a:defPPr>
            <a:lvl1pPr>
              <a:defRPr sz="3600" b="1">
                <a:solidFill>
                  <a:srgbClr val="193C35"/>
                </a:solidFill>
                <a:latin typeface="Helvetica Neue"/>
                <a:ea typeface="Helvetica Neue"/>
                <a:cs typeface="Helvetica Neue"/>
              </a:defRPr>
            </a:lvl1pPr>
            <a:lvl2pPr>
              <a:defRPr sz="3600" b="1">
                <a:solidFill>
                  <a:srgbClr val="193C35"/>
                </a:solidFill>
                <a:latin typeface="Helvetica Neue"/>
                <a:ea typeface="Helvetica Neue"/>
                <a:cs typeface="Helvetica Neue"/>
              </a:defRPr>
            </a:lvl2pPr>
            <a:lvl3pPr>
              <a:defRPr sz="3600" b="1">
                <a:solidFill>
                  <a:srgbClr val="193C35"/>
                </a:solidFill>
                <a:latin typeface="Helvetica Neue"/>
                <a:ea typeface="Helvetica Neue"/>
                <a:cs typeface="Helvetica Neue"/>
              </a:defRPr>
            </a:lvl3pPr>
            <a:lvl4pPr>
              <a:defRPr sz="3600" b="1">
                <a:solidFill>
                  <a:srgbClr val="193C35"/>
                </a:solidFill>
                <a:latin typeface="Helvetica Neue"/>
                <a:ea typeface="Helvetica Neue"/>
                <a:cs typeface="Helvetica Neue"/>
              </a:defRPr>
            </a:lvl4pPr>
            <a:lvl5pPr>
              <a:defRPr sz="3600" b="1">
                <a:solidFill>
                  <a:srgbClr val="193C35"/>
                </a:solidFill>
                <a:latin typeface="Helvetica Neue"/>
                <a:ea typeface="Helvetica Neue"/>
                <a:cs typeface="Helvetica Neue"/>
              </a:defRPr>
            </a:lvl5pPr>
            <a:lvl6pPr>
              <a:defRPr sz="3600" b="1">
                <a:solidFill>
                  <a:srgbClr val="193C35"/>
                </a:solidFill>
                <a:latin typeface="Helvetica Neue"/>
                <a:ea typeface="Helvetica Neue"/>
                <a:cs typeface="Helvetica Neue"/>
              </a:defRPr>
            </a:lvl6pPr>
            <a:lvl7pPr>
              <a:defRPr sz="3600" b="1">
                <a:solidFill>
                  <a:srgbClr val="193C35"/>
                </a:solidFill>
                <a:latin typeface="Helvetica Neue"/>
                <a:ea typeface="Helvetica Neue"/>
                <a:cs typeface="Helvetica Neue"/>
              </a:defRPr>
            </a:lvl7pPr>
            <a:lvl8pPr>
              <a:defRPr sz="3600" b="1">
                <a:solidFill>
                  <a:srgbClr val="193C35"/>
                </a:solidFill>
                <a:latin typeface="Helvetica Neue"/>
                <a:ea typeface="Helvetica Neue"/>
                <a:cs typeface="Helvetica Neue"/>
              </a:defRPr>
            </a:lvl8pPr>
            <a:lvl9pPr>
              <a:defRPr sz="3600" b="1">
                <a:solidFill>
                  <a:srgbClr val="193C35"/>
                </a:solidFill>
                <a:latin typeface="Helvetica Neue"/>
                <a:ea typeface="Helvetica Neue"/>
                <a:cs typeface="Helvetica Neue"/>
              </a:defRPr>
            </a:lvl9pPr>
          </a:lstStyle>
          <a:p xmlns:a="http://schemas.openxmlformats.org/drawingml/2006/main">
            <a:pPr>
              <a:defRPr sz="3600" b="1">
                <a:solidFill>
                  <a:srgbClr val="193C35"/>
                </a:solidFill>
                <a:latin typeface="Helvetica Neue"/>
                <a:ea typeface="Helvetica Neue"/>
                <a:cs typeface="Helvetica Neue"/>
              </a:defRPr>
            </a:pPr>
            <a:r>
              <a:rPr sz="3600" b="1">
                <a:solidFill>
                  <a:srgbClr val="193C35"/>
                </a:solidFill>
                <a:latin typeface="Helvetica Neue"/>
                <a:ea typeface="Helvetica Neue"/>
                <a:cs typeface="Helvetica Neue"/>
              </a:rPr>
              <a:t>DP-0017</a:t>
            </a:r>
          </a:p>
        </p:txBody>
      </p:sp>
      <p:sp>
        <p:nvSpPr>
          <p:cNvPr id="7" name="">
            <a:extLst xmlns:a="http://schemas.openxmlformats.org/drawingml/2006/main">
              <a:ext uri="{FF2B5EF4-FFF2-40B4-BE49-F238E27FC236}">
                <a16:creationId xmlns:a16="http://schemas.microsoft.com/office/drawing/2014/main" id="{74BBC9E6-6EC4-409F-B18E-51A0875FF1F7}"/>
              </a:ext>
            </a:extLst>
          </p:cNvPr>
          <p:cNvSpPr>
            <a:spLocks xmlns:a="http://schemas.openxmlformats.org/drawingml/2006/main" noGrp="1"/>
          </p:cNvSpPr>
          <p:nvPr/>
        </p:nvSpPr>
        <p:spPr>
          <a:xfrm xmlns:a="http://schemas.openxmlformats.org/drawingml/2006/main">
            <a:off x="6572250" y="23812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93C35"/>
                </a:solidFill>
                <a:latin typeface="Helvetica Neue"/>
                <a:ea typeface="Helvetica Neue"/>
                <a:cs typeface="Helvetica Neue"/>
              </a:defRPr>
            </a:defPPr>
            <a:lvl1pPr>
              <a:defRPr sz="2250" b="0">
                <a:solidFill>
                  <a:srgbClr val="193C35"/>
                </a:solidFill>
                <a:latin typeface="Helvetica Neue"/>
                <a:ea typeface="Helvetica Neue"/>
                <a:cs typeface="Helvetica Neue"/>
              </a:defRPr>
            </a:lvl1pPr>
            <a:lvl2pPr>
              <a:defRPr sz="2250" b="0">
                <a:solidFill>
                  <a:srgbClr val="193C35"/>
                </a:solidFill>
                <a:latin typeface="Helvetica Neue"/>
                <a:ea typeface="Helvetica Neue"/>
                <a:cs typeface="Helvetica Neue"/>
              </a:defRPr>
            </a:lvl2pPr>
            <a:lvl3pPr>
              <a:defRPr sz="2250" b="0">
                <a:solidFill>
                  <a:srgbClr val="193C35"/>
                </a:solidFill>
                <a:latin typeface="Helvetica Neue"/>
                <a:ea typeface="Helvetica Neue"/>
                <a:cs typeface="Helvetica Neue"/>
              </a:defRPr>
            </a:lvl3pPr>
            <a:lvl4pPr>
              <a:defRPr sz="2250" b="0">
                <a:solidFill>
                  <a:srgbClr val="193C35"/>
                </a:solidFill>
                <a:latin typeface="Helvetica Neue"/>
                <a:ea typeface="Helvetica Neue"/>
                <a:cs typeface="Helvetica Neue"/>
              </a:defRPr>
            </a:lvl4pPr>
            <a:lvl5pPr>
              <a:defRPr sz="2250" b="0">
                <a:solidFill>
                  <a:srgbClr val="193C35"/>
                </a:solidFill>
                <a:latin typeface="Helvetica Neue"/>
                <a:ea typeface="Helvetica Neue"/>
                <a:cs typeface="Helvetica Neue"/>
              </a:defRPr>
            </a:lvl5pPr>
            <a:lvl6pPr>
              <a:defRPr sz="2250" b="0">
                <a:solidFill>
                  <a:srgbClr val="193C35"/>
                </a:solidFill>
                <a:latin typeface="Helvetica Neue"/>
                <a:ea typeface="Helvetica Neue"/>
                <a:cs typeface="Helvetica Neue"/>
              </a:defRPr>
            </a:lvl6pPr>
            <a:lvl7pPr>
              <a:defRPr sz="2250" b="0">
                <a:solidFill>
                  <a:srgbClr val="193C35"/>
                </a:solidFill>
                <a:latin typeface="Helvetica Neue"/>
                <a:ea typeface="Helvetica Neue"/>
                <a:cs typeface="Helvetica Neue"/>
              </a:defRPr>
            </a:lvl7pPr>
            <a:lvl8pPr>
              <a:defRPr sz="2250" b="0">
                <a:solidFill>
                  <a:srgbClr val="193C35"/>
                </a:solidFill>
                <a:latin typeface="Helvetica Neue"/>
                <a:ea typeface="Helvetica Neue"/>
                <a:cs typeface="Helvetica Neue"/>
              </a:defRPr>
            </a:lvl8pPr>
            <a:lvl9pPr>
              <a:defRPr sz="2250" b="0">
                <a:solidFill>
                  <a:srgbClr val="193C35"/>
                </a:solidFill>
                <a:latin typeface="Helvetica Neue"/>
                <a:ea typeface="Helvetica Neue"/>
                <a:cs typeface="Helvetica Neue"/>
              </a:defRPr>
            </a:lvl9pPr>
          </a:lstStyle>
          <a:p xmlns:a="http://schemas.openxmlformats.org/drawingml/2006/main">
            <a:pPr>
              <a:defRPr sz="2250" b="0">
                <a:solidFill>
                  <a:srgbClr val="193C35"/>
                </a:solidFill>
                <a:latin typeface="Helvetica Neue"/>
                <a:ea typeface="Helvetica Neue"/>
                <a:cs typeface="Helvetica Neue"/>
              </a:defRPr>
            </a:pPr>
            <a:r>
              <a:rPr sz="2250" b="0">
                <a:solidFill>
                  <a:srgbClr val="193C35"/>
                </a:solidFill>
                <a:latin typeface="Helvetica Neue"/>
                <a:ea typeface="Helvetica Neue"/>
                <a:cs typeface="Helvetica Neue"/>
              </a:rPr>
              <a:t>Later case for the same customer</a:t>
            </a:r>
          </a:p>
        </p:txBody>
      </p:sp>
      <p:graphicFrame>
        <p:nvGraphicFramePr>
          <p:cNvPr id="8" name="">
            <a:extLst xmlns:a="http://schemas.openxmlformats.org/drawingml/2006/main">
              <a:ext uri="{FF2B5EF4-FFF2-40B4-BE49-F238E27FC236}">
                <a16:creationId xmlns:a16="http://schemas.microsoft.com/office/drawing/2014/main" id="{E6557607-AA2C-4803-9A2C-2F02EF675EE5}"/>
              </a:ext>
            </a:extLst>
          </p:cNvPr>
          <p:cNvGraphicFramePr/>
          <p:nvPr/>
        </p:nvGraphicFramePr>
        <p:xfrm>
          <a:off xmlns:a="http://schemas.openxmlformats.org/drawingml/2006/main" x="609600" y="3352800"/>
          <a:ext xmlns:a="http://schemas.openxmlformats.org/drawingml/2006/main" cx="10972800" cy="2190750"/>
        </p:xfrm>
        <a:graphic xmlns:a="http://schemas.openxmlformats.org/drawingml/2006/main">
          <a:graphicData uri="http://schemas.openxmlformats.org/drawingml/2006/table">
            <a:tbl>
              <a:tblPr/>
              <a:tblGrid>
                <a:gridCol w="2571750"/>
                <a:gridCol w="8401050"/>
              </a:tblGrid>
              <a:tr h="547688">
                <a:tc>
                  <a:txBody>
                    <a:bodyPr/>
                    <a:lstStyle/>
                    <a:p>
                      <a:r>
                        <a:rPr sz="2025" b="1">
                          <a:solidFill>
                            <a:srgbClr val="FFFFFF"/>
                          </a:solidFill>
                          <a:latin typeface="Helvetica Neue"/>
                          <a:ea typeface="Helvetica Neue"/>
                          <a:cs typeface="Helvetica Neue"/>
                        </a:rPr>
                        <a:t>Memory step</a:t>
                      </a:r>
                    </a:p>
                  </a:txBody>
                  <a:tcPr marL="91440" marR="91440" marT="45720" marB="45720">
                    <a:lnL w="9525">
                      <a:solidFill>
                        <a:srgbClr val="B7C4BA"/>
                      </a:solidFill>
                      <a:prstDash val="solid"/>
                    </a:lnL>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c>
                  <a:txBody>
                    <a:bodyPr/>
                    <a:lstStyle/>
                    <a:p>
                      <a:r>
                        <a:rPr sz="2025" b="1">
                          <a:solidFill>
                            <a:srgbClr val="FFFFFF"/>
                          </a:solidFill>
                          <a:latin typeface="Helvetica Neue"/>
                          <a:ea typeface="Helvetica Neue"/>
                          <a:cs typeface="Helvetica Neue"/>
                        </a:rPr>
                        <a:t>Required verification</a:t>
                      </a:r>
                    </a:p>
                  </a:txBody>
                  <a:tcPr marL="91440" marR="91440" marT="45720" marB="45720">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r>
              <a:tr h="547688">
                <a:tc>
                  <a:txBody>
                    <a:bodyPr/>
                    <a:lstStyle/>
                    <a:p>
                      <a:r>
                        <a:rPr sz="2025" b="0">
                          <a:solidFill>
                            <a:srgbClr val="193C35"/>
                          </a:solidFill>
                          <a:latin typeface="Helvetica Neue"/>
                          <a:ea typeface="Helvetica Neue"/>
                          <a:cs typeface="Helvetica Neue"/>
                        </a:rPr>
                        <a:t>Recall</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025" b="0">
                          <a:solidFill>
                            <a:srgbClr val="193C35"/>
                          </a:solidFill>
                          <a:latin typeface="Helvetica Neue"/>
                          <a:ea typeface="Helvetica Neue"/>
                          <a:cs typeface="Helvetica Neue"/>
                        </a:rPr>
                        <a:t>Find the source-linked earlier decision</a:t>
                      </a:r>
                    </a:p>
                  </a:txBody>
                  <a:tcPr marL="91440" marR="91440" marT="45720" marB="45720">
                    <a:lnR w="9525">
                      <a:solidFill>
                        <a:srgbClr val="B7C4BA"/>
                      </a:solidFill>
                      <a:prstDash val="solid"/>
                    </a:lnR>
                    <a:lnB w="9525">
                      <a:solidFill>
                        <a:srgbClr val="B7C4BA"/>
                      </a:solidFill>
                      <a:prstDash val="solid"/>
                    </a:lnB>
                    <a:solidFill>
                      <a:srgbClr val="F4F5EF"/>
                    </a:solidFill>
                  </a:tcPr>
                </a:tc>
              </a:tr>
              <a:tr h="547688">
                <a:tc>
                  <a:txBody>
                    <a:bodyPr/>
                    <a:lstStyle/>
                    <a:p>
                      <a:r>
                        <a:rPr sz="2025" b="0">
                          <a:solidFill>
                            <a:srgbClr val="193C35"/>
                          </a:solidFill>
                          <a:latin typeface="Helvetica Neue"/>
                          <a:ea typeface="Helvetica Neue"/>
                          <a:cs typeface="Helvetica Neue"/>
                        </a:rPr>
                        <a:t>Verify</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025" b="0">
                          <a:solidFill>
                            <a:srgbClr val="193C35"/>
                          </a:solidFill>
                          <a:latin typeface="Helvetica Neue"/>
                          <a:ea typeface="Helvetica Neue"/>
                          <a:cs typeface="Helvetica Neue"/>
                        </a:rPr>
                        <a:t>Match receipt and customer ownership</a:t>
                      </a:r>
                    </a:p>
                  </a:txBody>
                  <a:tcPr marL="91440" marR="91440" marT="45720" marB="45720">
                    <a:lnR w="9525">
                      <a:solidFill>
                        <a:srgbClr val="B7C4BA"/>
                      </a:solidFill>
                      <a:prstDash val="solid"/>
                    </a:lnR>
                    <a:lnB w="9525">
                      <a:solidFill>
                        <a:srgbClr val="B7C4BA"/>
                      </a:solidFill>
                      <a:prstDash val="solid"/>
                    </a:lnB>
                    <a:solidFill>
                      <a:srgbClr val="F4F5EF"/>
                    </a:solidFill>
                  </a:tcPr>
                </a:tc>
              </a:tr>
              <a:tr h="547688">
                <a:tc>
                  <a:txBody>
                    <a:bodyPr/>
                    <a:lstStyle/>
                    <a:p>
                      <a:r>
                        <a:rPr sz="2025" b="0">
                          <a:solidFill>
                            <a:srgbClr val="193C35"/>
                          </a:solidFill>
                          <a:latin typeface="Helvetica Neue"/>
                          <a:ea typeface="Helvetica Neue"/>
                          <a:cs typeface="Helvetica Neue"/>
                        </a:rPr>
                        <a:t>Use</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025" b="0">
                          <a:solidFill>
                            <a:srgbClr val="193C35"/>
                          </a:solidFill>
                          <a:latin typeface="Helvetica Neue"/>
                          <a:ea typeface="Helvetica Neue"/>
                          <a:cs typeface="Helvetica Neue"/>
                        </a:rPr>
                        <a:t>Advisory context; policy controls eligibility</a:t>
                      </a:r>
                    </a:p>
                  </a:txBody>
                  <a:tcPr marL="91440" marR="91440" marT="45720" marB="45720">
                    <a:lnR w="9525">
                      <a:solidFill>
                        <a:srgbClr val="B7C4BA"/>
                      </a:solidFill>
                      <a:prstDash val="solid"/>
                    </a:lnR>
                    <a:lnB w="9525">
                      <a:solidFill>
                        <a:srgbClr val="B7C4BA"/>
                      </a:solidFill>
                      <a:prstDash val="solid"/>
                    </a:lnB>
                    <a:solidFill>
                      <a:srgbClr val="F4F5EF"/>
                    </a:solidFill>
                  </a:tcPr>
                </a:tc>
              </a:tr>
            </a:tbl>
          </a:graphicData>
        </a:graphic>
      </p:graphicFrame>
      <p:sp>
        <p:nvSpPr>
          <p:cNvPr id="9" name="">
            <a:extLst xmlns:a="http://schemas.openxmlformats.org/drawingml/2006/main">
              <a:ext uri="{FF2B5EF4-FFF2-40B4-BE49-F238E27FC236}">
                <a16:creationId xmlns:a16="http://schemas.microsoft.com/office/drawing/2014/main" id="{926C0213-2F2D-485E-8893-7E3723CA5AA7}"/>
              </a:ext>
            </a:extLst>
          </p:cNvPr>
          <p:cNvSpPr>
            <a:spLocks xmlns:a="http://schemas.openxmlformats.org/drawingml/2006/main" noGrp="1"/>
          </p:cNvSpPr>
          <p:nvPr/>
        </p:nvSpPr>
        <p:spPr>
          <a:xfrm xmlns:a="http://schemas.openxmlformats.org/drawingml/2006/main">
            <a:off x="609600" y="57626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93C35"/>
                </a:solidFill>
                <a:latin typeface="Helvetica Neue"/>
                <a:ea typeface="Helvetica Neue"/>
                <a:cs typeface="Helvetica Neue"/>
              </a:defRPr>
            </a:defPPr>
            <a:lvl1pPr>
              <a:defRPr sz="2100" b="1">
                <a:solidFill>
                  <a:srgbClr val="193C35"/>
                </a:solidFill>
                <a:latin typeface="Helvetica Neue"/>
                <a:ea typeface="Helvetica Neue"/>
                <a:cs typeface="Helvetica Neue"/>
              </a:defRPr>
            </a:lvl1pPr>
            <a:lvl2pPr>
              <a:defRPr sz="2100" b="1">
                <a:solidFill>
                  <a:srgbClr val="193C35"/>
                </a:solidFill>
                <a:latin typeface="Helvetica Neue"/>
                <a:ea typeface="Helvetica Neue"/>
                <a:cs typeface="Helvetica Neue"/>
              </a:defRPr>
            </a:lvl2pPr>
            <a:lvl3pPr>
              <a:defRPr sz="2100" b="1">
                <a:solidFill>
                  <a:srgbClr val="193C35"/>
                </a:solidFill>
                <a:latin typeface="Helvetica Neue"/>
                <a:ea typeface="Helvetica Neue"/>
                <a:cs typeface="Helvetica Neue"/>
              </a:defRPr>
            </a:lvl3pPr>
            <a:lvl4pPr>
              <a:defRPr sz="2100" b="1">
                <a:solidFill>
                  <a:srgbClr val="193C35"/>
                </a:solidFill>
                <a:latin typeface="Helvetica Neue"/>
                <a:ea typeface="Helvetica Neue"/>
                <a:cs typeface="Helvetica Neue"/>
              </a:defRPr>
            </a:lvl4pPr>
            <a:lvl5pPr>
              <a:defRPr sz="2100" b="1">
                <a:solidFill>
                  <a:srgbClr val="193C35"/>
                </a:solidFill>
                <a:latin typeface="Helvetica Neue"/>
                <a:ea typeface="Helvetica Neue"/>
                <a:cs typeface="Helvetica Neue"/>
              </a:defRPr>
            </a:lvl5pPr>
            <a:lvl6pPr>
              <a:defRPr sz="2100" b="1">
                <a:solidFill>
                  <a:srgbClr val="193C35"/>
                </a:solidFill>
                <a:latin typeface="Helvetica Neue"/>
                <a:ea typeface="Helvetica Neue"/>
                <a:cs typeface="Helvetica Neue"/>
              </a:defRPr>
            </a:lvl6pPr>
            <a:lvl7pPr>
              <a:defRPr sz="2100" b="1">
                <a:solidFill>
                  <a:srgbClr val="193C35"/>
                </a:solidFill>
                <a:latin typeface="Helvetica Neue"/>
                <a:ea typeface="Helvetica Neue"/>
                <a:cs typeface="Helvetica Neue"/>
              </a:defRPr>
            </a:lvl7pPr>
            <a:lvl8pPr>
              <a:defRPr sz="2100" b="1">
                <a:solidFill>
                  <a:srgbClr val="193C35"/>
                </a:solidFill>
                <a:latin typeface="Helvetica Neue"/>
                <a:ea typeface="Helvetica Neue"/>
                <a:cs typeface="Helvetica Neue"/>
              </a:defRPr>
            </a:lvl8pPr>
            <a:lvl9pPr>
              <a:defRPr sz="2100" b="1">
                <a:solidFill>
                  <a:srgbClr val="193C35"/>
                </a:solidFill>
                <a:latin typeface="Helvetica Neue"/>
                <a:ea typeface="Helvetica Neue"/>
                <a:cs typeface="Helvetica Neue"/>
              </a:defRPr>
            </a:lvl9pPr>
          </a:lstStyle>
          <a:p xmlns:a="http://schemas.openxmlformats.org/drawingml/2006/main">
            <a:pPr>
              <a:defRPr sz="2100" b="1">
                <a:solidFill>
                  <a:srgbClr val="193C35"/>
                </a:solidFill>
                <a:latin typeface="Helvetica Neue"/>
                <a:ea typeface="Helvetica Neue"/>
                <a:cs typeface="Helvetica Neue"/>
              </a:defRPr>
            </a:pPr>
            <a:r>
              <a:rPr sz="2100" b="1">
                <a:solidFill>
                  <a:srgbClr val="193C35"/>
                </a:solidFill>
                <a:latin typeface="Helvetica Neue"/>
                <a:ea typeface="Helvetica Neue"/>
                <a:cs typeface="Helvetica Neue"/>
              </a:rPr>
              <a:t>Memory storage retry does not repeat the financial action.</a:t>
            </a:r>
          </a:p>
        </p:txBody>
      </p:sp>
    </p:spTree>
    <p:extLst>
      <p:ext uri="{BB962C8B-B14F-4D97-AF65-F5344CB8AC3E}">
        <p14:creationId xmlns:p14="http://schemas.microsoft.com/office/powerpoint/2010/main" val="1386032169"/>
      </p:ext>
    </p:extLst>
  </p:cSld>
</p:sld>
</file>

<file path=ppt/slides/slide7.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5836CA-64A4-462A-9610-F7F53DD97337}"/>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C35"/>
                </a:solidFill>
                <a:latin typeface="Helvetica Neue"/>
                <a:ea typeface="Helvetica Neue"/>
                <a:cs typeface="Helvetica Neue"/>
              </a:defRPr>
            </a:defPPr>
            <a:lvl1pPr>
              <a:defRPr sz="3300" b="1">
                <a:solidFill>
                  <a:srgbClr val="193C35"/>
                </a:solidFill>
                <a:latin typeface="Helvetica Neue"/>
                <a:ea typeface="Helvetica Neue"/>
                <a:cs typeface="Helvetica Neue"/>
              </a:defRPr>
            </a:lvl1pPr>
            <a:lvl2pPr>
              <a:defRPr sz="3300" b="1">
                <a:solidFill>
                  <a:srgbClr val="193C35"/>
                </a:solidFill>
                <a:latin typeface="Helvetica Neue"/>
                <a:ea typeface="Helvetica Neue"/>
                <a:cs typeface="Helvetica Neue"/>
              </a:defRPr>
            </a:lvl2pPr>
            <a:lvl3pPr>
              <a:defRPr sz="3300" b="1">
                <a:solidFill>
                  <a:srgbClr val="193C35"/>
                </a:solidFill>
                <a:latin typeface="Helvetica Neue"/>
                <a:ea typeface="Helvetica Neue"/>
                <a:cs typeface="Helvetica Neue"/>
              </a:defRPr>
            </a:lvl3pPr>
            <a:lvl4pPr>
              <a:defRPr sz="3300" b="1">
                <a:solidFill>
                  <a:srgbClr val="193C35"/>
                </a:solidFill>
                <a:latin typeface="Helvetica Neue"/>
                <a:ea typeface="Helvetica Neue"/>
                <a:cs typeface="Helvetica Neue"/>
              </a:defRPr>
            </a:lvl4pPr>
            <a:lvl5pPr>
              <a:defRPr sz="3300" b="1">
                <a:solidFill>
                  <a:srgbClr val="193C35"/>
                </a:solidFill>
                <a:latin typeface="Helvetica Neue"/>
                <a:ea typeface="Helvetica Neue"/>
                <a:cs typeface="Helvetica Neue"/>
              </a:defRPr>
            </a:lvl5pPr>
            <a:lvl6pPr>
              <a:defRPr sz="3300" b="1">
                <a:solidFill>
                  <a:srgbClr val="193C35"/>
                </a:solidFill>
                <a:latin typeface="Helvetica Neue"/>
                <a:ea typeface="Helvetica Neue"/>
                <a:cs typeface="Helvetica Neue"/>
              </a:defRPr>
            </a:lvl6pPr>
            <a:lvl7pPr>
              <a:defRPr sz="3300" b="1">
                <a:solidFill>
                  <a:srgbClr val="193C35"/>
                </a:solidFill>
                <a:latin typeface="Helvetica Neue"/>
                <a:ea typeface="Helvetica Neue"/>
                <a:cs typeface="Helvetica Neue"/>
              </a:defRPr>
            </a:lvl7pPr>
            <a:lvl8pPr>
              <a:defRPr sz="3300" b="1">
                <a:solidFill>
                  <a:srgbClr val="193C35"/>
                </a:solidFill>
                <a:latin typeface="Helvetica Neue"/>
                <a:ea typeface="Helvetica Neue"/>
                <a:cs typeface="Helvetica Neue"/>
              </a:defRPr>
            </a:lvl8pPr>
            <a:lvl9pPr>
              <a:defRPr sz="3300" b="1">
                <a:solidFill>
                  <a:srgbClr val="193C35"/>
                </a:solidFill>
                <a:latin typeface="Helvetica Neue"/>
                <a:ea typeface="Helvetica Neue"/>
                <a:cs typeface="Helvetica Neue"/>
              </a:defRPr>
            </a:lvl9pPr>
          </a:lstStyle>
          <a:p xmlns:a="http://schemas.openxmlformats.org/drawingml/2006/main">
            <a:pPr>
              <a:defRPr sz="3300" b="1">
                <a:solidFill>
                  <a:srgbClr val="193C35"/>
                </a:solidFill>
                <a:latin typeface="Helvetica Neue"/>
                <a:ea typeface="Helvetica Neue"/>
                <a:cs typeface="Helvetica Neue"/>
              </a:defRPr>
            </a:pPr>
            <a:r>
              <a:rPr sz="3300" b="1">
                <a:solidFill>
                  <a:srgbClr val="193C35"/>
                </a:solidFill>
                <a:latin typeface="Helvetica Neue"/>
                <a:ea typeface="Helvetica Neue"/>
                <a:cs typeface="Helvetica Neue"/>
              </a:rPr>
              <a:t>Zetaris joins three independent sources</a:t>
            </a:r>
          </a:p>
        </p:txBody>
      </p:sp>
      <p:sp>
        <p:nvSpPr>
          <p:cNvPr id="2" name="">
            <a:extLst xmlns:a="http://schemas.openxmlformats.org/drawingml/2006/main">
              <a:ext uri="{FF2B5EF4-FFF2-40B4-BE49-F238E27FC236}">
                <a16:creationId xmlns:a16="http://schemas.microsoft.com/office/drawing/2014/main" id="{5BE4ED54-EB1F-49A8-BCFD-06A3288CDAAF}"/>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35B"/>
                </a:solidFill>
                <a:latin typeface="Helvetica Neue"/>
                <a:ea typeface="Helvetica Neue"/>
                <a:cs typeface="Helvetica Neue"/>
              </a:defRPr>
            </a:defPPr>
            <a:lvl1pPr>
              <a:defRPr sz="1500" b="0">
                <a:solidFill>
                  <a:srgbClr val="54635B"/>
                </a:solidFill>
                <a:latin typeface="Helvetica Neue"/>
                <a:ea typeface="Helvetica Neue"/>
                <a:cs typeface="Helvetica Neue"/>
              </a:defRPr>
            </a:lvl1pPr>
            <a:lvl2pPr>
              <a:defRPr sz="1500" b="0">
                <a:solidFill>
                  <a:srgbClr val="54635B"/>
                </a:solidFill>
                <a:latin typeface="Helvetica Neue"/>
                <a:ea typeface="Helvetica Neue"/>
                <a:cs typeface="Helvetica Neue"/>
              </a:defRPr>
            </a:lvl2pPr>
            <a:lvl3pPr>
              <a:defRPr sz="1500" b="0">
                <a:solidFill>
                  <a:srgbClr val="54635B"/>
                </a:solidFill>
                <a:latin typeface="Helvetica Neue"/>
                <a:ea typeface="Helvetica Neue"/>
                <a:cs typeface="Helvetica Neue"/>
              </a:defRPr>
            </a:lvl3pPr>
            <a:lvl4pPr>
              <a:defRPr sz="1500" b="0">
                <a:solidFill>
                  <a:srgbClr val="54635B"/>
                </a:solidFill>
                <a:latin typeface="Helvetica Neue"/>
                <a:ea typeface="Helvetica Neue"/>
                <a:cs typeface="Helvetica Neue"/>
              </a:defRPr>
            </a:lvl4pPr>
            <a:lvl5pPr>
              <a:defRPr sz="1500" b="0">
                <a:solidFill>
                  <a:srgbClr val="54635B"/>
                </a:solidFill>
                <a:latin typeface="Helvetica Neue"/>
                <a:ea typeface="Helvetica Neue"/>
                <a:cs typeface="Helvetica Neue"/>
              </a:defRPr>
            </a:lvl5pPr>
            <a:lvl6pPr>
              <a:defRPr sz="1500" b="0">
                <a:solidFill>
                  <a:srgbClr val="54635B"/>
                </a:solidFill>
                <a:latin typeface="Helvetica Neue"/>
                <a:ea typeface="Helvetica Neue"/>
                <a:cs typeface="Helvetica Neue"/>
              </a:defRPr>
            </a:lvl6pPr>
            <a:lvl7pPr>
              <a:defRPr sz="1500" b="0">
                <a:solidFill>
                  <a:srgbClr val="54635B"/>
                </a:solidFill>
                <a:latin typeface="Helvetica Neue"/>
                <a:ea typeface="Helvetica Neue"/>
                <a:cs typeface="Helvetica Neue"/>
              </a:defRPr>
            </a:lvl7pPr>
            <a:lvl8pPr>
              <a:defRPr sz="1500" b="0">
                <a:solidFill>
                  <a:srgbClr val="54635B"/>
                </a:solidFill>
                <a:latin typeface="Helvetica Neue"/>
                <a:ea typeface="Helvetica Neue"/>
                <a:cs typeface="Helvetica Neue"/>
              </a:defRPr>
            </a:lvl8pPr>
            <a:lvl9pPr>
              <a:defRPr sz="1500" b="0">
                <a:solidFill>
                  <a:srgbClr val="54635B"/>
                </a:solidFill>
                <a:latin typeface="Helvetica Neue"/>
                <a:ea typeface="Helvetica Neue"/>
                <a:cs typeface="Helvetica Neue"/>
              </a:defRPr>
            </a:lvl9pPr>
          </a:lstStyle>
          <a:p xmlns:a="http://schemas.openxmlformats.org/drawingml/2006/main">
            <a:pPr>
              <a:defRPr sz="1500" b="0">
                <a:solidFill>
                  <a:srgbClr val="54635B"/>
                </a:solidFill>
                <a:latin typeface="Helvetica Neue"/>
                <a:ea typeface="Helvetica Neue"/>
                <a:cs typeface="Helvetica Neue"/>
              </a:defRPr>
            </a:pPr>
            <a:r>
              <a:rPr sz="1500" b="0">
                <a:solidFill>
                  <a:srgbClr val="54635B"/>
                </a:solidFill>
                <a:latin typeface="Helvetica Neue"/>
                <a:ea typeface="Helvetica Neue"/>
                <a:cs typeface="Helvetica Neue"/>
              </a:rPr>
              <a:t>Recorded live Zetaris preview, 27 Oct 2026. Read-only enrichment</a:t>
            </a:r>
          </a:p>
        </p:txBody>
      </p:sp>
      <p:sp>
        <p:nvSpPr>
          <p:cNvPr id="3" name="">
            <a:extLst xmlns:a="http://schemas.openxmlformats.org/drawingml/2006/main">
              <a:ext uri="{FF2B5EF4-FFF2-40B4-BE49-F238E27FC236}">
                <a16:creationId xmlns:a16="http://schemas.microsoft.com/office/drawing/2014/main" id="{F0082100-004F-4435-8354-ECE91B24EDFD}"/>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4635B"/>
                </a:solidFill>
                <a:latin typeface="Helvetica Neue"/>
                <a:ea typeface="Helvetica Neue"/>
                <a:cs typeface="Helvetica Neue"/>
              </a:defRPr>
            </a:defPPr>
            <a:lvl1pPr>
              <a:defRPr sz="1425" b="0">
                <a:solidFill>
                  <a:srgbClr val="54635B"/>
                </a:solidFill>
                <a:latin typeface="Helvetica Neue"/>
                <a:ea typeface="Helvetica Neue"/>
                <a:cs typeface="Helvetica Neue"/>
              </a:defRPr>
            </a:lvl1pPr>
            <a:lvl2pPr>
              <a:defRPr sz="1425" b="0">
                <a:solidFill>
                  <a:srgbClr val="54635B"/>
                </a:solidFill>
                <a:latin typeface="Helvetica Neue"/>
                <a:ea typeface="Helvetica Neue"/>
                <a:cs typeface="Helvetica Neue"/>
              </a:defRPr>
            </a:lvl2pPr>
            <a:lvl3pPr>
              <a:defRPr sz="1425" b="0">
                <a:solidFill>
                  <a:srgbClr val="54635B"/>
                </a:solidFill>
                <a:latin typeface="Helvetica Neue"/>
                <a:ea typeface="Helvetica Neue"/>
                <a:cs typeface="Helvetica Neue"/>
              </a:defRPr>
            </a:lvl3pPr>
            <a:lvl4pPr>
              <a:defRPr sz="1425" b="0">
                <a:solidFill>
                  <a:srgbClr val="54635B"/>
                </a:solidFill>
                <a:latin typeface="Helvetica Neue"/>
                <a:ea typeface="Helvetica Neue"/>
                <a:cs typeface="Helvetica Neue"/>
              </a:defRPr>
            </a:lvl4pPr>
            <a:lvl5pPr>
              <a:defRPr sz="1425" b="0">
                <a:solidFill>
                  <a:srgbClr val="54635B"/>
                </a:solidFill>
                <a:latin typeface="Helvetica Neue"/>
                <a:ea typeface="Helvetica Neue"/>
                <a:cs typeface="Helvetica Neue"/>
              </a:defRPr>
            </a:lvl5pPr>
            <a:lvl6pPr>
              <a:defRPr sz="1425" b="0">
                <a:solidFill>
                  <a:srgbClr val="54635B"/>
                </a:solidFill>
                <a:latin typeface="Helvetica Neue"/>
                <a:ea typeface="Helvetica Neue"/>
                <a:cs typeface="Helvetica Neue"/>
              </a:defRPr>
            </a:lvl6pPr>
            <a:lvl7pPr>
              <a:defRPr sz="1425" b="0">
                <a:solidFill>
                  <a:srgbClr val="54635B"/>
                </a:solidFill>
                <a:latin typeface="Helvetica Neue"/>
                <a:ea typeface="Helvetica Neue"/>
                <a:cs typeface="Helvetica Neue"/>
              </a:defRPr>
            </a:lvl7pPr>
            <a:lvl8pPr>
              <a:defRPr sz="1425" b="0">
                <a:solidFill>
                  <a:srgbClr val="54635B"/>
                </a:solidFill>
                <a:latin typeface="Helvetica Neue"/>
                <a:ea typeface="Helvetica Neue"/>
                <a:cs typeface="Helvetica Neue"/>
              </a:defRPr>
            </a:lvl8pPr>
            <a:lvl9pPr>
              <a:defRPr sz="1425" b="0">
                <a:solidFill>
                  <a:srgbClr val="54635B"/>
                </a:solidFill>
                <a:latin typeface="Helvetica Neue"/>
                <a:ea typeface="Helvetica Neue"/>
                <a:cs typeface="Helvetica Neue"/>
              </a:defRPr>
            </a:lvl9pPr>
          </a:lstStyle>
          <a:p xmlns:a="http://schemas.openxmlformats.org/drawingml/2006/main">
            <a:pPr>
              <a:defRPr sz="1425" b="0">
                <a:solidFill>
                  <a:srgbClr val="54635B"/>
                </a:solidFill>
                <a:latin typeface="Helvetica Neue"/>
                <a:ea typeface="Helvetica Neue"/>
                <a:cs typeface="Helvetica Neue"/>
              </a:defRPr>
            </a:pPr>
            <a:r>
              <a:rPr sz="1425" b="0">
                <a:solidFill>
                  <a:srgbClr val="54635B"/>
                </a:solidFill>
                <a:latin typeface="Helvetica Neue"/>
                <a:ea typeface="Helvetica Neue"/>
                <a:cs typeface="Helvetica Neue"/>
              </a:rPr>
              <a:t>07</a:t>
            </a:r>
          </a:p>
        </p:txBody>
      </p:sp>
      <p:graphicFrame>
        <p:nvGraphicFramePr>
          <p:cNvPr id="4" name="">
            <a:extLst xmlns:a="http://schemas.openxmlformats.org/drawingml/2006/main">
              <a:ext uri="{FF2B5EF4-FFF2-40B4-BE49-F238E27FC236}">
                <a16:creationId xmlns:a16="http://schemas.microsoft.com/office/drawing/2014/main" id="{12123CCD-D695-48BA-A70C-60EC0586E576}"/>
              </a:ext>
            </a:extLst>
          </p:cNvPr>
          <p:cNvGraphicFramePr/>
          <p:nvPr/>
        </p:nvGraphicFramePr>
        <p:xfrm>
          <a:off xmlns:a="http://schemas.openxmlformats.org/drawingml/2006/main" x="609600" y="1619250"/>
          <a:ext xmlns:a="http://schemas.openxmlformats.org/drawingml/2006/main" cx="5286375" cy="2571750"/>
        </p:xfrm>
        <a:graphic xmlns:a="http://schemas.openxmlformats.org/drawingml/2006/main">
          <a:graphicData uri="http://schemas.openxmlformats.org/drawingml/2006/table">
            <a:tbl>
              <a:tblPr/>
              <a:tblGrid>
                <a:gridCol w="3048000"/>
                <a:gridCol w="2238375"/>
              </a:tblGrid>
              <a:tr h="642938">
                <a:tc>
                  <a:txBody>
                    <a:bodyPr/>
                    <a:lstStyle/>
                    <a:p>
                      <a:r>
                        <a:rPr sz="2025" b="1">
                          <a:solidFill>
                            <a:srgbClr val="FFFFFF"/>
                          </a:solidFill>
                          <a:latin typeface="Helvetica Neue"/>
                          <a:ea typeface="Helvetica Neue"/>
                          <a:cs typeface="Helvetica Neue"/>
                        </a:rPr>
                        <a:t>Connector</a:t>
                      </a:r>
                    </a:p>
                  </a:txBody>
                  <a:tcPr marL="91440" marR="91440" marT="45720" marB="45720">
                    <a:lnL w="9525">
                      <a:solidFill>
                        <a:srgbClr val="B7C4BA"/>
                      </a:solidFill>
                      <a:prstDash val="solid"/>
                    </a:lnL>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c>
                  <a:txBody>
                    <a:bodyPr/>
                    <a:lstStyle/>
                    <a:p>
                      <a:r>
                        <a:rPr sz="2025" b="1">
                          <a:solidFill>
                            <a:srgbClr val="FFFFFF"/>
                          </a:solidFill>
                          <a:latin typeface="Helvetica Neue"/>
                          <a:ea typeface="Helvetica Neue"/>
                          <a:cs typeface="Helvetica Neue"/>
                        </a:rPr>
                        <a:t>Records</a:t>
                      </a:r>
                    </a:p>
                  </a:txBody>
                  <a:tcPr marL="91440" marR="91440" marT="45720" marB="45720">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r>
              <a:tr h="642938">
                <a:tc>
                  <a:txBody>
                    <a:bodyPr/>
                    <a:lstStyle/>
                    <a:p>
                      <a:r>
                        <a:rPr sz="2025" b="0">
                          <a:solidFill>
                            <a:srgbClr val="193C35"/>
                          </a:solidFill>
                          <a:latin typeface="Helvetica Neue"/>
                          <a:ea typeface="Helvetica Neue"/>
                          <a:cs typeface="Helvetica Neue"/>
                        </a:rPr>
                        <a:t>PostgreSQL</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025" b="0">
                          <a:solidFill>
                            <a:srgbClr val="193C35"/>
                          </a:solidFill>
                          <a:latin typeface="Helvetica Neue"/>
                          <a:ea typeface="Helvetica Neue"/>
                          <a:cs typeface="Helvetica Neue"/>
                        </a:rPr>
                        <a:t>40 cases</a:t>
                      </a:r>
                    </a:p>
                  </a:txBody>
                  <a:tcPr marL="91440" marR="91440" marT="45720" marB="45720">
                    <a:lnR w="9525">
                      <a:solidFill>
                        <a:srgbClr val="B7C4BA"/>
                      </a:solidFill>
                      <a:prstDash val="solid"/>
                    </a:lnR>
                    <a:lnB w="9525">
                      <a:solidFill>
                        <a:srgbClr val="B7C4BA"/>
                      </a:solidFill>
                      <a:prstDash val="solid"/>
                    </a:lnB>
                    <a:solidFill>
                      <a:srgbClr val="F4F5EF"/>
                    </a:solidFill>
                  </a:tcPr>
                </a:tc>
              </a:tr>
              <a:tr h="642938">
                <a:tc>
                  <a:txBody>
                    <a:bodyPr/>
                    <a:lstStyle/>
                    <a:p>
                      <a:r>
                        <a:rPr sz="2025" b="0">
                          <a:solidFill>
                            <a:srgbClr val="193C35"/>
                          </a:solidFill>
                          <a:latin typeface="Helvetica Neue"/>
                          <a:ea typeface="Helvetica Neue"/>
                          <a:cs typeface="Helvetica Neue"/>
                        </a:rPr>
                        <a:t>CSV FileStore</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025" b="0">
                          <a:solidFill>
                            <a:srgbClr val="193C35"/>
                          </a:solidFill>
                          <a:latin typeface="Helvetica Neue"/>
                          <a:ea typeface="Helvetica Neue"/>
                          <a:cs typeface="Helvetica Neue"/>
                        </a:rPr>
                        <a:t>4 merchant</a:t>
                      </a:r>
                    </a:p>
                  </a:txBody>
                  <a:tcPr marL="91440" marR="91440" marT="45720" marB="45720">
                    <a:lnR w="9525">
                      <a:solidFill>
                        <a:srgbClr val="B7C4BA"/>
                      </a:solidFill>
                      <a:prstDash val="solid"/>
                    </a:lnR>
                    <a:lnB w="9525">
                      <a:solidFill>
                        <a:srgbClr val="B7C4BA"/>
                      </a:solidFill>
                      <a:prstDash val="solid"/>
                    </a:lnB>
                    <a:solidFill>
                      <a:srgbClr val="F4F5EF"/>
                    </a:solidFill>
                  </a:tcPr>
                </a:tc>
              </a:tr>
              <a:tr h="642938">
                <a:tc>
                  <a:txBody>
                    <a:bodyPr/>
                    <a:lstStyle/>
                    <a:p>
                      <a:r>
                        <a:rPr sz="2025" b="0">
                          <a:solidFill>
                            <a:srgbClr val="193C35"/>
                          </a:solidFill>
                          <a:latin typeface="Helvetica Neue"/>
                          <a:ea typeface="Helvetica Neue"/>
                          <a:cs typeface="Helvetica Neue"/>
                        </a:rPr>
                        <a:t>REST JSON</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2025" b="0">
                          <a:solidFill>
                            <a:srgbClr val="193C35"/>
                          </a:solidFill>
                          <a:latin typeface="Helvetica Neue"/>
                          <a:ea typeface="Helvetica Neue"/>
                          <a:cs typeface="Helvetica Neue"/>
                        </a:rPr>
                        <a:t>3 history</a:t>
                      </a:r>
                    </a:p>
                  </a:txBody>
                  <a:tcPr marL="91440" marR="91440" marT="45720" marB="45720">
                    <a:lnR w="9525">
                      <a:solidFill>
                        <a:srgbClr val="B7C4BA"/>
                      </a:solidFill>
                      <a:prstDash val="solid"/>
                    </a:lnR>
                    <a:lnB w="9525">
                      <a:solidFill>
                        <a:srgbClr val="B7C4BA"/>
                      </a:solidFill>
                      <a:prstDash val="solid"/>
                    </a:lnB>
                    <a:solidFill>
                      <a:srgbClr val="F4F5EF"/>
                    </a:solidFill>
                  </a:tcPr>
                </a:tc>
              </a:tr>
            </a:tbl>
          </a:graphicData>
        </a:graphic>
      </p:graphicFrame>
      <p:sp>
        <p:nvSpPr>
          <p:cNvPr id="5" name="">
            <a:extLst xmlns:a="http://schemas.openxmlformats.org/drawingml/2006/main">
              <a:ext uri="{FF2B5EF4-FFF2-40B4-BE49-F238E27FC236}">
                <a16:creationId xmlns:a16="http://schemas.microsoft.com/office/drawing/2014/main" id="{71E25A69-E698-455F-A8AC-0415B4D800F4}"/>
              </a:ext>
            </a:extLst>
          </p:cNvPr>
          <p:cNvSpPr>
            <a:spLocks xmlns:a="http://schemas.openxmlformats.org/drawingml/2006/main" noGrp="1"/>
          </p:cNvSpPr>
          <p:nvPr/>
        </p:nvSpPr>
        <p:spPr>
          <a:xfrm xmlns:a="http://schemas.openxmlformats.org/drawingml/2006/main">
            <a:off x="609600" y="4572000"/>
            <a:ext cx="528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93C35"/>
                </a:solidFill>
                <a:latin typeface="Helvetica Neue"/>
                <a:ea typeface="Helvetica Neue"/>
                <a:cs typeface="Helvetica Neue"/>
              </a:defRPr>
            </a:defPPr>
            <a:lvl1pPr>
              <a:defRPr sz="2400" b="1">
                <a:solidFill>
                  <a:srgbClr val="193C35"/>
                </a:solidFill>
                <a:latin typeface="Helvetica Neue"/>
                <a:ea typeface="Helvetica Neue"/>
                <a:cs typeface="Helvetica Neue"/>
              </a:defRPr>
            </a:lvl1pPr>
            <a:lvl2pPr>
              <a:defRPr sz="2400" b="1">
                <a:solidFill>
                  <a:srgbClr val="193C35"/>
                </a:solidFill>
                <a:latin typeface="Helvetica Neue"/>
                <a:ea typeface="Helvetica Neue"/>
                <a:cs typeface="Helvetica Neue"/>
              </a:defRPr>
            </a:lvl2pPr>
            <a:lvl3pPr>
              <a:defRPr sz="2400" b="1">
                <a:solidFill>
                  <a:srgbClr val="193C35"/>
                </a:solidFill>
                <a:latin typeface="Helvetica Neue"/>
                <a:ea typeface="Helvetica Neue"/>
                <a:cs typeface="Helvetica Neue"/>
              </a:defRPr>
            </a:lvl3pPr>
            <a:lvl4pPr>
              <a:defRPr sz="2400" b="1">
                <a:solidFill>
                  <a:srgbClr val="193C35"/>
                </a:solidFill>
                <a:latin typeface="Helvetica Neue"/>
                <a:ea typeface="Helvetica Neue"/>
                <a:cs typeface="Helvetica Neue"/>
              </a:defRPr>
            </a:lvl4pPr>
            <a:lvl5pPr>
              <a:defRPr sz="2400" b="1">
                <a:solidFill>
                  <a:srgbClr val="193C35"/>
                </a:solidFill>
                <a:latin typeface="Helvetica Neue"/>
                <a:ea typeface="Helvetica Neue"/>
                <a:cs typeface="Helvetica Neue"/>
              </a:defRPr>
            </a:lvl5pPr>
            <a:lvl6pPr>
              <a:defRPr sz="2400" b="1">
                <a:solidFill>
                  <a:srgbClr val="193C35"/>
                </a:solidFill>
                <a:latin typeface="Helvetica Neue"/>
                <a:ea typeface="Helvetica Neue"/>
                <a:cs typeface="Helvetica Neue"/>
              </a:defRPr>
            </a:lvl6pPr>
            <a:lvl7pPr>
              <a:defRPr sz="2400" b="1">
                <a:solidFill>
                  <a:srgbClr val="193C35"/>
                </a:solidFill>
                <a:latin typeface="Helvetica Neue"/>
                <a:ea typeface="Helvetica Neue"/>
                <a:cs typeface="Helvetica Neue"/>
              </a:defRPr>
            </a:lvl7pPr>
            <a:lvl8pPr>
              <a:defRPr sz="2400" b="1">
                <a:solidFill>
                  <a:srgbClr val="193C35"/>
                </a:solidFill>
                <a:latin typeface="Helvetica Neue"/>
                <a:ea typeface="Helvetica Neue"/>
                <a:cs typeface="Helvetica Neue"/>
              </a:defRPr>
            </a:lvl8pPr>
            <a:lvl9pPr>
              <a:defRPr sz="2400" b="1">
                <a:solidFill>
                  <a:srgbClr val="193C35"/>
                </a:solidFill>
                <a:latin typeface="Helvetica Neue"/>
                <a:ea typeface="Helvetica Neue"/>
                <a:cs typeface="Helvetica Neue"/>
              </a:defRPr>
            </a:lvl9pPr>
          </a:lstStyle>
          <a:p xmlns:a="http://schemas.openxmlformats.org/drawingml/2006/main">
            <a:pPr>
              <a:defRPr sz="2400" b="1">
                <a:solidFill>
                  <a:srgbClr val="193C35"/>
                </a:solidFill>
                <a:latin typeface="Helvetica Neue"/>
                <a:ea typeface="Helvetica Neue"/>
                <a:cs typeface="Helvetica Neue"/>
              </a:defRPr>
            </a:pPr>
            <a:r>
              <a:rPr sz="2400" b="1">
                <a:solidFill>
                  <a:srgbClr val="193C35"/>
                </a:solidFill>
                <a:latin typeface="Helvetica Neue"/>
                <a:ea typeface="Helvetica Neue"/>
                <a:cs typeface="Helvetica Neue"/>
              </a:rPr>
              <a:t>DP-0020 join</a:t>
            </a:r>
          </a:p>
          <a:p xmlns:a="http://schemas.openxmlformats.org/drawingml/2006/main">
            <a:pPr>
              <a:defRPr sz="2400" b="1">
                <a:solidFill>
                  <a:srgbClr val="193C35"/>
                </a:solidFill>
                <a:latin typeface="Helvetica Neue"/>
                <a:ea typeface="Helvetica Neue"/>
                <a:cs typeface="Helvetica Neue"/>
              </a:defRPr>
            </a:pPr>
            <a:r>
              <a:rPr sz="2400" b="1">
                <a:solidFill>
                  <a:srgbClr val="193C35"/>
                </a:solidFill>
                <a:latin typeface="Helvetica Neue"/>
                <a:ea typeface="Helvetica Neue"/>
                <a:cs typeface="Helvetica Neue"/>
              </a:rPr>
              <a:t>2 merchant + 2 history records</a:t>
            </a:r>
          </a:p>
        </p:txBody>
      </p:sp>
      <p:pic>
        <p:nvPicPr>
          <p:cNvPr id="6" name="">
            <a:extLst xmlns:a="http://schemas.openxmlformats.org/drawingml/2006/main">
              <a:ext uri="{FF2B5EF4-FFF2-40B4-BE49-F238E27FC236}">
                <a16:creationId xmlns:a16="http://schemas.microsoft.com/office/drawing/2014/main" id="{6404767F-F018-48A5-8F8D-DDA6A7189E98}"/>
              </a:ext>
            </a:extLst>
          </p:cNvPr>
          <p:cNvPicPr>
            <a:picLocks xmlns:a="http://schemas.openxmlformats.org/drawingml/2006/main" noChangeAspect="1"/>
          </p:cNvPicPr>
          <p:nvPr/>
        </p:nvPicPr>
        <p:blipFill>
          <a:blip xmlns:r="http://schemas.openxmlformats.org/officeDocument/2006/relationships" xmlns:a="http://schemas.openxmlformats.org/drawingml/2006/main" r:embed="R503f1d5bbe7043b0"/>
          <a:srcRect xmlns:a="http://schemas.openxmlformats.org/drawingml/2006/main" l="2500" t="6500" r="2500" b="25000"/>
          <a:stretch xmlns:a="http://schemas.openxmlformats.org/drawingml/2006/main"/>
        </p:blipFill>
        <p:spPr>
          <a:xfrm xmlns:a="http://schemas.openxmlformats.org/drawingml/2006/main">
            <a:off x="6286500" y="1571625"/>
            <a:ext cx="5286375" cy="3638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85E9DA5-2137-4661-B9C7-A94D429D2857}"/>
              </a:ext>
            </a:extLst>
          </p:cNvPr>
          <p:cNvSpPr>
            <a:spLocks xmlns:a="http://schemas.openxmlformats.org/drawingml/2006/main" noGrp="1"/>
          </p:cNvSpPr>
          <p:nvPr/>
        </p:nvSpPr>
        <p:spPr>
          <a:xfrm xmlns:a="http://schemas.openxmlformats.org/drawingml/2006/main">
            <a:off x="6286500" y="5476875"/>
            <a:ext cx="5286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93C35"/>
                </a:solidFill>
                <a:latin typeface="Helvetica Neue"/>
                <a:ea typeface="Helvetica Neue"/>
                <a:cs typeface="Helvetica Neue"/>
              </a:defRPr>
            </a:defPPr>
            <a:lvl1pPr>
              <a:defRPr sz="1875" b="1">
                <a:solidFill>
                  <a:srgbClr val="193C35"/>
                </a:solidFill>
                <a:latin typeface="Helvetica Neue"/>
                <a:ea typeface="Helvetica Neue"/>
                <a:cs typeface="Helvetica Neue"/>
              </a:defRPr>
            </a:lvl1pPr>
            <a:lvl2pPr>
              <a:defRPr sz="1875" b="1">
                <a:solidFill>
                  <a:srgbClr val="193C35"/>
                </a:solidFill>
                <a:latin typeface="Helvetica Neue"/>
                <a:ea typeface="Helvetica Neue"/>
                <a:cs typeface="Helvetica Neue"/>
              </a:defRPr>
            </a:lvl2pPr>
            <a:lvl3pPr>
              <a:defRPr sz="1875" b="1">
                <a:solidFill>
                  <a:srgbClr val="193C35"/>
                </a:solidFill>
                <a:latin typeface="Helvetica Neue"/>
                <a:ea typeface="Helvetica Neue"/>
                <a:cs typeface="Helvetica Neue"/>
              </a:defRPr>
            </a:lvl3pPr>
            <a:lvl4pPr>
              <a:defRPr sz="1875" b="1">
                <a:solidFill>
                  <a:srgbClr val="193C35"/>
                </a:solidFill>
                <a:latin typeface="Helvetica Neue"/>
                <a:ea typeface="Helvetica Neue"/>
                <a:cs typeface="Helvetica Neue"/>
              </a:defRPr>
            </a:lvl4pPr>
            <a:lvl5pPr>
              <a:defRPr sz="1875" b="1">
                <a:solidFill>
                  <a:srgbClr val="193C35"/>
                </a:solidFill>
                <a:latin typeface="Helvetica Neue"/>
                <a:ea typeface="Helvetica Neue"/>
                <a:cs typeface="Helvetica Neue"/>
              </a:defRPr>
            </a:lvl5pPr>
            <a:lvl6pPr>
              <a:defRPr sz="1875" b="1">
                <a:solidFill>
                  <a:srgbClr val="193C35"/>
                </a:solidFill>
                <a:latin typeface="Helvetica Neue"/>
                <a:ea typeface="Helvetica Neue"/>
                <a:cs typeface="Helvetica Neue"/>
              </a:defRPr>
            </a:lvl6pPr>
            <a:lvl7pPr>
              <a:defRPr sz="1875" b="1">
                <a:solidFill>
                  <a:srgbClr val="193C35"/>
                </a:solidFill>
                <a:latin typeface="Helvetica Neue"/>
                <a:ea typeface="Helvetica Neue"/>
                <a:cs typeface="Helvetica Neue"/>
              </a:defRPr>
            </a:lvl7pPr>
            <a:lvl8pPr>
              <a:defRPr sz="1875" b="1">
                <a:solidFill>
                  <a:srgbClr val="193C35"/>
                </a:solidFill>
                <a:latin typeface="Helvetica Neue"/>
                <a:ea typeface="Helvetica Neue"/>
                <a:cs typeface="Helvetica Neue"/>
              </a:defRPr>
            </a:lvl8pPr>
            <a:lvl9pPr>
              <a:defRPr sz="1875" b="1">
                <a:solidFill>
                  <a:srgbClr val="193C35"/>
                </a:solidFill>
                <a:latin typeface="Helvetica Neue"/>
                <a:ea typeface="Helvetica Neue"/>
                <a:cs typeface="Helvetica Neue"/>
              </a:defRPr>
            </a:lvl9pPr>
          </a:lstStyle>
          <a:p xmlns:a="http://schemas.openxmlformats.org/drawingml/2006/main">
            <a:pPr>
              <a:defRPr sz="1875" b="1">
                <a:solidFill>
                  <a:srgbClr val="193C35"/>
                </a:solidFill>
                <a:latin typeface="Helvetica Neue"/>
                <a:ea typeface="Helvetica Neue"/>
                <a:cs typeface="Helvetica Neue"/>
              </a:defRPr>
            </a:pPr>
            <a:r>
              <a:rPr sz="1875" b="1">
                <a:solidFill>
                  <a:srgbClr val="193C35"/>
                </a:solidFill>
                <a:latin typeface="Helvetica Neue"/>
                <a:ea typeface="Helvetica Neue"/>
                <a:cs typeface="Helvetica Neue"/>
              </a:rPr>
              <a:t>No action authority. Freshness and</a:t>
            </a:r>
          </a:p>
          <a:p xmlns:a="http://schemas.openxmlformats.org/drawingml/2006/main">
            <a:pPr>
              <a:defRPr sz="1875" b="1">
                <a:solidFill>
                  <a:srgbClr val="193C35"/>
                </a:solidFill>
                <a:latin typeface="Helvetica Neue"/>
                <a:ea typeface="Helvetica Neue"/>
                <a:cs typeface="Helvetica Neue"/>
              </a:defRPr>
            </a:pPr>
            <a:r>
              <a:rPr sz="1875" b="1">
                <a:solidFill>
                  <a:srgbClr val="193C35"/>
                </a:solidFill>
                <a:latin typeface="Helvetica Neue"/>
                <a:ea typeface="Helvetica Neue"/>
                <a:cs typeface="Helvetica Neue"/>
              </a:rPr>
              <a:t>cross-source snapshot unverified.</a:t>
            </a:r>
          </a:p>
        </p:txBody>
      </p:sp>
    </p:spTree>
    <p:extLst>
      <p:ext uri="{BB962C8B-B14F-4D97-AF65-F5344CB8AC3E}">
        <p14:creationId xmlns:p14="http://schemas.microsoft.com/office/powerpoint/2010/main" val="1242560494"/>
      </p:ext>
    </p:extLst>
  </p:cSld>
</p:sld>
</file>

<file path=ppt/slides/slide8.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54391F-F602-40DE-9D4B-8C98450E0768}"/>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C35"/>
                </a:solidFill>
                <a:latin typeface="Helvetica Neue"/>
                <a:ea typeface="Helvetica Neue"/>
                <a:cs typeface="Helvetica Neue"/>
              </a:defRPr>
            </a:defPPr>
            <a:lvl1pPr>
              <a:defRPr sz="3300" b="1">
                <a:solidFill>
                  <a:srgbClr val="193C35"/>
                </a:solidFill>
                <a:latin typeface="Helvetica Neue"/>
                <a:ea typeface="Helvetica Neue"/>
                <a:cs typeface="Helvetica Neue"/>
              </a:defRPr>
            </a:lvl1pPr>
            <a:lvl2pPr>
              <a:defRPr sz="3300" b="1">
                <a:solidFill>
                  <a:srgbClr val="193C35"/>
                </a:solidFill>
                <a:latin typeface="Helvetica Neue"/>
                <a:ea typeface="Helvetica Neue"/>
                <a:cs typeface="Helvetica Neue"/>
              </a:defRPr>
            </a:lvl2pPr>
            <a:lvl3pPr>
              <a:defRPr sz="3300" b="1">
                <a:solidFill>
                  <a:srgbClr val="193C35"/>
                </a:solidFill>
                <a:latin typeface="Helvetica Neue"/>
                <a:ea typeface="Helvetica Neue"/>
                <a:cs typeface="Helvetica Neue"/>
              </a:defRPr>
            </a:lvl3pPr>
            <a:lvl4pPr>
              <a:defRPr sz="3300" b="1">
                <a:solidFill>
                  <a:srgbClr val="193C35"/>
                </a:solidFill>
                <a:latin typeface="Helvetica Neue"/>
                <a:ea typeface="Helvetica Neue"/>
                <a:cs typeface="Helvetica Neue"/>
              </a:defRPr>
            </a:lvl4pPr>
            <a:lvl5pPr>
              <a:defRPr sz="3300" b="1">
                <a:solidFill>
                  <a:srgbClr val="193C35"/>
                </a:solidFill>
                <a:latin typeface="Helvetica Neue"/>
                <a:ea typeface="Helvetica Neue"/>
                <a:cs typeface="Helvetica Neue"/>
              </a:defRPr>
            </a:lvl5pPr>
            <a:lvl6pPr>
              <a:defRPr sz="3300" b="1">
                <a:solidFill>
                  <a:srgbClr val="193C35"/>
                </a:solidFill>
                <a:latin typeface="Helvetica Neue"/>
                <a:ea typeface="Helvetica Neue"/>
                <a:cs typeface="Helvetica Neue"/>
              </a:defRPr>
            </a:lvl6pPr>
            <a:lvl7pPr>
              <a:defRPr sz="3300" b="1">
                <a:solidFill>
                  <a:srgbClr val="193C35"/>
                </a:solidFill>
                <a:latin typeface="Helvetica Neue"/>
                <a:ea typeface="Helvetica Neue"/>
                <a:cs typeface="Helvetica Neue"/>
              </a:defRPr>
            </a:lvl7pPr>
            <a:lvl8pPr>
              <a:defRPr sz="3300" b="1">
                <a:solidFill>
                  <a:srgbClr val="193C35"/>
                </a:solidFill>
                <a:latin typeface="Helvetica Neue"/>
                <a:ea typeface="Helvetica Neue"/>
                <a:cs typeface="Helvetica Neue"/>
              </a:defRPr>
            </a:lvl8pPr>
            <a:lvl9pPr>
              <a:defRPr sz="3300" b="1">
                <a:solidFill>
                  <a:srgbClr val="193C35"/>
                </a:solidFill>
                <a:latin typeface="Helvetica Neue"/>
                <a:ea typeface="Helvetica Neue"/>
                <a:cs typeface="Helvetica Neue"/>
              </a:defRPr>
            </a:lvl9pPr>
          </a:lstStyle>
          <a:p xmlns:a="http://schemas.openxmlformats.org/drawingml/2006/main">
            <a:pPr>
              <a:defRPr sz="3300" b="1">
                <a:solidFill>
                  <a:srgbClr val="193C35"/>
                </a:solidFill>
                <a:latin typeface="Helvetica Neue"/>
                <a:ea typeface="Helvetica Neue"/>
                <a:cs typeface="Helvetica Neue"/>
              </a:defRPr>
            </a:pPr>
            <a:r>
              <a:rPr sz="3300" b="1">
                <a:solidFill>
                  <a:srgbClr val="193C35"/>
                </a:solidFill>
                <a:latin typeface="Helvetica Neue"/>
                <a:ea typeface="Helvetica Neue"/>
                <a:cs typeface="Helvetica Neue"/>
              </a:rPr>
              <a:t>A quality check catches a broken reference</a:t>
            </a:r>
          </a:p>
        </p:txBody>
      </p:sp>
      <p:sp>
        <p:nvSpPr>
          <p:cNvPr id="2" name="">
            <a:extLst xmlns:a="http://schemas.openxmlformats.org/drawingml/2006/main">
              <a:ext uri="{FF2B5EF4-FFF2-40B4-BE49-F238E27FC236}">
                <a16:creationId xmlns:a16="http://schemas.microsoft.com/office/drawing/2014/main" id="{BCDDFC78-075A-4668-ABBB-A028BEE8AAC6}"/>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35B"/>
                </a:solidFill>
                <a:latin typeface="Helvetica Neue"/>
                <a:ea typeface="Helvetica Neue"/>
                <a:cs typeface="Helvetica Neue"/>
              </a:defRPr>
            </a:defPPr>
            <a:lvl1pPr>
              <a:defRPr sz="1500" b="0">
                <a:solidFill>
                  <a:srgbClr val="54635B"/>
                </a:solidFill>
                <a:latin typeface="Helvetica Neue"/>
                <a:ea typeface="Helvetica Neue"/>
                <a:cs typeface="Helvetica Neue"/>
              </a:defRPr>
            </a:lvl1pPr>
            <a:lvl2pPr>
              <a:defRPr sz="1500" b="0">
                <a:solidFill>
                  <a:srgbClr val="54635B"/>
                </a:solidFill>
                <a:latin typeface="Helvetica Neue"/>
                <a:ea typeface="Helvetica Neue"/>
                <a:cs typeface="Helvetica Neue"/>
              </a:defRPr>
            </a:lvl2pPr>
            <a:lvl3pPr>
              <a:defRPr sz="1500" b="0">
                <a:solidFill>
                  <a:srgbClr val="54635B"/>
                </a:solidFill>
                <a:latin typeface="Helvetica Neue"/>
                <a:ea typeface="Helvetica Neue"/>
                <a:cs typeface="Helvetica Neue"/>
              </a:defRPr>
            </a:lvl3pPr>
            <a:lvl4pPr>
              <a:defRPr sz="1500" b="0">
                <a:solidFill>
                  <a:srgbClr val="54635B"/>
                </a:solidFill>
                <a:latin typeface="Helvetica Neue"/>
                <a:ea typeface="Helvetica Neue"/>
                <a:cs typeface="Helvetica Neue"/>
              </a:defRPr>
            </a:lvl4pPr>
            <a:lvl5pPr>
              <a:defRPr sz="1500" b="0">
                <a:solidFill>
                  <a:srgbClr val="54635B"/>
                </a:solidFill>
                <a:latin typeface="Helvetica Neue"/>
                <a:ea typeface="Helvetica Neue"/>
                <a:cs typeface="Helvetica Neue"/>
              </a:defRPr>
            </a:lvl5pPr>
            <a:lvl6pPr>
              <a:defRPr sz="1500" b="0">
                <a:solidFill>
                  <a:srgbClr val="54635B"/>
                </a:solidFill>
                <a:latin typeface="Helvetica Neue"/>
                <a:ea typeface="Helvetica Neue"/>
                <a:cs typeface="Helvetica Neue"/>
              </a:defRPr>
            </a:lvl6pPr>
            <a:lvl7pPr>
              <a:defRPr sz="1500" b="0">
                <a:solidFill>
                  <a:srgbClr val="54635B"/>
                </a:solidFill>
                <a:latin typeface="Helvetica Neue"/>
                <a:ea typeface="Helvetica Neue"/>
                <a:cs typeface="Helvetica Neue"/>
              </a:defRPr>
            </a:lvl7pPr>
            <a:lvl8pPr>
              <a:defRPr sz="1500" b="0">
                <a:solidFill>
                  <a:srgbClr val="54635B"/>
                </a:solidFill>
                <a:latin typeface="Helvetica Neue"/>
                <a:ea typeface="Helvetica Neue"/>
                <a:cs typeface="Helvetica Neue"/>
              </a:defRPr>
            </a:lvl8pPr>
            <a:lvl9pPr>
              <a:defRPr sz="1500" b="0">
                <a:solidFill>
                  <a:srgbClr val="54635B"/>
                </a:solidFill>
                <a:latin typeface="Helvetica Neue"/>
                <a:ea typeface="Helvetica Neue"/>
                <a:cs typeface="Helvetica Neue"/>
              </a:defRPr>
            </a:lvl9pPr>
          </a:lstStyle>
          <a:p xmlns:a="http://schemas.openxmlformats.org/drawingml/2006/main">
            <a:pPr>
              <a:defRPr sz="1500" b="0">
                <a:solidFill>
                  <a:srgbClr val="54635B"/>
                </a:solidFill>
                <a:latin typeface="Helvetica Neue"/>
                <a:ea typeface="Helvetica Neue"/>
                <a:cs typeface="Helvetica Neue"/>
              </a:defRPr>
            </a:pPr>
            <a:r>
              <a:rPr sz="1500" b="0">
                <a:solidFill>
                  <a:srgbClr val="54635B"/>
                </a:solidFill>
                <a:latin typeface="Helvetica Neue"/>
                <a:ea typeface="Helvetica Neue"/>
                <a:cs typeface="Helvetica Neue"/>
              </a:rPr>
              <a:t>Recorded native Zetaris DQ execution on a separate controlled fixture</a:t>
            </a:r>
          </a:p>
        </p:txBody>
      </p:sp>
      <p:sp>
        <p:nvSpPr>
          <p:cNvPr id="3" name="">
            <a:extLst xmlns:a="http://schemas.openxmlformats.org/drawingml/2006/main">
              <a:ext uri="{FF2B5EF4-FFF2-40B4-BE49-F238E27FC236}">
                <a16:creationId xmlns:a16="http://schemas.microsoft.com/office/drawing/2014/main" id="{47A63A17-2960-46B9-91FF-632BAF810FB4}"/>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4635B"/>
                </a:solidFill>
                <a:latin typeface="Helvetica Neue"/>
                <a:ea typeface="Helvetica Neue"/>
                <a:cs typeface="Helvetica Neue"/>
              </a:defRPr>
            </a:defPPr>
            <a:lvl1pPr>
              <a:defRPr sz="1425" b="0">
                <a:solidFill>
                  <a:srgbClr val="54635B"/>
                </a:solidFill>
                <a:latin typeface="Helvetica Neue"/>
                <a:ea typeface="Helvetica Neue"/>
                <a:cs typeface="Helvetica Neue"/>
              </a:defRPr>
            </a:lvl1pPr>
            <a:lvl2pPr>
              <a:defRPr sz="1425" b="0">
                <a:solidFill>
                  <a:srgbClr val="54635B"/>
                </a:solidFill>
                <a:latin typeface="Helvetica Neue"/>
                <a:ea typeface="Helvetica Neue"/>
                <a:cs typeface="Helvetica Neue"/>
              </a:defRPr>
            </a:lvl2pPr>
            <a:lvl3pPr>
              <a:defRPr sz="1425" b="0">
                <a:solidFill>
                  <a:srgbClr val="54635B"/>
                </a:solidFill>
                <a:latin typeface="Helvetica Neue"/>
                <a:ea typeface="Helvetica Neue"/>
                <a:cs typeface="Helvetica Neue"/>
              </a:defRPr>
            </a:lvl3pPr>
            <a:lvl4pPr>
              <a:defRPr sz="1425" b="0">
                <a:solidFill>
                  <a:srgbClr val="54635B"/>
                </a:solidFill>
                <a:latin typeface="Helvetica Neue"/>
                <a:ea typeface="Helvetica Neue"/>
                <a:cs typeface="Helvetica Neue"/>
              </a:defRPr>
            </a:lvl4pPr>
            <a:lvl5pPr>
              <a:defRPr sz="1425" b="0">
                <a:solidFill>
                  <a:srgbClr val="54635B"/>
                </a:solidFill>
                <a:latin typeface="Helvetica Neue"/>
                <a:ea typeface="Helvetica Neue"/>
                <a:cs typeface="Helvetica Neue"/>
              </a:defRPr>
            </a:lvl5pPr>
            <a:lvl6pPr>
              <a:defRPr sz="1425" b="0">
                <a:solidFill>
                  <a:srgbClr val="54635B"/>
                </a:solidFill>
                <a:latin typeface="Helvetica Neue"/>
                <a:ea typeface="Helvetica Neue"/>
                <a:cs typeface="Helvetica Neue"/>
              </a:defRPr>
            </a:lvl6pPr>
            <a:lvl7pPr>
              <a:defRPr sz="1425" b="0">
                <a:solidFill>
                  <a:srgbClr val="54635B"/>
                </a:solidFill>
                <a:latin typeface="Helvetica Neue"/>
                <a:ea typeface="Helvetica Neue"/>
                <a:cs typeface="Helvetica Neue"/>
              </a:defRPr>
            </a:lvl7pPr>
            <a:lvl8pPr>
              <a:defRPr sz="1425" b="0">
                <a:solidFill>
                  <a:srgbClr val="54635B"/>
                </a:solidFill>
                <a:latin typeface="Helvetica Neue"/>
                <a:ea typeface="Helvetica Neue"/>
                <a:cs typeface="Helvetica Neue"/>
              </a:defRPr>
            </a:lvl8pPr>
            <a:lvl9pPr>
              <a:defRPr sz="1425" b="0">
                <a:solidFill>
                  <a:srgbClr val="54635B"/>
                </a:solidFill>
                <a:latin typeface="Helvetica Neue"/>
                <a:ea typeface="Helvetica Neue"/>
                <a:cs typeface="Helvetica Neue"/>
              </a:defRPr>
            </a:lvl9pPr>
          </a:lstStyle>
          <a:p xmlns:a="http://schemas.openxmlformats.org/drawingml/2006/main">
            <a:pPr>
              <a:defRPr sz="1425" b="0">
                <a:solidFill>
                  <a:srgbClr val="54635B"/>
                </a:solidFill>
                <a:latin typeface="Helvetica Neue"/>
                <a:ea typeface="Helvetica Neue"/>
                <a:cs typeface="Helvetica Neue"/>
              </a:defRPr>
            </a:pPr>
            <a:r>
              <a:rPr sz="1425" b="0">
                <a:solidFill>
                  <a:srgbClr val="54635B"/>
                </a:solidFill>
                <a:latin typeface="Helvetica Neue"/>
                <a:ea typeface="Helvetica Neue"/>
                <a:cs typeface="Helvetica Neue"/>
              </a:rPr>
              <a:t>08</a:t>
            </a:r>
          </a:p>
        </p:txBody>
      </p:sp>
      <p:graphicFrame>
        <p:nvGraphicFramePr>
          <p:cNvPr id="4" name="">
            <a:extLst xmlns:a="http://schemas.openxmlformats.org/drawingml/2006/main">
              <a:ext uri="{FF2B5EF4-FFF2-40B4-BE49-F238E27FC236}">
                <a16:creationId xmlns:a16="http://schemas.microsoft.com/office/drawing/2014/main" id="{D05F5B89-9288-4DB3-ACB7-4DC6B2519BA8}"/>
              </a:ext>
            </a:extLst>
          </p:cNvPr>
          <p:cNvGraphicFramePr/>
          <p:nvPr/>
        </p:nvGraphicFramePr>
        <p:xfrm>
          <a:off xmlns:a="http://schemas.openxmlformats.org/drawingml/2006/main" x="609600" y="1666875"/>
          <a:ext xmlns:a="http://schemas.openxmlformats.org/drawingml/2006/main" cx="5238750" cy="2095500"/>
        </p:xfrm>
        <a:graphic xmlns:a="http://schemas.openxmlformats.org/drawingml/2006/main">
          <a:graphicData uri="http://schemas.openxmlformats.org/drawingml/2006/table">
            <a:tbl>
              <a:tblPr/>
              <a:tblGrid>
                <a:gridCol w="2667000"/>
                <a:gridCol w="2571750"/>
              </a:tblGrid>
              <a:tr h="698500">
                <a:tc>
                  <a:txBody>
                    <a:bodyPr/>
                    <a:lstStyle/>
                    <a:p>
                      <a:r>
                        <a:rPr sz="1875" b="1">
                          <a:solidFill>
                            <a:srgbClr val="FFFFFF"/>
                          </a:solidFill>
                          <a:latin typeface="Helvetica Neue"/>
                          <a:ea typeface="Helvetica Neue"/>
                          <a:cs typeface="Helvetica Neue"/>
                        </a:rPr>
                        <a:t>Fixture record</a:t>
                      </a:r>
                    </a:p>
                  </a:txBody>
                  <a:tcPr marL="91440" marR="91440" marT="45720" marB="45720">
                    <a:lnL w="9525">
                      <a:solidFill>
                        <a:srgbClr val="B7C4BA"/>
                      </a:solidFill>
                      <a:prstDash val="solid"/>
                    </a:lnL>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c>
                  <a:txBody>
                    <a:bodyPr/>
                    <a:lstStyle/>
                    <a:p>
                      <a:r>
                        <a:rPr sz="1875" b="1">
                          <a:solidFill>
                            <a:srgbClr val="FFFFFF"/>
                          </a:solidFill>
                          <a:latin typeface="Helvetica Neue"/>
                          <a:ea typeface="Helvetica Neue"/>
                          <a:cs typeface="Helvetica Neue"/>
                        </a:rPr>
                        <a:t>Case reference</a:t>
                      </a:r>
                    </a:p>
                  </a:txBody>
                  <a:tcPr marL="91440" marR="91440" marT="45720" marB="45720">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r>
              <a:tr h="698500">
                <a:tc>
                  <a:txBody>
                    <a:bodyPr/>
                    <a:lstStyle/>
                    <a:p>
                      <a:r>
                        <a:rPr sz="1875" b="0">
                          <a:solidFill>
                            <a:srgbClr val="193C35"/>
                          </a:solidFill>
                          <a:latin typeface="Helvetica Neue"/>
                          <a:ea typeface="Helvetica Neue"/>
                          <a:cs typeface="Helvetica Neue"/>
                        </a:rPr>
                        <a:t>DQ-VALID</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875" b="0">
                          <a:solidFill>
                            <a:srgbClr val="193C35"/>
                          </a:solidFill>
                          <a:latin typeface="Helvetica Neue"/>
                          <a:ea typeface="Helvetica Neue"/>
                          <a:cs typeface="Helvetica Neue"/>
                        </a:rPr>
                        <a:t>DP-0020 exists</a:t>
                      </a:r>
                    </a:p>
                  </a:txBody>
                  <a:tcPr marL="91440" marR="91440" marT="45720" marB="45720">
                    <a:lnR w="9525">
                      <a:solidFill>
                        <a:srgbClr val="B7C4BA"/>
                      </a:solidFill>
                      <a:prstDash val="solid"/>
                    </a:lnR>
                    <a:lnB w="9525">
                      <a:solidFill>
                        <a:srgbClr val="B7C4BA"/>
                      </a:solidFill>
                      <a:prstDash val="solid"/>
                    </a:lnB>
                    <a:solidFill>
                      <a:srgbClr val="F4F5EF"/>
                    </a:solidFill>
                  </a:tcPr>
                </a:tc>
              </a:tr>
              <a:tr h="698500">
                <a:tc>
                  <a:txBody>
                    <a:bodyPr/>
                    <a:lstStyle/>
                    <a:p>
                      <a:r>
                        <a:rPr sz="1875" b="0">
                          <a:solidFill>
                            <a:srgbClr val="193C35"/>
                          </a:solidFill>
                          <a:latin typeface="Helvetica Neue"/>
                          <a:ea typeface="Helvetica Neue"/>
                          <a:cs typeface="Helvetica Neue"/>
                        </a:rPr>
                        <a:t>DQ-ORPHAN</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875" b="0">
                          <a:solidFill>
                            <a:srgbClr val="193C35"/>
                          </a:solidFill>
                          <a:latin typeface="Helvetica Neue"/>
                          <a:ea typeface="Helvetica Neue"/>
                          <a:cs typeface="Helvetica Neue"/>
                        </a:rPr>
                        <a:t>DP-9999 absent</a:t>
                      </a:r>
                    </a:p>
                  </a:txBody>
                  <a:tcPr marL="91440" marR="91440" marT="45720" marB="45720">
                    <a:lnR w="9525">
                      <a:solidFill>
                        <a:srgbClr val="B7C4BA"/>
                      </a:solidFill>
                      <a:prstDash val="solid"/>
                    </a:lnR>
                    <a:lnB w="9525">
                      <a:solidFill>
                        <a:srgbClr val="B7C4BA"/>
                      </a:solidFill>
                      <a:prstDash val="solid"/>
                    </a:lnB>
                    <a:solidFill>
                      <a:srgbClr val="F4F5EF"/>
                    </a:solidFill>
                  </a:tcPr>
                </a:tc>
              </a:tr>
            </a:tbl>
          </a:graphicData>
        </a:graphic>
      </p:graphicFrame>
      <p:sp>
        <p:nvSpPr>
          <p:cNvPr id="5" name="">
            <a:extLst xmlns:a="http://schemas.openxmlformats.org/drawingml/2006/main">
              <a:ext uri="{FF2B5EF4-FFF2-40B4-BE49-F238E27FC236}">
                <a16:creationId xmlns:a16="http://schemas.microsoft.com/office/drawing/2014/main" id="{267E08CF-F71C-4A02-8E1D-D8EBFC5550A1}"/>
              </a:ext>
            </a:extLst>
          </p:cNvPr>
          <p:cNvSpPr>
            <a:spLocks xmlns:a="http://schemas.openxmlformats.org/drawingml/2006/main" noGrp="1"/>
          </p:cNvSpPr>
          <p:nvPr/>
        </p:nvSpPr>
        <p:spPr>
          <a:xfrm xmlns:a="http://schemas.openxmlformats.org/drawingml/2006/main">
            <a:off x="609600" y="4095750"/>
            <a:ext cx="5238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93C35"/>
                </a:solidFill>
                <a:latin typeface="Helvetica Neue"/>
                <a:ea typeface="Helvetica Neue"/>
                <a:cs typeface="Helvetica Neue"/>
              </a:defRPr>
            </a:defPPr>
            <a:lvl1pPr>
              <a:defRPr sz="3000" b="1">
                <a:solidFill>
                  <a:srgbClr val="193C35"/>
                </a:solidFill>
                <a:latin typeface="Helvetica Neue"/>
                <a:ea typeface="Helvetica Neue"/>
                <a:cs typeface="Helvetica Neue"/>
              </a:defRPr>
            </a:lvl1pPr>
            <a:lvl2pPr>
              <a:defRPr sz="3000" b="1">
                <a:solidFill>
                  <a:srgbClr val="193C35"/>
                </a:solidFill>
                <a:latin typeface="Helvetica Neue"/>
                <a:ea typeface="Helvetica Neue"/>
                <a:cs typeface="Helvetica Neue"/>
              </a:defRPr>
            </a:lvl2pPr>
            <a:lvl3pPr>
              <a:defRPr sz="3000" b="1">
                <a:solidFill>
                  <a:srgbClr val="193C35"/>
                </a:solidFill>
                <a:latin typeface="Helvetica Neue"/>
                <a:ea typeface="Helvetica Neue"/>
                <a:cs typeface="Helvetica Neue"/>
              </a:defRPr>
            </a:lvl3pPr>
            <a:lvl4pPr>
              <a:defRPr sz="3000" b="1">
                <a:solidFill>
                  <a:srgbClr val="193C35"/>
                </a:solidFill>
                <a:latin typeface="Helvetica Neue"/>
                <a:ea typeface="Helvetica Neue"/>
                <a:cs typeface="Helvetica Neue"/>
              </a:defRPr>
            </a:lvl4pPr>
            <a:lvl5pPr>
              <a:defRPr sz="3000" b="1">
                <a:solidFill>
                  <a:srgbClr val="193C35"/>
                </a:solidFill>
                <a:latin typeface="Helvetica Neue"/>
                <a:ea typeface="Helvetica Neue"/>
                <a:cs typeface="Helvetica Neue"/>
              </a:defRPr>
            </a:lvl5pPr>
            <a:lvl6pPr>
              <a:defRPr sz="3000" b="1">
                <a:solidFill>
                  <a:srgbClr val="193C35"/>
                </a:solidFill>
                <a:latin typeface="Helvetica Neue"/>
                <a:ea typeface="Helvetica Neue"/>
                <a:cs typeface="Helvetica Neue"/>
              </a:defRPr>
            </a:lvl6pPr>
            <a:lvl7pPr>
              <a:defRPr sz="3000" b="1">
                <a:solidFill>
                  <a:srgbClr val="193C35"/>
                </a:solidFill>
                <a:latin typeface="Helvetica Neue"/>
                <a:ea typeface="Helvetica Neue"/>
                <a:cs typeface="Helvetica Neue"/>
              </a:defRPr>
            </a:lvl7pPr>
            <a:lvl8pPr>
              <a:defRPr sz="3000" b="1">
                <a:solidFill>
                  <a:srgbClr val="193C35"/>
                </a:solidFill>
                <a:latin typeface="Helvetica Neue"/>
                <a:ea typeface="Helvetica Neue"/>
                <a:cs typeface="Helvetica Neue"/>
              </a:defRPr>
            </a:lvl8pPr>
            <a:lvl9pPr>
              <a:defRPr sz="3000" b="1">
                <a:solidFill>
                  <a:srgbClr val="193C35"/>
                </a:solidFill>
                <a:latin typeface="Helvetica Neue"/>
                <a:ea typeface="Helvetica Neue"/>
                <a:cs typeface="Helvetica Neue"/>
              </a:defRPr>
            </a:lvl9pPr>
          </a:lstStyle>
          <a:p xmlns:a="http://schemas.openxmlformats.org/drawingml/2006/main">
            <a:pPr>
              <a:defRPr sz="3000" b="1">
                <a:solidFill>
                  <a:srgbClr val="193C35"/>
                </a:solidFill>
                <a:latin typeface="Helvetica Neue"/>
                <a:ea typeface="Helvetica Neue"/>
                <a:cs typeface="Helvetica Neue"/>
              </a:defRPr>
            </a:pPr>
            <a:r>
              <a:rPr sz="3000" b="1">
                <a:solidFill>
                  <a:srgbClr val="193C35"/>
                </a:solidFill>
                <a:latin typeface="Helvetica Neue"/>
                <a:ea typeface="Helvetica Neue"/>
                <a:cs typeface="Helvetica Neue"/>
              </a:rPr>
              <a:t>2 checked</a:t>
            </a:r>
          </a:p>
          <a:p xmlns:a="http://schemas.openxmlformats.org/drawingml/2006/main">
            <a:pPr>
              <a:defRPr sz="3000" b="1">
                <a:solidFill>
                  <a:srgbClr val="193C35"/>
                </a:solidFill>
                <a:latin typeface="Helvetica Neue"/>
                <a:ea typeface="Helvetica Neue"/>
                <a:cs typeface="Helvetica Neue"/>
              </a:defRPr>
            </a:pPr>
            <a:r>
              <a:rPr sz="3000" b="1">
                <a:solidFill>
                  <a:srgbClr val="193C35"/>
                </a:solidFill>
                <a:latin typeface="Helvetica Neue"/>
                <a:ea typeface="Helvetica Neue"/>
                <a:cs typeface="Helvetica Neue"/>
              </a:rPr>
              <a:t>1 valid</a:t>
            </a:r>
          </a:p>
          <a:p xmlns:a="http://schemas.openxmlformats.org/drawingml/2006/main">
            <a:pPr>
              <a:defRPr sz="3000" b="1">
                <a:solidFill>
                  <a:srgbClr val="193C35"/>
                </a:solidFill>
                <a:latin typeface="Helvetica Neue"/>
                <a:ea typeface="Helvetica Neue"/>
                <a:cs typeface="Helvetica Neue"/>
              </a:defRPr>
            </a:pPr>
            <a:r>
              <a:rPr sz="3000" b="1">
                <a:solidFill>
                  <a:srgbClr val="193C35"/>
                </a:solidFill>
                <a:latin typeface="Helvetica Neue"/>
                <a:ea typeface="Helvetica Neue"/>
                <a:cs typeface="Helvetica Neue"/>
              </a:rPr>
              <a:t>1 invalid</a:t>
            </a:r>
          </a:p>
        </p:txBody>
      </p:sp>
      <p:pic>
        <p:nvPicPr>
          <p:cNvPr id="6" name="">
            <a:extLst xmlns:a="http://schemas.openxmlformats.org/drawingml/2006/main">
              <a:ext uri="{FF2B5EF4-FFF2-40B4-BE49-F238E27FC236}">
                <a16:creationId xmlns:a16="http://schemas.microsoft.com/office/drawing/2014/main" id="{BEF2EBD4-5AF2-4A32-9279-67D91397FF60}"/>
              </a:ext>
            </a:extLst>
          </p:cNvPr>
          <p:cNvPicPr>
            <a:picLocks xmlns:a="http://schemas.openxmlformats.org/drawingml/2006/main" noChangeAspect="1"/>
          </p:cNvPicPr>
          <p:nvPr/>
        </p:nvPicPr>
        <p:blipFill>
          <a:blip xmlns:r="http://schemas.openxmlformats.org/officeDocument/2006/relationships" xmlns:a="http://schemas.openxmlformats.org/drawingml/2006/main" r:embed="Rcbdf4fb747394b50"/>
          <a:srcRect xmlns:a="http://schemas.openxmlformats.org/drawingml/2006/main" l="2500" t="18500" r="2500" b="21500"/>
          <a:stretch xmlns:a="http://schemas.openxmlformats.org/drawingml/2006/main"/>
        </p:blipFill>
        <p:spPr>
          <a:xfrm xmlns:a="http://schemas.openxmlformats.org/drawingml/2006/main">
            <a:off x="6238875" y="1666875"/>
            <a:ext cx="5334000" cy="3476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8DDDDBA-EE9E-4CF1-ACC8-7F67102FED58}"/>
              </a:ext>
            </a:extLst>
          </p:cNvPr>
          <p:cNvSpPr>
            <a:spLocks xmlns:a="http://schemas.openxmlformats.org/drawingml/2006/main" noGrp="1"/>
          </p:cNvSpPr>
          <p:nvPr/>
        </p:nvSpPr>
        <p:spPr>
          <a:xfrm xmlns:a="http://schemas.openxmlformats.org/drawingml/2006/main">
            <a:off x="6238875" y="52387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93C35"/>
                </a:solidFill>
                <a:latin typeface="Helvetica Neue"/>
                <a:ea typeface="Helvetica Neue"/>
                <a:cs typeface="Helvetica Neue"/>
              </a:defRPr>
            </a:defPPr>
            <a:lvl1pPr>
              <a:defRPr sz="2025" b="0">
                <a:solidFill>
                  <a:srgbClr val="193C35"/>
                </a:solidFill>
                <a:latin typeface="Helvetica Neue"/>
                <a:ea typeface="Helvetica Neue"/>
                <a:cs typeface="Helvetica Neue"/>
              </a:defRPr>
            </a:lvl1pPr>
            <a:lvl2pPr>
              <a:defRPr sz="2025" b="0">
                <a:solidFill>
                  <a:srgbClr val="193C35"/>
                </a:solidFill>
                <a:latin typeface="Helvetica Neue"/>
                <a:ea typeface="Helvetica Neue"/>
                <a:cs typeface="Helvetica Neue"/>
              </a:defRPr>
            </a:lvl2pPr>
            <a:lvl3pPr>
              <a:defRPr sz="2025" b="0">
                <a:solidFill>
                  <a:srgbClr val="193C35"/>
                </a:solidFill>
                <a:latin typeface="Helvetica Neue"/>
                <a:ea typeface="Helvetica Neue"/>
                <a:cs typeface="Helvetica Neue"/>
              </a:defRPr>
            </a:lvl3pPr>
            <a:lvl4pPr>
              <a:defRPr sz="2025" b="0">
                <a:solidFill>
                  <a:srgbClr val="193C35"/>
                </a:solidFill>
                <a:latin typeface="Helvetica Neue"/>
                <a:ea typeface="Helvetica Neue"/>
                <a:cs typeface="Helvetica Neue"/>
              </a:defRPr>
            </a:lvl4pPr>
            <a:lvl5pPr>
              <a:defRPr sz="2025" b="0">
                <a:solidFill>
                  <a:srgbClr val="193C35"/>
                </a:solidFill>
                <a:latin typeface="Helvetica Neue"/>
                <a:ea typeface="Helvetica Neue"/>
                <a:cs typeface="Helvetica Neue"/>
              </a:defRPr>
            </a:lvl5pPr>
            <a:lvl6pPr>
              <a:defRPr sz="2025" b="0">
                <a:solidFill>
                  <a:srgbClr val="193C35"/>
                </a:solidFill>
                <a:latin typeface="Helvetica Neue"/>
                <a:ea typeface="Helvetica Neue"/>
                <a:cs typeface="Helvetica Neue"/>
              </a:defRPr>
            </a:lvl6pPr>
            <a:lvl7pPr>
              <a:defRPr sz="2025" b="0">
                <a:solidFill>
                  <a:srgbClr val="193C35"/>
                </a:solidFill>
                <a:latin typeface="Helvetica Neue"/>
                <a:ea typeface="Helvetica Neue"/>
                <a:cs typeface="Helvetica Neue"/>
              </a:defRPr>
            </a:lvl7pPr>
            <a:lvl8pPr>
              <a:defRPr sz="2025" b="0">
                <a:solidFill>
                  <a:srgbClr val="193C35"/>
                </a:solidFill>
                <a:latin typeface="Helvetica Neue"/>
                <a:ea typeface="Helvetica Neue"/>
                <a:cs typeface="Helvetica Neue"/>
              </a:defRPr>
            </a:lvl8pPr>
            <a:lvl9pPr>
              <a:defRPr sz="2025" b="0">
                <a:solidFill>
                  <a:srgbClr val="193C35"/>
                </a:solidFill>
                <a:latin typeface="Helvetica Neue"/>
                <a:ea typeface="Helvetica Neue"/>
                <a:cs typeface="Helvetica Neue"/>
              </a:defRPr>
            </a:lvl9pPr>
          </a:lstStyle>
          <a:p xmlns:a="http://schemas.openxmlformats.org/drawingml/2006/main">
            <a:pPr>
              <a:defRPr sz="2025" b="0">
                <a:solidFill>
                  <a:srgbClr val="193C35"/>
                </a:solidFill>
                <a:latin typeface="Helvetica Neue"/>
                <a:ea typeface="Helvetica Neue"/>
                <a:cs typeface="Helvetica Neue"/>
              </a:defRPr>
            </a:pPr>
            <a:r>
              <a:rPr sz="2025" b="0">
                <a:solidFill>
                  <a:srgbClr val="193C35"/>
                </a:solidFill>
                <a:latin typeface="Helvetica Neue"/>
                <a:ea typeface="Helvetica Neue"/>
                <a:cs typeface="Helvetica Neue"/>
              </a:rPr>
              <a:t>Checks relationship integrity.</a:t>
            </a:r>
          </a:p>
          <a:p xmlns:a="http://schemas.openxmlformats.org/drawingml/2006/main">
            <a:pPr>
              <a:defRPr sz="2025" b="0">
                <a:solidFill>
                  <a:srgbClr val="193C35"/>
                </a:solidFill>
                <a:latin typeface="Helvetica Neue"/>
                <a:ea typeface="Helvetica Neue"/>
                <a:cs typeface="Helvetica Neue"/>
              </a:defRPr>
            </a:pPr>
            <a:r>
              <a:rPr sz="2025" b="0">
                <a:solidFill>
                  <a:srgbClr val="193C35"/>
                </a:solidFill>
                <a:latin typeface="Helvetica Neue"/>
                <a:ea typeface="Helvetica Neue"/>
                <a:cs typeface="Helvetica Neue"/>
              </a:rPr>
              <a:t>Document truth and freshness</a:t>
            </a:r>
          </a:p>
          <a:p xmlns:a="http://schemas.openxmlformats.org/drawingml/2006/main">
            <a:pPr>
              <a:defRPr sz="2025" b="0">
                <a:solidFill>
                  <a:srgbClr val="193C35"/>
                </a:solidFill>
                <a:latin typeface="Helvetica Neue"/>
                <a:ea typeface="Helvetica Neue"/>
                <a:cs typeface="Helvetica Neue"/>
              </a:defRPr>
            </a:pPr>
            <a:r>
              <a:rPr sz="2025" b="0">
                <a:solidFill>
                  <a:srgbClr val="193C35"/>
                </a:solidFill>
                <a:latin typeface="Helvetica Neue"/>
                <a:ea typeface="Helvetica Neue"/>
                <a:cs typeface="Helvetica Neue"/>
              </a:rPr>
              <a:t>require other evidence.</a:t>
            </a:r>
          </a:p>
        </p:txBody>
      </p:sp>
    </p:spTree>
    <p:extLst>
      <p:ext uri="{BB962C8B-B14F-4D97-AF65-F5344CB8AC3E}">
        <p14:creationId xmlns:p14="http://schemas.microsoft.com/office/powerpoint/2010/main" val="2023427007"/>
      </p:ext>
    </p:extLst>
  </p:cSld>
</p:sld>
</file>

<file path=ppt/slides/slide9.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FCA20E-FBC9-46F0-B803-1AEFE4F5E276}"/>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93C35"/>
                </a:solidFill>
                <a:latin typeface="Helvetica Neue"/>
                <a:ea typeface="Helvetica Neue"/>
                <a:cs typeface="Helvetica Neue"/>
              </a:defRPr>
            </a:defPPr>
            <a:lvl1pPr>
              <a:defRPr sz="3300" b="1">
                <a:solidFill>
                  <a:srgbClr val="193C35"/>
                </a:solidFill>
                <a:latin typeface="Helvetica Neue"/>
                <a:ea typeface="Helvetica Neue"/>
                <a:cs typeface="Helvetica Neue"/>
              </a:defRPr>
            </a:lvl1pPr>
            <a:lvl2pPr>
              <a:defRPr sz="3300" b="1">
                <a:solidFill>
                  <a:srgbClr val="193C35"/>
                </a:solidFill>
                <a:latin typeface="Helvetica Neue"/>
                <a:ea typeface="Helvetica Neue"/>
                <a:cs typeface="Helvetica Neue"/>
              </a:defRPr>
            </a:lvl2pPr>
            <a:lvl3pPr>
              <a:defRPr sz="3300" b="1">
                <a:solidFill>
                  <a:srgbClr val="193C35"/>
                </a:solidFill>
                <a:latin typeface="Helvetica Neue"/>
                <a:ea typeface="Helvetica Neue"/>
                <a:cs typeface="Helvetica Neue"/>
              </a:defRPr>
            </a:lvl3pPr>
            <a:lvl4pPr>
              <a:defRPr sz="3300" b="1">
                <a:solidFill>
                  <a:srgbClr val="193C35"/>
                </a:solidFill>
                <a:latin typeface="Helvetica Neue"/>
                <a:ea typeface="Helvetica Neue"/>
                <a:cs typeface="Helvetica Neue"/>
              </a:defRPr>
            </a:lvl4pPr>
            <a:lvl5pPr>
              <a:defRPr sz="3300" b="1">
                <a:solidFill>
                  <a:srgbClr val="193C35"/>
                </a:solidFill>
                <a:latin typeface="Helvetica Neue"/>
                <a:ea typeface="Helvetica Neue"/>
                <a:cs typeface="Helvetica Neue"/>
              </a:defRPr>
            </a:lvl5pPr>
            <a:lvl6pPr>
              <a:defRPr sz="3300" b="1">
                <a:solidFill>
                  <a:srgbClr val="193C35"/>
                </a:solidFill>
                <a:latin typeface="Helvetica Neue"/>
                <a:ea typeface="Helvetica Neue"/>
                <a:cs typeface="Helvetica Neue"/>
              </a:defRPr>
            </a:lvl6pPr>
            <a:lvl7pPr>
              <a:defRPr sz="3300" b="1">
                <a:solidFill>
                  <a:srgbClr val="193C35"/>
                </a:solidFill>
                <a:latin typeface="Helvetica Neue"/>
                <a:ea typeface="Helvetica Neue"/>
                <a:cs typeface="Helvetica Neue"/>
              </a:defRPr>
            </a:lvl7pPr>
            <a:lvl8pPr>
              <a:defRPr sz="3300" b="1">
                <a:solidFill>
                  <a:srgbClr val="193C35"/>
                </a:solidFill>
                <a:latin typeface="Helvetica Neue"/>
                <a:ea typeface="Helvetica Neue"/>
                <a:cs typeface="Helvetica Neue"/>
              </a:defRPr>
            </a:lvl8pPr>
            <a:lvl9pPr>
              <a:defRPr sz="3300" b="1">
                <a:solidFill>
                  <a:srgbClr val="193C35"/>
                </a:solidFill>
                <a:latin typeface="Helvetica Neue"/>
                <a:ea typeface="Helvetica Neue"/>
                <a:cs typeface="Helvetica Neue"/>
              </a:defRPr>
            </a:lvl9pPr>
          </a:lstStyle>
          <a:p xmlns:a="http://schemas.openxmlformats.org/drawingml/2006/main">
            <a:pPr>
              <a:defRPr sz="3300" b="1">
                <a:solidFill>
                  <a:srgbClr val="193C35"/>
                </a:solidFill>
                <a:latin typeface="Helvetica Neue"/>
                <a:ea typeface="Helvetica Neue"/>
                <a:cs typeface="Helvetica Neue"/>
              </a:defRPr>
            </a:pPr>
            <a:r>
              <a:rPr sz="3300" b="1">
                <a:solidFill>
                  <a:srgbClr val="193C35"/>
                </a:solidFill>
                <a:latin typeface="Helvetica Neue"/>
                <a:ea typeface="Helvetica Neue"/>
                <a:cs typeface="Helvetica Neue"/>
              </a:rPr>
              <a:t>Test coverage and the current limit</a:t>
            </a:r>
          </a:p>
        </p:txBody>
      </p:sp>
      <p:sp>
        <p:nvSpPr>
          <p:cNvPr id="2" name="">
            <a:extLst xmlns:a="http://schemas.openxmlformats.org/drawingml/2006/main">
              <a:ext uri="{FF2B5EF4-FFF2-40B4-BE49-F238E27FC236}">
                <a16:creationId xmlns:a16="http://schemas.microsoft.com/office/drawing/2014/main" id="{03F63151-9BEB-4F45-A040-509206574305}"/>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4635B"/>
                </a:solidFill>
                <a:latin typeface="Helvetica Neue"/>
                <a:ea typeface="Helvetica Neue"/>
                <a:cs typeface="Helvetica Neue"/>
              </a:defRPr>
            </a:defPPr>
            <a:lvl1pPr>
              <a:defRPr sz="1500" b="0">
                <a:solidFill>
                  <a:srgbClr val="54635B"/>
                </a:solidFill>
                <a:latin typeface="Helvetica Neue"/>
                <a:ea typeface="Helvetica Neue"/>
                <a:cs typeface="Helvetica Neue"/>
              </a:defRPr>
            </a:lvl1pPr>
            <a:lvl2pPr>
              <a:defRPr sz="1500" b="0">
                <a:solidFill>
                  <a:srgbClr val="54635B"/>
                </a:solidFill>
                <a:latin typeface="Helvetica Neue"/>
                <a:ea typeface="Helvetica Neue"/>
                <a:cs typeface="Helvetica Neue"/>
              </a:defRPr>
            </a:lvl2pPr>
            <a:lvl3pPr>
              <a:defRPr sz="1500" b="0">
                <a:solidFill>
                  <a:srgbClr val="54635B"/>
                </a:solidFill>
                <a:latin typeface="Helvetica Neue"/>
                <a:ea typeface="Helvetica Neue"/>
                <a:cs typeface="Helvetica Neue"/>
              </a:defRPr>
            </a:lvl3pPr>
            <a:lvl4pPr>
              <a:defRPr sz="1500" b="0">
                <a:solidFill>
                  <a:srgbClr val="54635B"/>
                </a:solidFill>
                <a:latin typeface="Helvetica Neue"/>
                <a:ea typeface="Helvetica Neue"/>
                <a:cs typeface="Helvetica Neue"/>
              </a:defRPr>
            </a:lvl4pPr>
            <a:lvl5pPr>
              <a:defRPr sz="1500" b="0">
                <a:solidFill>
                  <a:srgbClr val="54635B"/>
                </a:solidFill>
                <a:latin typeface="Helvetica Neue"/>
                <a:ea typeface="Helvetica Neue"/>
                <a:cs typeface="Helvetica Neue"/>
              </a:defRPr>
            </a:lvl5pPr>
            <a:lvl6pPr>
              <a:defRPr sz="1500" b="0">
                <a:solidFill>
                  <a:srgbClr val="54635B"/>
                </a:solidFill>
                <a:latin typeface="Helvetica Neue"/>
                <a:ea typeface="Helvetica Neue"/>
                <a:cs typeface="Helvetica Neue"/>
              </a:defRPr>
            </a:lvl6pPr>
            <a:lvl7pPr>
              <a:defRPr sz="1500" b="0">
                <a:solidFill>
                  <a:srgbClr val="54635B"/>
                </a:solidFill>
                <a:latin typeface="Helvetica Neue"/>
                <a:ea typeface="Helvetica Neue"/>
                <a:cs typeface="Helvetica Neue"/>
              </a:defRPr>
            </a:lvl7pPr>
            <a:lvl8pPr>
              <a:defRPr sz="1500" b="0">
                <a:solidFill>
                  <a:srgbClr val="54635B"/>
                </a:solidFill>
                <a:latin typeface="Helvetica Neue"/>
                <a:ea typeface="Helvetica Neue"/>
                <a:cs typeface="Helvetica Neue"/>
              </a:defRPr>
            </a:lvl8pPr>
            <a:lvl9pPr>
              <a:defRPr sz="1500" b="0">
                <a:solidFill>
                  <a:srgbClr val="54635B"/>
                </a:solidFill>
                <a:latin typeface="Helvetica Neue"/>
                <a:ea typeface="Helvetica Neue"/>
                <a:cs typeface="Helvetica Neue"/>
              </a:defRPr>
            </a:lvl9pPr>
          </a:lstStyle>
          <a:p xmlns:a="http://schemas.openxmlformats.org/drawingml/2006/main">
            <a:pPr>
              <a:defRPr sz="1500" b="0">
                <a:solidFill>
                  <a:srgbClr val="54635B"/>
                </a:solidFill>
                <a:latin typeface="Helvetica Neue"/>
                <a:ea typeface="Helvetica Neue"/>
                <a:cs typeface="Helvetica Neue"/>
              </a:defRPr>
            </a:pPr>
            <a:r>
              <a:rPr sz="1500" b="0">
                <a:solidFill>
                  <a:srgbClr val="54635B"/>
                </a:solidFill>
                <a:latin typeface="Helvetica Neue"/>
                <a:ea typeface="Helvetica Neue"/>
                <a:cs typeface="Helvetica Neue"/>
              </a:rPr>
              <a:t>Recorded 27 Oct 2026. Isolated suite uses scripted model responses</a:t>
            </a:r>
          </a:p>
        </p:txBody>
      </p:sp>
      <p:sp>
        <p:nvSpPr>
          <p:cNvPr id="3" name="">
            <a:extLst xmlns:a="http://schemas.openxmlformats.org/drawingml/2006/main">
              <a:ext uri="{FF2B5EF4-FFF2-40B4-BE49-F238E27FC236}">
                <a16:creationId xmlns:a16="http://schemas.microsoft.com/office/drawing/2014/main" id="{3ABE2114-23C8-44BE-8FE7-A76545914DDA}"/>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4635B"/>
                </a:solidFill>
                <a:latin typeface="Helvetica Neue"/>
                <a:ea typeface="Helvetica Neue"/>
                <a:cs typeface="Helvetica Neue"/>
              </a:defRPr>
            </a:defPPr>
            <a:lvl1pPr>
              <a:defRPr sz="1425" b="0">
                <a:solidFill>
                  <a:srgbClr val="54635B"/>
                </a:solidFill>
                <a:latin typeface="Helvetica Neue"/>
                <a:ea typeface="Helvetica Neue"/>
                <a:cs typeface="Helvetica Neue"/>
              </a:defRPr>
            </a:lvl1pPr>
            <a:lvl2pPr>
              <a:defRPr sz="1425" b="0">
                <a:solidFill>
                  <a:srgbClr val="54635B"/>
                </a:solidFill>
                <a:latin typeface="Helvetica Neue"/>
                <a:ea typeface="Helvetica Neue"/>
                <a:cs typeface="Helvetica Neue"/>
              </a:defRPr>
            </a:lvl2pPr>
            <a:lvl3pPr>
              <a:defRPr sz="1425" b="0">
                <a:solidFill>
                  <a:srgbClr val="54635B"/>
                </a:solidFill>
                <a:latin typeface="Helvetica Neue"/>
                <a:ea typeface="Helvetica Neue"/>
                <a:cs typeface="Helvetica Neue"/>
              </a:defRPr>
            </a:lvl3pPr>
            <a:lvl4pPr>
              <a:defRPr sz="1425" b="0">
                <a:solidFill>
                  <a:srgbClr val="54635B"/>
                </a:solidFill>
                <a:latin typeface="Helvetica Neue"/>
                <a:ea typeface="Helvetica Neue"/>
                <a:cs typeface="Helvetica Neue"/>
              </a:defRPr>
            </a:lvl4pPr>
            <a:lvl5pPr>
              <a:defRPr sz="1425" b="0">
                <a:solidFill>
                  <a:srgbClr val="54635B"/>
                </a:solidFill>
                <a:latin typeface="Helvetica Neue"/>
                <a:ea typeface="Helvetica Neue"/>
                <a:cs typeface="Helvetica Neue"/>
              </a:defRPr>
            </a:lvl5pPr>
            <a:lvl6pPr>
              <a:defRPr sz="1425" b="0">
                <a:solidFill>
                  <a:srgbClr val="54635B"/>
                </a:solidFill>
                <a:latin typeface="Helvetica Neue"/>
                <a:ea typeface="Helvetica Neue"/>
                <a:cs typeface="Helvetica Neue"/>
              </a:defRPr>
            </a:lvl6pPr>
            <a:lvl7pPr>
              <a:defRPr sz="1425" b="0">
                <a:solidFill>
                  <a:srgbClr val="54635B"/>
                </a:solidFill>
                <a:latin typeface="Helvetica Neue"/>
                <a:ea typeface="Helvetica Neue"/>
                <a:cs typeface="Helvetica Neue"/>
              </a:defRPr>
            </a:lvl7pPr>
            <a:lvl8pPr>
              <a:defRPr sz="1425" b="0">
                <a:solidFill>
                  <a:srgbClr val="54635B"/>
                </a:solidFill>
                <a:latin typeface="Helvetica Neue"/>
                <a:ea typeface="Helvetica Neue"/>
                <a:cs typeface="Helvetica Neue"/>
              </a:defRPr>
            </a:lvl8pPr>
            <a:lvl9pPr>
              <a:defRPr sz="1425" b="0">
                <a:solidFill>
                  <a:srgbClr val="54635B"/>
                </a:solidFill>
                <a:latin typeface="Helvetica Neue"/>
                <a:ea typeface="Helvetica Neue"/>
                <a:cs typeface="Helvetica Neue"/>
              </a:defRPr>
            </a:lvl9pPr>
          </a:lstStyle>
          <a:p xmlns:a="http://schemas.openxmlformats.org/drawingml/2006/main">
            <a:pPr>
              <a:defRPr sz="1425" b="0">
                <a:solidFill>
                  <a:srgbClr val="54635B"/>
                </a:solidFill>
                <a:latin typeface="Helvetica Neue"/>
                <a:ea typeface="Helvetica Neue"/>
                <a:cs typeface="Helvetica Neue"/>
              </a:defRPr>
            </a:pPr>
            <a:r>
              <a:rPr sz="1425" b="0">
                <a:solidFill>
                  <a:srgbClr val="54635B"/>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E3F9B7F5-5C38-4E29-B0DC-7CDE76C04FC7}"/>
              </a:ext>
            </a:extLst>
          </p:cNvPr>
          <p:cNvSpPr>
            <a:spLocks xmlns:a="http://schemas.openxmlformats.org/drawingml/2006/main" noGrp="1"/>
          </p:cNvSpPr>
          <p:nvPr/>
        </p:nvSpPr>
        <p:spPr>
          <a:xfrm xmlns:a="http://schemas.openxmlformats.org/drawingml/2006/main">
            <a:off x="609600" y="14954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93C35"/>
                </a:solidFill>
                <a:latin typeface="Helvetica Neue"/>
                <a:ea typeface="Helvetica Neue"/>
                <a:cs typeface="Helvetica Neue"/>
              </a:defRPr>
            </a:defPPr>
            <a:lvl1pPr>
              <a:defRPr sz="3150" b="1">
                <a:solidFill>
                  <a:srgbClr val="193C35"/>
                </a:solidFill>
                <a:latin typeface="Helvetica Neue"/>
                <a:ea typeface="Helvetica Neue"/>
                <a:cs typeface="Helvetica Neue"/>
              </a:defRPr>
            </a:lvl1pPr>
            <a:lvl2pPr>
              <a:defRPr sz="3150" b="1">
                <a:solidFill>
                  <a:srgbClr val="193C35"/>
                </a:solidFill>
                <a:latin typeface="Helvetica Neue"/>
                <a:ea typeface="Helvetica Neue"/>
                <a:cs typeface="Helvetica Neue"/>
              </a:defRPr>
            </a:lvl2pPr>
            <a:lvl3pPr>
              <a:defRPr sz="3150" b="1">
                <a:solidFill>
                  <a:srgbClr val="193C35"/>
                </a:solidFill>
                <a:latin typeface="Helvetica Neue"/>
                <a:ea typeface="Helvetica Neue"/>
                <a:cs typeface="Helvetica Neue"/>
              </a:defRPr>
            </a:lvl3pPr>
            <a:lvl4pPr>
              <a:defRPr sz="3150" b="1">
                <a:solidFill>
                  <a:srgbClr val="193C35"/>
                </a:solidFill>
                <a:latin typeface="Helvetica Neue"/>
                <a:ea typeface="Helvetica Neue"/>
                <a:cs typeface="Helvetica Neue"/>
              </a:defRPr>
            </a:lvl4pPr>
            <a:lvl5pPr>
              <a:defRPr sz="3150" b="1">
                <a:solidFill>
                  <a:srgbClr val="193C35"/>
                </a:solidFill>
                <a:latin typeface="Helvetica Neue"/>
                <a:ea typeface="Helvetica Neue"/>
                <a:cs typeface="Helvetica Neue"/>
              </a:defRPr>
            </a:lvl5pPr>
            <a:lvl6pPr>
              <a:defRPr sz="3150" b="1">
                <a:solidFill>
                  <a:srgbClr val="193C35"/>
                </a:solidFill>
                <a:latin typeface="Helvetica Neue"/>
                <a:ea typeface="Helvetica Neue"/>
                <a:cs typeface="Helvetica Neue"/>
              </a:defRPr>
            </a:lvl6pPr>
            <a:lvl7pPr>
              <a:defRPr sz="3150" b="1">
                <a:solidFill>
                  <a:srgbClr val="193C35"/>
                </a:solidFill>
                <a:latin typeface="Helvetica Neue"/>
                <a:ea typeface="Helvetica Neue"/>
                <a:cs typeface="Helvetica Neue"/>
              </a:defRPr>
            </a:lvl7pPr>
            <a:lvl8pPr>
              <a:defRPr sz="3150" b="1">
                <a:solidFill>
                  <a:srgbClr val="193C35"/>
                </a:solidFill>
                <a:latin typeface="Helvetica Neue"/>
                <a:ea typeface="Helvetica Neue"/>
                <a:cs typeface="Helvetica Neue"/>
              </a:defRPr>
            </a:lvl8pPr>
            <a:lvl9pPr>
              <a:defRPr sz="3150" b="1">
                <a:solidFill>
                  <a:srgbClr val="193C35"/>
                </a:solidFill>
                <a:latin typeface="Helvetica Neue"/>
                <a:ea typeface="Helvetica Neue"/>
                <a:cs typeface="Helvetica Neue"/>
              </a:defRPr>
            </a:lvl9pPr>
          </a:lstStyle>
          <a:p xmlns:a="http://schemas.openxmlformats.org/drawingml/2006/main">
            <a:pPr>
              <a:defRPr sz="3150" b="1">
                <a:solidFill>
                  <a:srgbClr val="193C35"/>
                </a:solidFill>
                <a:latin typeface="Helvetica Neue"/>
                <a:ea typeface="Helvetica Neue"/>
                <a:cs typeface="Helvetica Neue"/>
              </a:defRPr>
            </a:pPr>
            <a:r>
              <a:rPr sz="3150" b="1">
                <a:solidFill>
                  <a:srgbClr val="193C35"/>
                </a:solidFill>
                <a:latin typeface="Helvetica Neue"/>
                <a:ea typeface="Helvetica Neue"/>
                <a:cs typeface="Helvetica Neue"/>
              </a:rPr>
              <a:t>328 application + 16 reference checks</a:t>
            </a:r>
          </a:p>
        </p:txBody>
      </p:sp>
      <p:sp>
        <p:nvSpPr>
          <p:cNvPr id="5" name="">
            <a:extLst xmlns:a="http://schemas.openxmlformats.org/drawingml/2006/main">
              <a:ext uri="{FF2B5EF4-FFF2-40B4-BE49-F238E27FC236}">
                <a16:creationId xmlns:a16="http://schemas.microsoft.com/office/drawing/2014/main" id="{069E2463-EFDB-44C0-A2CF-E859606C7C74}"/>
              </a:ext>
            </a:extLst>
          </p:cNvPr>
          <p:cNvSpPr>
            <a:spLocks xmlns:a="http://schemas.openxmlformats.org/drawingml/2006/main" noGrp="1"/>
          </p:cNvSpPr>
          <p:nvPr/>
        </p:nvSpPr>
        <p:spPr>
          <a:xfrm xmlns:a="http://schemas.openxmlformats.org/drawingml/2006/main">
            <a:off x="609600" y="2190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93C35"/>
                </a:solidFill>
                <a:latin typeface="Helvetica Neue"/>
                <a:ea typeface="Helvetica Neue"/>
                <a:cs typeface="Helvetica Neue"/>
              </a:defRPr>
            </a:defPPr>
            <a:lvl1pPr>
              <a:defRPr sz="2175" b="0">
                <a:solidFill>
                  <a:srgbClr val="193C35"/>
                </a:solidFill>
                <a:latin typeface="Helvetica Neue"/>
                <a:ea typeface="Helvetica Neue"/>
                <a:cs typeface="Helvetica Neue"/>
              </a:defRPr>
            </a:lvl1pPr>
            <a:lvl2pPr>
              <a:defRPr sz="2175" b="0">
                <a:solidFill>
                  <a:srgbClr val="193C35"/>
                </a:solidFill>
                <a:latin typeface="Helvetica Neue"/>
                <a:ea typeface="Helvetica Neue"/>
                <a:cs typeface="Helvetica Neue"/>
              </a:defRPr>
            </a:lvl2pPr>
            <a:lvl3pPr>
              <a:defRPr sz="2175" b="0">
                <a:solidFill>
                  <a:srgbClr val="193C35"/>
                </a:solidFill>
                <a:latin typeface="Helvetica Neue"/>
                <a:ea typeface="Helvetica Neue"/>
                <a:cs typeface="Helvetica Neue"/>
              </a:defRPr>
            </a:lvl3pPr>
            <a:lvl4pPr>
              <a:defRPr sz="2175" b="0">
                <a:solidFill>
                  <a:srgbClr val="193C35"/>
                </a:solidFill>
                <a:latin typeface="Helvetica Neue"/>
                <a:ea typeface="Helvetica Neue"/>
                <a:cs typeface="Helvetica Neue"/>
              </a:defRPr>
            </a:lvl4pPr>
            <a:lvl5pPr>
              <a:defRPr sz="2175" b="0">
                <a:solidFill>
                  <a:srgbClr val="193C35"/>
                </a:solidFill>
                <a:latin typeface="Helvetica Neue"/>
                <a:ea typeface="Helvetica Neue"/>
                <a:cs typeface="Helvetica Neue"/>
              </a:defRPr>
            </a:lvl5pPr>
            <a:lvl6pPr>
              <a:defRPr sz="2175" b="0">
                <a:solidFill>
                  <a:srgbClr val="193C35"/>
                </a:solidFill>
                <a:latin typeface="Helvetica Neue"/>
                <a:ea typeface="Helvetica Neue"/>
                <a:cs typeface="Helvetica Neue"/>
              </a:defRPr>
            </a:lvl6pPr>
            <a:lvl7pPr>
              <a:defRPr sz="2175" b="0">
                <a:solidFill>
                  <a:srgbClr val="193C35"/>
                </a:solidFill>
                <a:latin typeface="Helvetica Neue"/>
                <a:ea typeface="Helvetica Neue"/>
                <a:cs typeface="Helvetica Neue"/>
              </a:defRPr>
            </a:lvl7pPr>
            <a:lvl8pPr>
              <a:defRPr sz="2175" b="0">
                <a:solidFill>
                  <a:srgbClr val="193C35"/>
                </a:solidFill>
                <a:latin typeface="Helvetica Neue"/>
                <a:ea typeface="Helvetica Neue"/>
                <a:cs typeface="Helvetica Neue"/>
              </a:defRPr>
            </a:lvl8pPr>
            <a:lvl9pPr>
              <a:defRPr sz="2175" b="0">
                <a:solidFill>
                  <a:srgbClr val="193C35"/>
                </a:solidFill>
                <a:latin typeface="Helvetica Neue"/>
                <a:ea typeface="Helvetica Neue"/>
                <a:cs typeface="Helvetica Neue"/>
              </a:defRPr>
            </a:lvl9pPr>
          </a:lstStyle>
          <a:p xmlns:a="http://schemas.openxmlformats.org/drawingml/2006/main">
            <a:pPr>
              <a:defRPr sz="2175" b="0">
                <a:solidFill>
                  <a:srgbClr val="193C35"/>
                </a:solidFill>
                <a:latin typeface="Helvetica Neue"/>
                <a:ea typeface="Helvetica Neue"/>
                <a:cs typeface="Helvetica Neue"/>
              </a:defRPr>
            </a:pPr>
            <a:r>
              <a:rPr sz="2175" b="0">
                <a:solidFill>
                  <a:srgbClr val="193C35"/>
                </a:solidFill>
                <a:latin typeface="Helvetica Neue"/>
                <a:ea typeface="Helvetica Neue"/>
                <a:cs typeface="Helvetica Neue"/>
              </a:rPr>
              <a:t>344 passed, 0 failures, 0 skips</a:t>
            </a:r>
          </a:p>
        </p:txBody>
      </p:sp>
      <p:graphicFrame>
        <p:nvGraphicFramePr>
          <p:cNvPr id="6" name="">
            <a:extLst xmlns:a="http://schemas.openxmlformats.org/drawingml/2006/main">
              <a:ext uri="{FF2B5EF4-FFF2-40B4-BE49-F238E27FC236}">
                <a16:creationId xmlns:a16="http://schemas.microsoft.com/office/drawing/2014/main" id="{DD011260-CFA7-4BBD-944D-027889D265BB}"/>
              </a:ext>
            </a:extLst>
          </p:cNvPr>
          <p:cNvGraphicFramePr/>
          <p:nvPr/>
        </p:nvGraphicFramePr>
        <p:xfrm>
          <a:off xmlns:a="http://schemas.openxmlformats.org/drawingml/2006/main" x="609600" y="2895600"/>
          <a:ext xmlns:a="http://schemas.openxmlformats.org/drawingml/2006/main" cx="10972800" cy="2476500"/>
        </p:xfrm>
        <a:graphic xmlns:a="http://schemas.openxmlformats.org/drawingml/2006/main">
          <a:graphicData uri="http://schemas.openxmlformats.org/drawingml/2006/table">
            <a:tbl>
              <a:tblPr/>
              <a:tblGrid>
                <a:gridCol w="3333750"/>
                <a:gridCol w="7639050"/>
              </a:tblGrid>
              <a:tr h="495300">
                <a:tc>
                  <a:txBody>
                    <a:bodyPr/>
                    <a:lstStyle/>
                    <a:p>
                      <a:r>
                        <a:rPr sz="1875" b="1">
                          <a:solidFill>
                            <a:srgbClr val="FFFFFF"/>
                          </a:solidFill>
                          <a:latin typeface="Helvetica Neue"/>
                          <a:ea typeface="Helvetica Neue"/>
                          <a:cs typeface="Helvetica Neue"/>
                        </a:rPr>
                        <a:t>Isolated case</a:t>
                      </a:r>
                    </a:p>
                  </a:txBody>
                  <a:tcPr marL="91440" marR="91440" marT="45720" marB="45720">
                    <a:lnL w="9525">
                      <a:solidFill>
                        <a:srgbClr val="B7C4BA"/>
                      </a:solidFill>
                      <a:prstDash val="solid"/>
                    </a:lnL>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c>
                  <a:txBody>
                    <a:bodyPr/>
                    <a:lstStyle/>
                    <a:p>
                      <a:r>
                        <a:rPr sz="1875" b="1">
                          <a:solidFill>
                            <a:srgbClr val="FFFFFF"/>
                          </a:solidFill>
                          <a:latin typeface="Helvetica Neue"/>
                          <a:ea typeface="Helvetica Neue"/>
                          <a:cs typeface="Helvetica Neue"/>
                        </a:rPr>
                        <a:t>Recorded outcome</a:t>
                      </a:r>
                    </a:p>
                  </a:txBody>
                  <a:tcPr marL="91440" marR="91440" marT="45720" marB="45720">
                    <a:lnR w="9525">
                      <a:solidFill>
                        <a:srgbClr val="B7C4BA"/>
                      </a:solidFill>
                      <a:prstDash val="solid"/>
                    </a:lnR>
                    <a:lnT w="9525">
                      <a:solidFill>
                        <a:srgbClr val="B7C4BA"/>
                      </a:solidFill>
                      <a:prstDash val="solid"/>
                    </a:lnT>
                    <a:lnB w="9525">
                      <a:solidFill>
                        <a:srgbClr val="B7C4BA"/>
                      </a:solidFill>
                      <a:prstDash val="solid"/>
                    </a:lnB>
                    <a:solidFill>
                      <a:srgbClr val="193C35"/>
                    </a:solidFill>
                  </a:tcPr>
                </a:tc>
              </a:tr>
              <a:tr h="495300">
                <a:tc>
                  <a:txBody>
                    <a:bodyPr/>
                    <a:lstStyle/>
                    <a:p>
                      <a:r>
                        <a:rPr sz="1875" b="0">
                          <a:solidFill>
                            <a:srgbClr val="193C35"/>
                          </a:solidFill>
                          <a:latin typeface="Helvetica Neue"/>
                          <a:ea typeface="Helvetica Neue"/>
                          <a:cs typeface="Helvetica Neue"/>
                        </a:rPr>
                        <a:t>DP-0014</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875" b="0">
                          <a:solidFill>
                            <a:srgbClr val="193C35"/>
                          </a:solidFill>
                          <a:latin typeface="Helvetica Neue"/>
                          <a:ea typeface="Helvetica Neue"/>
                          <a:cs typeface="Helvetica Neue"/>
                        </a:rPr>
                        <a:t>Simulated provisional credit</a:t>
                      </a:r>
                    </a:p>
                  </a:txBody>
                  <a:tcPr marL="91440" marR="91440" marT="45720" marB="45720">
                    <a:lnR w="9525">
                      <a:solidFill>
                        <a:srgbClr val="B7C4BA"/>
                      </a:solidFill>
                      <a:prstDash val="solid"/>
                    </a:lnR>
                    <a:lnB w="9525">
                      <a:solidFill>
                        <a:srgbClr val="B7C4BA"/>
                      </a:solidFill>
                      <a:prstDash val="solid"/>
                    </a:lnB>
                    <a:solidFill>
                      <a:srgbClr val="F4F5EF"/>
                    </a:solidFill>
                  </a:tcPr>
                </a:tc>
              </a:tr>
              <a:tr h="495300">
                <a:tc>
                  <a:txBody>
                    <a:bodyPr/>
                    <a:lstStyle/>
                    <a:p>
                      <a:r>
                        <a:rPr sz="1875" b="0">
                          <a:solidFill>
                            <a:srgbClr val="193C35"/>
                          </a:solidFill>
                          <a:latin typeface="Helvetica Neue"/>
                          <a:ea typeface="Helvetica Neue"/>
                          <a:cs typeface="Helvetica Neue"/>
                        </a:rPr>
                        <a:t>DP-0020</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875" b="0">
                          <a:solidFill>
                            <a:srgbClr val="193C35"/>
                          </a:solidFill>
                          <a:latin typeface="Helvetica Neue"/>
                          <a:ea typeface="Helvetica Neue"/>
                          <a:cs typeface="Helvetica Neue"/>
                        </a:rPr>
                        <a:t>Request missing evidence</a:t>
                      </a:r>
                    </a:p>
                  </a:txBody>
                  <a:tcPr marL="91440" marR="91440" marT="45720" marB="45720">
                    <a:lnR w="9525">
                      <a:solidFill>
                        <a:srgbClr val="B7C4BA"/>
                      </a:solidFill>
                      <a:prstDash val="solid"/>
                    </a:lnR>
                    <a:lnB w="9525">
                      <a:solidFill>
                        <a:srgbClr val="B7C4BA"/>
                      </a:solidFill>
                      <a:prstDash val="solid"/>
                    </a:lnB>
                    <a:solidFill>
                      <a:srgbClr val="F4F5EF"/>
                    </a:solidFill>
                  </a:tcPr>
                </a:tc>
              </a:tr>
              <a:tr h="495300">
                <a:tc>
                  <a:txBody>
                    <a:bodyPr/>
                    <a:lstStyle/>
                    <a:p>
                      <a:r>
                        <a:rPr sz="1875" b="0">
                          <a:solidFill>
                            <a:srgbClr val="193C35"/>
                          </a:solidFill>
                          <a:latin typeface="Helvetica Neue"/>
                          <a:ea typeface="Helvetica Neue"/>
                          <a:cs typeface="Helvetica Neue"/>
                        </a:rPr>
                        <a:t>DP-0029</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875" b="0">
                          <a:solidFill>
                            <a:srgbClr val="193C35"/>
                          </a:solidFill>
                          <a:latin typeface="Helvetica Neue"/>
                          <a:ea typeface="Helvetica Neue"/>
                          <a:cs typeface="Helvetica Neue"/>
                        </a:rPr>
                        <a:t>Decline</a:t>
                      </a:r>
                    </a:p>
                  </a:txBody>
                  <a:tcPr marL="91440" marR="91440" marT="45720" marB="45720">
                    <a:lnR w="9525">
                      <a:solidFill>
                        <a:srgbClr val="B7C4BA"/>
                      </a:solidFill>
                      <a:prstDash val="solid"/>
                    </a:lnR>
                    <a:lnB w="9525">
                      <a:solidFill>
                        <a:srgbClr val="B7C4BA"/>
                      </a:solidFill>
                      <a:prstDash val="solid"/>
                    </a:lnB>
                    <a:solidFill>
                      <a:srgbClr val="F4F5EF"/>
                    </a:solidFill>
                  </a:tcPr>
                </a:tc>
              </a:tr>
              <a:tr h="495300">
                <a:tc>
                  <a:txBody>
                    <a:bodyPr/>
                    <a:lstStyle/>
                    <a:p>
                      <a:r>
                        <a:rPr sz="1875" b="0">
                          <a:solidFill>
                            <a:srgbClr val="193C35"/>
                          </a:solidFill>
                          <a:latin typeface="Helvetica Neue"/>
                          <a:ea typeface="Helvetica Neue"/>
                          <a:cs typeface="Helvetica Neue"/>
                        </a:rPr>
                        <a:t>DP-0008</a:t>
                      </a:r>
                    </a:p>
                  </a:txBody>
                  <a:tcPr marL="91440" marR="91440" marT="45720" marB="45720">
                    <a:lnL w="9525">
                      <a:solidFill>
                        <a:srgbClr val="B7C4BA"/>
                      </a:solidFill>
                      <a:prstDash val="solid"/>
                    </a:lnL>
                    <a:lnR w="9525">
                      <a:solidFill>
                        <a:srgbClr val="B7C4BA"/>
                      </a:solidFill>
                      <a:prstDash val="solid"/>
                    </a:lnR>
                    <a:lnB w="9525">
                      <a:solidFill>
                        <a:srgbClr val="B7C4BA"/>
                      </a:solidFill>
                      <a:prstDash val="solid"/>
                    </a:lnB>
                    <a:solidFill>
                      <a:srgbClr val="F4F5EF"/>
                    </a:solidFill>
                  </a:tcPr>
                </a:tc>
                <a:tc>
                  <a:txBody>
                    <a:bodyPr/>
                    <a:lstStyle/>
                    <a:p>
                      <a:r>
                        <a:rPr sz="1875" b="0">
                          <a:solidFill>
                            <a:srgbClr val="193C35"/>
                          </a:solidFill>
                          <a:latin typeface="Helvetica Neue"/>
                          <a:ea typeface="Helvetica Neue"/>
                          <a:cs typeface="Helvetica Neue"/>
                        </a:rPr>
                        <a:t>Human review</a:t>
                      </a:r>
                    </a:p>
                  </a:txBody>
                  <a:tcPr marL="91440" marR="91440" marT="45720" marB="45720">
                    <a:lnR w="9525">
                      <a:solidFill>
                        <a:srgbClr val="B7C4BA"/>
                      </a:solidFill>
                      <a:prstDash val="solid"/>
                    </a:lnR>
                    <a:lnB w="9525">
                      <a:solidFill>
                        <a:srgbClr val="B7C4BA"/>
                      </a:solidFill>
                      <a:prstDash val="solid"/>
                    </a:lnB>
                    <a:solidFill>
                      <a:srgbClr val="F4F5EF"/>
                    </a:solidFill>
                  </a:tcPr>
                </a:tc>
              </a:tr>
            </a:tbl>
          </a:graphicData>
        </a:graphic>
      </p:graphicFrame>
      <p:sp>
        <p:nvSpPr>
          <p:cNvPr id="7" name="">
            <a:extLst xmlns:a="http://schemas.openxmlformats.org/drawingml/2006/main">
              <a:ext uri="{FF2B5EF4-FFF2-40B4-BE49-F238E27FC236}">
                <a16:creationId xmlns:a16="http://schemas.microsoft.com/office/drawing/2014/main" id="{561EF6C6-0840-40BF-BBD4-4D2387D8E8BF}"/>
              </a:ext>
            </a:extLst>
          </p:cNvPr>
          <p:cNvSpPr>
            <a:spLocks xmlns:a="http://schemas.openxmlformats.org/drawingml/2006/main" noGrp="1"/>
          </p:cNvSpPr>
          <p:nvPr/>
        </p:nvSpPr>
        <p:spPr>
          <a:xfrm xmlns:a="http://schemas.openxmlformats.org/drawingml/2006/main">
            <a:off x="609600" y="561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93C35"/>
                </a:solidFill>
                <a:latin typeface="Helvetica Neue"/>
                <a:ea typeface="Helvetica Neue"/>
                <a:cs typeface="Helvetica Neue"/>
              </a:defRPr>
            </a:defPPr>
            <a:lvl1pPr>
              <a:defRPr sz="1875" b="1">
                <a:solidFill>
                  <a:srgbClr val="193C35"/>
                </a:solidFill>
                <a:latin typeface="Helvetica Neue"/>
                <a:ea typeface="Helvetica Neue"/>
                <a:cs typeface="Helvetica Neue"/>
              </a:defRPr>
            </a:lvl1pPr>
            <a:lvl2pPr>
              <a:defRPr sz="1875" b="1">
                <a:solidFill>
                  <a:srgbClr val="193C35"/>
                </a:solidFill>
                <a:latin typeface="Helvetica Neue"/>
                <a:ea typeface="Helvetica Neue"/>
                <a:cs typeface="Helvetica Neue"/>
              </a:defRPr>
            </a:lvl2pPr>
            <a:lvl3pPr>
              <a:defRPr sz="1875" b="1">
                <a:solidFill>
                  <a:srgbClr val="193C35"/>
                </a:solidFill>
                <a:latin typeface="Helvetica Neue"/>
                <a:ea typeface="Helvetica Neue"/>
                <a:cs typeface="Helvetica Neue"/>
              </a:defRPr>
            </a:lvl3pPr>
            <a:lvl4pPr>
              <a:defRPr sz="1875" b="1">
                <a:solidFill>
                  <a:srgbClr val="193C35"/>
                </a:solidFill>
                <a:latin typeface="Helvetica Neue"/>
                <a:ea typeface="Helvetica Neue"/>
                <a:cs typeface="Helvetica Neue"/>
              </a:defRPr>
            </a:lvl4pPr>
            <a:lvl5pPr>
              <a:defRPr sz="1875" b="1">
                <a:solidFill>
                  <a:srgbClr val="193C35"/>
                </a:solidFill>
                <a:latin typeface="Helvetica Neue"/>
                <a:ea typeface="Helvetica Neue"/>
                <a:cs typeface="Helvetica Neue"/>
              </a:defRPr>
            </a:lvl5pPr>
            <a:lvl6pPr>
              <a:defRPr sz="1875" b="1">
                <a:solidFill>
                  <a:srgbClr val="193C35"/>
                </a:solidFill>
                <a:latin typeface="Helvetica Neue"/>
                <a:ea typeface="Helvetica Neue"/>
                <a:cs typeface="Helvetica Neue"/>
              </a:defRPr>
            </a:lvl6pPr>
            <a:lvl7pPr>
              <a:defRPr sz="1875" b="1">
                <a:solidFill>
                  <a:srgbClr val="193C35"/>
                </a:solidFill>
                <a:latin typeface="Helvetica Neue"/>
                <a:ea typeface="Helvetica Neue"/>
                <a:cs typeface="Helvetica Neue"/>
              </a:defRPr>
            </a:lvl7pPr>
            <a:lvl8pPr>
              <a:defRPr sz="1875" b="1">
                <a:solidFill>
                  <a:srgbClr val="193C35"/>
                </a:solidFill>
                <a:latin typeface="Helvetica Neue"/>
                <a:ea typeface="Helvetica Neue"/>
                <a:cs typeface="Helvetica Neue"/>
              </a:defRPr>
            </a:lvl8pPr>
            <a:lvl9pPr>
              <a:defRPr sz="1875" b="1">
                <a:solidFill>
                  <a:srgbClr val="193C35"/>
                </a:solidFill>
                <a:latin typeface="Helvetica Neue"/>
                <a:ea typeface="Helvetica Neue"/>
                <a:cs typeface="Helvetica Neue"/>
              </a:defRPr>
            </a:lvl9pPr>
          </a:lstStyle>
          <a:p xmlns:a="http://schemas.openxmlformats.org/drawingml/2006/main">
            <a:pPr>
              <a:defRPr sz="1875" b="1">
                <a:solidFill>
                  <a:srgbClr val="193C35"/>
                </a:solidFill>
                <a:latin typeface="Helvetica Neue"/>
                <a:ea typeface="Helvetica Neue"/>
                <a:cs typeface="Helvetica Neue"/>
              </a:defRPr>
            </a:pPr>
            <a:r>
              <a:rPr sz="1875" b="1">
                <a:solidFill>
                  <a:srgbClr val="193C35"/>
                </a:solidFill>
                <a:latin typeface="Helvetica Neue"/>
                <a:ea typeface="Helvetica Neue"/>
                <a:cs typeface="Helvetica Neue"/>
              </a:rPr>
              <a:t>Live DP-0029: conservative Reviewer objections stopped the run.</a:t>
            </a:r>
          </a:p>
          <a:p xmlns:a="http://schemas.openxmlformats.org/drawingml/2006/main">
            <a:pPr>
              <a:defRPr sz="1875" b="1">
                <a:solidFill>
                  <a:srgbClr val="193C35"/>
                </a:solidFill>
                <a:latin typeface="Helvetica Neue"/>
                <a:ea typeface="Helvetica Neue"/>
                <a:cs typeface="Helvetica Neue"/>
              </a:defRPr>
            </a:pPr>
            <a:r>
              <a:rPr sz="1875" b="1">
                <a:solidFill>
                  <a:srgbClr val="193C35"/>
                </a:solidFill>
                <a:latin typeface="Helvetica Neue"/>
                <a:ea typeface="Helvetica Neue"/>
                <a:cs typeface="Helvetica Neue"/>
              </a:rPr>
              <a:t>No decision, credit or review queue entry was written.</a:t>
            </a:r>
          </a:p>
        </p:txBody>
      </p:sp>
    </p:spTree>
    <p:extLst>
      <p:ext uri="{BB962C8B-B14F-4D97-AF65-F5344CB8AC3E}">
        <p14:creationId xmlns:p14="http://schemas.microsoft.com/office/powerpoint/2010/main" val="1864643514"/>
      </p:ext>
    </p:extLst>
  </p:cSld>
</p:sld>
</file>

<file path=ppt/slides/slide10.xml><?xml version="1.0" encoding="utf-8"?>
<p:sld xmlns:p="http://schemas.openxmlformats.org/presentationml/2006/main">
  <p:cSld>
    <p:bg>
      <p:bgPr>
        <a:solidFill xmlns:a="http://schemas.openxmlformats.org/drawingml/2006/main">
          <a:srgbClr val="19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BFC345-BC0B-4E2B-A430-5F7BF3F2A40A}"/>
              </a:ext>
            </a:extLst>
          </p:cNvPr>
          <p:cNvSpPr>
            <a:spLocks xmlns:a="http://schemas.openxmlformats.org/drawingml/2006/main" noGrp="1"/>
          </p:cNvSpPr>
          <p:nvPr/>
        </p:nvSpPr>
        <p:spPr>
          <a:xfrm xmlns:a="http://schemas.openxmlformats.org/drawingml/2006/main">
            <a:off x="609600" y="6324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D8E7CF"/>
                </a:solidFill>
                <a:latin typeface="Helvetica Neue"/>
                <a:ea typeface="Helvetica Neue"/>
                <a:cs typeface="Helvetica Neue"/>
              </a:defRPr>
            </a:defPPr>
            <a:lvl1pPr>
              <a:defRPr sz="1500" b="0">
                <a:solidFill>
                  <a:srgbClr val="D8E7CF"/>
                </a:solidFill>
                <a:latin typeface="Helvetica Neue"/>
                <a:ea typeface="Helvetica Neue"/>
                <a:cs typeface="Helvetica Neue"/>
              </a:defRPr>
            </a:lvl1pPr>
            <a:lvl2pPr>
              <a:defRPr sz="1500" b="0">
                <a:solidFill>
                  <a:srgbClr val="D8E7CF"/>
                </a:solidFill>
                <a:latin typeface="Helvetica Neue"/>
                <a:ea typeface="Helvetica Neue"/>
                <a:cs typeface="Helvetica Neue"/>
              </a:defRPr>
            </a:lvl2pPr>
            <a:lvl3pPr>
              <a:defRPr sz="1500" b="0">
                <a:solidFill>
                  <a:srgbClr val="D8E7CF"/>
                </a:solidFill>
                <a:latin typeface="Helvetica Neue"/>
                <a:ea typeface="Helvetica Neue"/>
                <a:cs typeface="Helvetica Neue"/>
              </a:defRPr>
            </a:lvl3pPr>
            <a:lvl4pPr>
              <a:defRPr sz="1500" b="0">
                <a:solidFill>
                  <a:srgbClr val="D8E7CF"/>
                </a:solidFill>
                <a:latin typeface="Helvetica Neue"/>
                <a:ea typeface="Helvetica Neue"/>
                <a:cs typeface="Helvetica Neue"/>
              </a:defRPr>
            </a:lvl4pPr>
            <a:lvl5pPr>
              <a:defRPr sz="1500" b="0">
                <a:solidFill>
                  <a:srgbClr val="D8E7CF"/>
                </a:solidFill>
                <a:latin typeface="Helvetica Neue"/>
                <a:ea typeface="Helvetica Neue"/>
                <a:cs typeface="Helvetica Neue"/>
              </a:defRPr>
            </a:lvl5pPr>
            <a:lvl6pPr>
              <a:defRPr sz="1500" b="0">
                <a:solidFill>
                  <a:srgbClr val="D8E7CF"/>
                </a:solidFill>
                <a:latin typeface="Helvetica Neue"/>
                <a:ea typeface="Helvetica Neue"/>
                <a:cs typeface="Helvetica Neue"/>
              </a:defRPr>
            </a:lvl6pPr>
            <a:lvl7pPr>
              <a:defRPr sz="1500" b="0">
                <a:solidFill>
                  <a:srgbClr val="D8E7CF"/>
                </a:solidFill>
                <a:latin typeface="Helvetica Neue"/>
                <a:ea typeface="Helvetica Neue"/>
                <a:cs typeface="Helvetica Neue"/>
              </a:defRPr>
            </a:lvl7pPr>
            <a:lvl8pPr>
              <a:defRPr sz="1500" b="0">
                <a:solidFill>
                  <a:srgbClr val="D8E7CF"/>
                </a:solidFill>
                <a:latin typeface="Helvetica Neue"/>
                <a:ea typeface="Helvetica Neue"/>
                <a:cs typeface="Helvetica Neue"/>
              </a:defRPr>
            </a:lvl8pPr>
            <a:lvl9pPr>
              <a:defRPr sz="1500" b="0">
                <a:solidFill>
                  <a:srgbClr val="D8E7CF"/>
                </a:solidFill>
                <a:latin typeface="Helvetica Neue"/>
                <a:ea typeface="Helvetica Neue"/>
                <a:cs typeface="Helvetica Neue"/>
              </a:defRPr>
            </a:lvl9pPr>
          </a:lstStyle>
          <a:p xmlns:a="http://schemas.openxmlformats.org/drawingml/2006/main">
            <a:pPr>
              <a:defRPr sz="1500" b="0">
                <a:solidFill>
                  <a:srgbClr val="D8E7CF"/>
                </a:solidFill>
                <a:latin typeface="Helvetica Neue"/>
                <a:ea typeface="Helvetica Neue"/>
                <a:cs typeface="Helvetica Neue"/>
              </a:defRPr>
            </a:pPr>
            <a:r>
              <a:rPr sz="1500" b="0">
                <a:solidFill>
                  <a:srgbClr val="D8E7CF"/>
                </a:solidFill>
                <a:latin typeface="Helvetica Neue"/>
                <a:ea typeface="Helvetica Neue"/>
                <a:cs typeface="Helvetica Neue"/>
              </a:rPr>
              <a:t>bob the builder / Track 3: Reasoning Architecture</a:t>
            </a:r>
          </a:p>
        </p:txBody>
      </p:sp>
      <p:sp>
        <p:nvSpPr>
          <p:cNvPr id="2" name="">
            <a:extLst xmlns:a="http://schemas.openxmlformats.org/drawingml/2006/main">
              <a:ext uri="{FF2B5EF4-FFF2-40B4-BE49-F238E27FC236}">
                <a16:creationId xmlns:a16="http://schemas.microsoft.com/office/drawing/2014/main" id="{82F30365-14FF-4AA9-9BCE-5199A34FCC43}"/>
              </a:ext>
            </a:extLst>
          </p:cNvPr>
          <p:cNvSpPr>
            <a:spLocks xmlns:a="http://schemas.openxmlformats.org/drawingml/2006/main" noGrp="1"/>
          </p:cNvSpPr>
          <p:nvPr/>
        </p:nvSpPr>
        <p:spPr>
          <a:xfrm xmlns:a="http://schemas.openxmlformats.org/drawingml/2006/main">
            <a:off x="11239500" y="63246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D8E7CF"/>
                </a:solidFill>
                <a:latin typeface="Helvetica Neue"/>
                <a:ea typeface="Helvetica Neue"/>
                <a:cs typeface="Helvetica Neue"/>
              </a:defRPr>
            </a:defPPr>
            <a:lvl1pPr>
              <a:defRPr sz="1425" b="0">
                <a:solidFill>
                  <a:srgbClr val="D8E7CF"/>
                </a:solidFill>
                <a:latin typeface="Helvetica Neue"/>
                <a:ea typeface="Helvetica Neue"/>
                <a:cs typeface="Helvetica Neue"/>
              </a:defRPr>
            </a:lvl1pPr>
            <a:lvl2pPr>
              <a:defRPr sz="1425" b="0">
                <a:solidFill>
                  <a:srgbClr val="D8E7CF"/>
                </a:solidFill>
                <a:latin typeface="Helvetica Neue"/>
                <a:ea typeface="Helvetica Neue"/>
                <a:cs typeface="Helvetica Neue"/>
              </a:defRPr>
            </a:lvl2pPr>
            <a:lvl3pPr>
              <a:defRPr sz="1425" b="0">
                <a:solidFill>
                  <a:srgbClr val="D8E7CF"/>
                </a:solidFill>
                <a:latin typeface="Helvetica Neue"/>
                <a:ea typeface="Helvetica Neue"/>
                <a:cs typeface="Helvetica Neue"/>
              </a:defRPr>
            </a:lvl3pPr>
            <a:lvl4pPr>
              <a:defRPr sz="1425" b="0">
                <a:solidFill>
                  <a:srgbClr val="D8E7CF"/>
                </a:solidFill>
                <a:latin typeface="Helvetica Neue"/>
                <a:ea typeface="Helvetica Neue"/>
                <a:cs typeface="Helvetica Neue"/>
              </a:defRPr>
            </a:lvl4pPr>
            <a:lvl5pPr>
              <a:defRPr sz="1425" b="0">
                <a:solidFill>
                  <a:srgbClr val="D8E7CF"/>
                </a:solidFill>
                <a:latin typeface="Helvetica Neue"/>
                <a:ea typeface="Helvetica Neue"/>
                <a:cs typeface="Helvetica Neue"/>
              </a:defRPr>
            </a:lvl5pPr>
            <a:lvl6pPr>
              <a:defRPr sz="1425" b="0">
                <a:solidFill>
                  <a:srgbClr val="D8E7CF"/>
                </a:solidFill>
                <a:latin typeface="Helvetica Neue"/>
                <a:ea typeface="Helvetica Neue"/>
                <a:cs typeface="Helvetica Neue"/>
              </a:defRPr>
            </a:lvl6pPr>
            <a:lvl7pPr>
              <a:defRPr sz="1425" b="0">
                <a:solidFill>
                  <a:srgbClr val="D8E7CF"/>
                </a:solidFill>
                <a:latin typeface="Helvetica Neue"/>
                <a:ea typeface="Helvetica Neue"/>
                <a:cs typeface="Helvetica Neue"/>
              </a:defRPr>
            </a:lvl7pPr>
            <a:lvl8pPr>
              <a:defRPr sz="1425" b="0">
                <a:solidFill>
                  <a:srgbClr val="D8E7CF"/>
                </a:solidFill>
                <a:latin typeface="Helvetica Neue"/>
                <a:ea typeface="Helvetica Neue"/>
                <a:cs typeface="Helvetica Neue"/>
              </a:defRPr>
            </a:lvl8pPr>
            <a:lvl9pPr>
              <a:defRPr sz="1425" b="0">
                <a:solidFill>
                  <a:srgbClr val="D8E7CF"/>
                </a:solidFill>
                <a:latin typeface="Helvetica Neue"/>
                <a:ea typeface="Helvetica Neue"/>
                <a:cs typeface="Helvetica Neue"/>
              </a:defRPr>
            </a:lvl9pPr>
          </a:lstStyle>
          <a:p xmlns:a="http://schemas.openxmlformats.org/drawingml/2006/main">
            <a:pPr>
              <a:defRPr sz="1425" b="0">
                <a:solidFill>
                  <a:srgbClr val="D8E7CF"/>
                </a:solidFill>
                <a:latin typeface="Helvetica Neue"/>
                <a:ea typeface="Helvetica Neue"/>
                <a:cs typeface="Helvetica Neue"/>
              </a:defRPr>
            </a:pPr>
            <a:r>
              <a:rPr sz="1425" b="0">
                <a:solidFill>
                  <a:srgbClr val="D8E7C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B7AC2685-9CE8-4DD2-B80A-2BB7CCF2444A}"/>
              </a:ext>
            </a:extLst>
          </p:cNvPr>
          <p:cNvSpPr>
            <a:spLocks xmlns:a="http://schemas.openxmlformats.org/drawingml/2006/main" noGrp="1"/>
          </p:cNvSpPr>
          <p:nvPr/>
        </p:nvSpPr>
        <p:spPr>
          <a:xfrm xmlns:a="http://schemas.openxmlformats.org/drawingml/2006/main">
            <a:off x="609600" y="1143000"/>
            <a:ext cx="109728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00" b="1">
                <a:solidFill>
                  <a:srgbClr val="F4F5EF"/>
                </a:solidFill>
                <a:latin typeface="Helvetica Neue"/>
                <a:ea typeface="Helvetica Neue"/>
                <a:cs typeface="Helvetica Neue"/>
              </a:defRPr>
            </a:defPPr>
            <a:lvl1pPr>
              <a:defRPr sz="4500" b="1">
                <a:solidFill>
                  <a:srgbClr val="F4F5EF"/>
                </a:solidFill>
                <a:latin typeface="Helvetica Neue"/>
                <a:ea typeface="Helvetica Neue"/>
                <a:cs typeface="Helvetica Neue"/>
              </a:defRPr>
            </a:lvl1pPr>
            <a:lvl2pPr>
              <a:defRPr sz="4500" b="1">
                <a:solidFill>
                  <a:srgbClr val="F4F5EF"/>
                </a:solidFill>
                <a:latin typeface="Helvetica Neue"/>
                <a:ea typeface="Helvetica Neue"/>
                <a:cs typeface="Helvetica Neue"/>
              </a:defRPr>
            </a:lvl2pPr>
            <a:lvl3pPr>
              <a:defRPr sz="4500" b="1">
                <a:solidFill>
                  <a:srgbClr val="F4F5EF"/>
                </a:solidFill>
                <a:latin typeface="Helvetica Neue"/>
                <a:ea typeface="Helvetica Neue"/>
                <a:cs typeface="Helvetica Neue"/>
              </a:defRPr>
            </a:lvl3pPr>
            <a:lvl4pPr>
              <a:defRPr sz="4500" b="1">
                <a:solidFill>
                  <a:srgbClr val="F4F5EF"/>
                </a:solidFill>
                <a:latin typeface="Helvetica Neue"/>
                <a:ea typeface="Helvetica Neue"/>
                <a:cs typeface="Helvetica Neue"/>
              </a:defRPr>
            </a:lvl4pPr>
            <a:lvl5pPr>
              <a:defRPr sz="4500" b="1">
                <a:solidFill>
                  <a:srgbClr val="F4F5EF"/>
                </a:solidFill>
                <a:latin typeface="Helvetica Neue"/>
                <a:ea typeface="Helvetica Neue"/>
                <a:cs typeface="Helvetica Neue"/>
              </a:defRPr>
            </a:lvl5pPr>
            <a:lvl6pPr>
              <a:defRPr sz="4500" b="1">
                <a:solidFill>
                  <a:srgbClr val="F4F5EF"/>
                </a:solidFill>
                <a:latin typeface="Helvetica Neue"/>
                <a:ea typeface="Helvetica Neue"/>
                <a:cs typeface="Helvetica Neue"/>
              </a:defRPr>
            </a:lvl6pPr>
            <a:lvl7pPr>
              <a:defRPr sz="4500" b="1">
                <a:solidFill>
                  <a:srgbClr val="F4F5EF"/>
                </a:solidFill>
                <a:latin typeface="Helvetica Neue"/>
                <a:ea typeface="Helvetica Neue"/>
                <a:cs typeface="Helvetica Neue"/>
              </a:defRPr>
            </a:lvl7pPr>
            <a:lvl8pPr>
              <a:defRPr sz="4500" b="1">
                <a:solidFill>
                  <a:srgbClr val="F4F5EF"/>
                </a:solidFill>
                <a:latin typeface="Helvetica Neue"/>
                <a:ea typeface="Helvetica Neue"/>
                <a:cs typeface="Helvetica Neue"/>
              </a:defRPr>
            </a:lvl8pPr>
            <a:lvl9pPr>
              <a:defRPr sz="4500" b="1">
                <a:solidFill>
                  <a:srgbClr val="F4F5EF"/>
                </a:solidFill>
                <a:latin typeface="Helvetica Neue"/>
                <a:ea typeface="Helvetica Neue"/>
                <a:cs typeface="Helvetica Neue"/>
              </a:defRPr>
            </a:lvl9pPr>
          </a:lstStyle>
          <a:p xmlns:a="http://schemas.openxmlformats.org/drawingml/2006/main">
            <a:pPr>
              <a:defRPr sz="4500" b="1">
                <a:solidFill>
                  <a:srgbClr val="F4F5EF"/>
                </a:solidFill>
                <a:latin typeface="Helvetica Neue"/>
                <a:ea typeface="Helvetica Neue"/>
                <a:cs typeface="Helvetica Neue"/>
              </a:defRPr>
            </a:pPr>
            <a:r>
              <a:rPr sz="4500" b="1">
                <a:solidFill>
                  <a:srgbClr val="F4F5EF"/>
                </a:solidFill>
                <a:latin typeface="Helvetica Neue"/>
                <a:ea typeface="Helvetica Neue"/>
                <a:cs typeface="Helvetica Neue"/>
              </a:rPr>
              <a:t>Evidence-backed decisions</a:t>
            </a:r>
          </a:p>
          <a:p xmlns:a="http://schemas.openxmlformats.org/drawingml/2006/main">
            <a:pPr>
              <a:defRPr sz="4500" b="1">
                <a:solidFill>
                  <a:srgbClr val="F4F5EF"/>
                </a:solidFill>
                <a:latin typeface="Helvetica Neue"/>
                <a:ea typeface="Helvetica Neue"/>
                <a:cs typeface="Helvetica Neue"/>
              </a:defRPr>
            </a:pPr>
            <a:r>
              <a:rPr sz="4500" b="1">
                <a:solidFill>
                  <a:srgbClr val="F4F5EF"/>
                </a:solidFill>
                <a:latin typeface="Helvetica Neue"/>
                <a:ea typeface="Helvetica Neue"/>
                <a:cs typeface="Helvetica Neue"/>
              </a:rPr>
              <a:t>with controlled actions</a:t>
            </a:r>
          </a:p>
        </p:txBody>
      </p:sp>
      <p:sp>
        <p:nvSpPr>
          <p:cNvPr id="4" name="">
            <a:extLst xmlns:a="http://schemas.openxmlformats.org/drawingml/2006/main">
              <a:ext uri="{FF2B5EF4-FFF2-40B4-BE49-F238E27FC236}">
                <a16:creationId xmlns:a16="http://schemas.microsoft.com/office/drawing/2014/main" id="{3AF57007-21BE-49F0-A619-60330877DAD5}"/>
              </a:ext>
            </a:extLst>
          </p:cNvPr>
          <p:cNvSpPr>
            <a:spLocks xmlns:a="http://schemas.openxmlformats.org/drawingml/2006/main" noGrp="1"/>
          </p:cNvSpPr>
          <p:nvPr/>
        </p:nvSpPr>
        <p:spPr>
          <a:xfrm xmlns:a="http://schemas.openxmlformats.org/drawingml/2006/main">
            <a:off x="609600" y="32861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D8E7CF"/>
                </a:solidFill>
                <a:latin typeface="Helvetica Neue"/>
                <a:ea typeface="Helvetica Neue"/>
                <a:cs typeface="Helvetica Neue"/>
              </a:defRPr>
            </a:defPPr>
            <a:lvl1pPr>
              <a:defRPr sz="2400" b="0">
                <a:solidFill>
                  <a:srgbClr val="D8E7CF"/>
                </a:solidFill>
                <a:latin typeface="Helvetica Neue"/>
                <a:ea typeface="Helvetica Neue"/>
                <a:cs typeface="Helvetica Neue"/>
              </a:defRPr>
            </a:lvl1pPr>
            <a:lvl2pPr>
              <a:defRPr sz="2400" b="0">
                <a:solidFill>
                  <a:srgbClr val="D8E7CF"/>
                </a:solidFill>
                <a:latin typeface="Helvetica Neue"/>
                <a:ea typeface="Helvetica Neue"/>
                <a:cs typeface="Helvetica Neue"/>
              </a:defRPr>
            </a:lvl2pPr>
            <a:lvl3pPr>
              <a:defRPr sz="2400" b="0">
                <a:solidFill>
                  <a:srgbClr val="D8E7CF"/>
                </a:solidFill>
                <a:latin typeface="Helvetica Neue"/>
                <a:ea typeface="Helvetica Neue"/>
                <a:cs typeface="Helvetica Neue"/>
              </a:defRPr>
            </a:lvl3pPr>
            <a:lvl4pPr>
              <a:defRPr sz="2400" b="0">
                <a:solidFill>
                  <a:srgbClr val="D8E7CF"/>
                </a:solidFill>
                <a:latin typeface="Helvetica Neue"/>
                <a:ea typeface="Helvetica Neue"/>
                <a:cs typeface="Helvetica Neue"/>
              </a:defRPr>
            </a:lvl4pPr>
            <a:lvl5pPr>
              <a:defRPr sz="2400" b="0">
                <a:solidFill>
                  <a:srgbClr val="D8E7CF"/>
                </a:solidFill>
                <a:latin typeface="Helvetica Neue"/>
                <a:ea typeface="Helvetica Neue"/>
                <a:cs typeface="Helvetica Neue"/>
              </a:defRPr>
            </a:lvl5pPr>
            <a:lvl6pPr>
              <a:defRPr sz="2400" b="0">
                <a:solidFill>
                  <a:srgbClr val="D8E7CF"/>
                </a:solidFill>
                <a:latin typeface="Helvetica Neue"/>
                <a:ea typeface="Helvetica Neue"/>
                <a:cs typeface="Helvetica Neue"/>
              </a:defRPr>
            </a:lvl6pPr>
            <a:lvl7pPr>
              <a:defRPr sz="2400" b="0">
                <a:solidFill>
                  <a:srgbClr val="D8E7CF"/>
                </a:solidFill>
                <a:latin typeface="Helvetica Neue"/>
                <a:ea typeface="Helvetica Neue"/>
                <a:cs typeface="Helvetica Neue"/>
              </a:defRPr>
            </a:lvl7pPr>
            <a:lvl8pPr>
              <a:defRPr sz="2400" b="0">
                <a:solidFill>
                  <a:srgbClr val="D8E7CF"/>
                </a:solidFill>
                <a:latin typeface="Helvetica Neue"/>
                <a:ea typeface="Helvetica Neue"/>
                <a:cs typeface="Helvetica Neue"/>
              </a:defRPr>
            </a:lvl8pPr>
            <a:lvl9pPr>
              <a:defRPr sz="2400" b="0">
                <a:solidFill>
                  <a:srgbClr val="D8E7CF"/>
                </a:solidFill>
                <a:latin typeface="Helvetica Neue"/>
                <a:ea typeface="Helvetica Neue"/>
                <a:cs typeface="Helvetica Neue"/>
              </a:defRPr>
            </a:lvl9pPr>
          </a:lstStyle>
          <a:p xmlns:a="http://schemas.openxmlformats.org/drawingml/2006/main">
            <a:pPr>
              <a:defRPr sz="2400" b="0">
                <a:solidFill>
                  <a:srgbClr val="D8E7CF"/>
                </a:solidFill>
                <a:latin typeface="Helvetica Neue"/>
                <a:ea typeface="Helvetica Neue"/>
                <a:cs typeface="Helvetica Neue"/>
              </a:defRPr>
            </a:pPr>
            <a:r>
              <a:rPr sz="2400" b="0">
                <a:solidFill>
                  <a:srgbClr val="D8E7CF"/>
                </a:solidFill>
                <a:latin typeface="Helvetica Neue"/>
                <a:ea typeface="Helvetica Neue"/>
                <a:cs typeface="Helvetica Neue"/>
              </a:rPr>
              <a:t>Observable collaboration. Duplicate prevention.</a:t>
            </a:r>
          </a:p>
          <a:p xmlns:a="http://schemas.openxmlformats.org/drawingml/2006/main">
            <a:pPr>
              <a:defRPr sz="2400" b="0">
                <a:solidFill>
                  <a:srgbClr val="D8E7CF"/>
                </a:solidFill>
                <a:latin typeface="Helvetica Neue"/>
                <a:ea typeface="Helvetica Neue"/>
                <a:cs typeface="Helvetica Neue"/>
              </a:defRPr>
            </a:pPr>
            <a:r>
              <a:rPr sz="2400" b="0">
                <a:solidFill>
                  <a:srgbClr val="D8E7CF"/>
                </a:solidFill>
                <a:latin typeface="Helvetica Neue"/>
                <a:ea typeface="Helvetica Neue"/>
                <a:cs typeface="Helvetica Neue"/>
              </a:rPr>
              <a:t>Verified memory. Inspectable source quality.</a:t>
            </a:r>
          </a:p>
        </p:txBody>
      </p:sp>
      <p:sp>
        <p:nvSpPr>
          <p:cNvPr id="5" name="">
            <a:extLst xmlns:a="http://schemas.openxmlformats.org/drawingml/2006/main">
              <a:ext uri="{FF2B5EF4-FFF2-40B4-BE49-F238E27FC236}">
                <a16:creationId xmlns:a16="http://schemas.microsoft.com/office/drawing/2014/main" id="{CC7FD93E-9CBE-4EC5-9CDA-C66DD34F5AA3}"/>
              </a:ext>
            </a:extLst>
          </p:cNvPr>
          <p:cNvSpPr>
            <a:spLocks xmlns:a="http://schemas.openxmlformats.org/drawingml/2006/main" noGrp="1"/>
          </p:cNvSpPr>
          <p:nvPr/>
        </p:nvSpPr>
        <p:spPr>
          <a:xfrm xmlns:a="http://schemas.openxmlformats.org/drawingml/2006/main">
            <a:off x="609600" y="4695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D8E7CF"/>
                </a:solidFill>
                <a:latin typeface="Helvetica Neue"/>
                <a:ea typeface="Helvetica Neue"/>
                <a:cs typeface="Helvetica Neue"/>
              </a:defRPr>
            </a:defPPr>
            <a:lvl1pPr>
              <a:defRPr sz="2025" b="0">
                <a:solidFill>
                  <a:srgbClr val="D8E7CF"/>
                </a:solidFill>
                <a:latin typeface="Helvetica Neue"/>
                <a:ea typeface="Helvetica Neue"/>
                <a:cs typeface="Helvetica Neue"/>
              </a:defRPr>
            </a:lvl1pPr>
            <a:lvl2pPr>
              <a:defRPr sz="2025" b="0">
                <a:solidFill>
                  <a:srgbClr val="D8E7CF"/>
                </a:solidFill>
                <a:latin typeface="Helvetica Neue"/>
                <a:ea typeface="Helvetica Neue"/>
                <a:cs typeface="Helvetica Neue"/>
              </a:defRPr>
            </a:lvl2pPr>
            <a:lvl3pPr>
              <a:defRPr sz="2025" b="0">
                <a:solidFill>
                  <a:srgbClr val="D8E7CF"/>
                </a:solidFill>
                <a:latin typeface="Helvetica Neue"/>
                <a:ea typeface="Helvetica Neue"/>
                <a:cs typeface="Helvetica Neue"/>
              </a:defRPr>
            </a:lvl3pPr>
            <a:lvl4pPr>
              <a:defRPr sz="2025" b="0">
                <a:solidFill>
                  <a:srgbClr val="D8E7CF"/>
                </a:solidFill>
                <a:latin typeface="Helvetica Neue"/>
                <a:ea typeface="Helvetica Neue"/>
                <a:cs typeface="Helvetica Neue"/>
              </a:defRPr>
            </a:lvl4pPr>
            <a:lvl5pPr>
              <a:defRPr sz="2025" b="0">
                <a:solidFill>
                  <a:srgbClr val="D8E7CF"/>
                </a:solidFill>
                <a:latin typeface="Helvetica Neue"/>
                <a:ea typeface="Helvetica Neue"/>
                <a:cs typeface="Helvetica Neue"/>
              </a:defRPr>
            </a:lvl5pPr>
            <a:lvl6pPr>
              <a:defRPr sz="2025" b="0">
                <a:solidFill>
                  <a:srgbClr val="D8E7CF"/>
                </a:solidFill>
                <a:latin typeface="Helvetica Neue"/>
                <a:ea typeface="Helvetica Neue"/>
                <a:cs typeface="Helvetica Neue"/>
              </a:defRPr>
            </a:lvl6pPr>
            <a:lvl7pPr>
              <a:defRPr sz="2025" b="0">
                <a:solidFill>
                  <a:srgbClr val="D8E7CF"/>
                </a:solidFill>
                <a:latin typeface="Helvetica Neue"/>
                <a:ea typeface="Helvetica Neue"/>
                <a:cs typeface="Helvetica Neue"/>
              </a:defRPr>
            </a:lvl7pPr>
            <a:lvl8pPr>
              <a:defRPr sz="2025" b="0">
                <a:solidFill>
                  <a:srgbClr val="D8E7CF"/>
                </a:solidFill>
                <a:latin typeface="Helvetica Neue"/>
                <a:ea typeface="Helvetica Neue"/>
                <a:cs typeface="Helvetica Neue"/>
              </a:defRPr>
            </a:lvl8pPr>
            <a:lvl9pPr>
              <a:defRPr sz="2025" b="0">
                <a:solidFill>
                  <a:srgbClr val="D8E7CF"/>
                </a:solidFill>
                <a:latin typeface="Helvetica Neue"/>
                <a:ea typeface="Helvetica Neue"/>
                <a:cs typeface="Helvetica Neue"/>
              </a:defRPr>
            </a:lvl9pPr>
          </a:lstStyle>
          <a:p xmlns:a="http://schemas.openxmlformats.org/drawingml/2006/main">
            <a:pPr>
              <a:defRPr sz="2025" b="0">
                <a:solidFill>
                  <a:srgbClr val="D8E7CF"/>
                </a:solidFill>
                <a:latin typeface="Helvetica Neue"/>
                <a:ea typeface="Helvetica Neue"/>
                <a:cs typeface="Helvetica Neue"/>
              </a:defRPr>
            </a:pPr>
            <a:r>
              <a:rPr sz="2025" b="0">
                <a:solidFill>
                  <a:srgbClr val="D8E7CF"/>
                </a:solidFill>
                <a:latin typeface="Helvetica Neue"/>
                <a:ea typeface="Helvetica Neue"/>
                <a:cs typeface="Helvetica Neue"/>
              </a:rPr>
              <a:t>Next: broader documents and source-freshness metadata</a:t>
            </a:r>
          </a:p>
        </p:txBody>
      </p:sp>
      <p:sp>
        <p:nvSpPr>
          <p:cNvPr id="6" name="">
            <a:extLst xmlns:a="http://schemas.openxmlformats.org/drawingml/2006/main">
              <a:ext uri="{FF2B5EF4-FFF2-40B4-BE49-F238E27FC236}">
                <a16:creationId xmlns:a16="http://schemas.microsoft.com/office/drawing/2014/main" id="{C6E0346A-060C-40E2-8D35-47A618059A40}"/>
              </a:ext>
            </a:extLst>
          </p:cNvPr>
          <p:cNvSpPr>
            <a:spLocks xmlns:a="http://schemas.openxmlformats.org/drawingml/2006/main" noGrp="1"/>
          </p:cNvSpPr>
          <p:nvPr/>
        </p:nvSpPr>
        <p:spPr>
          <a:xfrm xmlns:a="http://schemas.openxmlformats.org/drawingml/2006/main">
            <a:off x="609600" y="56292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F4F5EF"/>
                </a:solidFill>
                <a:latin typeface="Helvetica Neue"/>
                <a:ea typeface="Helvetica Neue"/>
                <a:cs typeface="Helvetica Neue"/>
              </a:defRPr>
            </a:defPPr>
            <a:lvl1pPr>
              <a:defRPr sz="2025" b="1">
                <a:solidFill>
                  <a:srgbClr val="F4F5EF"/>
                </a:solidFill>
                <a:latin typeface="Helvetica Neue"/>
                <a:ea typeface="Helvetica Neue"/>
                <a:cs typeface="Helvetica Neue"/>
              </a:defRPr>
            </a:lvl1pPr>
            <a:lvl2pPr>
              <a:defRPr sz="2025" b="1">
                <a:solidFill>
                  <a:srgbClr val="F4F5EF"/>
                </a:solidFill>
                <a:latin typeface="Helvetica Neue"/>
                <a:ea typeface="Helvetica Neue"/>
                <a:cs typeface="Helvetica Neue"/>
              </a:defRPr>
            </a:lvl2pPr>
            <a:lvl3pPr>
              <a:defRPr sz="2025" b="1">
                <a:solidFill>
                  <a:srgbClr val="F4F5EF"/>
                </a:solidFill>
                <a:latin typeface="Helvetica Neue"/>
                <a:ea typeface="Helvetica Neue"/>
                <a:cs typeface="Helvetica Neue"/>
              </a:defRPr>
            </a:lvl3pPr>
            <a:lvl4pPr>
              <a:defRPr sz="2025" b="1">
                <a:solidFill>
                  <a:srgbClr val="F4F5EF"/>
                </a:solidFill>
                <a:latin typeface="Helvetica Neue"/>
                <a:ea typeface="Helvetica Neue"/>
                <a:cs typeface="Helvetica Neue"/>
              </a:defRPr>
            </a:lvl4pPr>
            <a:lvl5pPr>
              <a:defRPr sz="2025" b="1">
                <a:solidFill>
                  <a:srgbClr val="F4F5EF"/>
                </a:solidFill>
                <a:latin typeface="Helvetica Neue"/>
                <a:ea typeface="Helvetica Neue"/>
                <a:cs typeface="Helvetica Neue"/>
              </a:defRPr>
            </a:lvl5pPr>
            <a:lvl6pPr>
              <a:defRPr sz="2025" b="1">
                <a:solidFill>
                  <a:srgbClr val="F4F5EF"/>
                </a:solidFill>
                <a:latin typeface="Helvetica Neue"/>
                <a:ea typeface="Helvetica Neue"/>
                <a:cs typeface="Helvetica Neue"/>
              </a:defRPr>
            </a:lvl6pPr>
            <a:lvl7pPr>
              <a:defRPr sz="2025" b="1">
                <a:solidFill>
                  <a:srgbClr val="F4F5EF"/>
                </a:solidFill>
                <a:latin typeface="Helvetica Neue"/>
                <a:ea typeface="Helvetica Neue"/>
                <a:cs typeface="Helvetica Neue"/>
              </a:defRPr>
            </a:lvl7pPr>
            <a:lvl8pPr>
              <a:defRPr sz="2025" b="1">
                <a:solidFill>
                  <a:srgbClr val="F4F5EF"/>
                </a:solidFill>
                <a:latin typeface="Helvetica Neue"/>
                <a:ea typeface="Helvetica Neue"/>
                <a:cs typeface="Helvetica Neue"/>
              </a:defRPr>
            </a:lvl8pPr>
            <a:lvl9pPr>
              <a:defRPr sz="2025" b="1">
                <a:solidFill>
                  <a:srgbClr val="F4F5EF"/>
                </a:solidFill>
                <a:latin typeface="Helvetica Neue"/>
                <a:ea typeface="Helvetica Neue"/>
                <a:cs typeface="Helvetica Neue"/>
              </a:defRPr>
            </a:lvl9pPr>
          </a:lstStyle>
          <a:p xmlns:a="http://schemas.openxmlformats.org/drawingml/2006/main">
            <a:pPr>
              <a:defRPr sz="2025" b="1">
                <a:solidFill>
                  <a:srgbClr val="F4F5EF"/>
                </a:solidFill>
                <a:latin typeface="Helvetica Neue"/>
                <a:ea typeface="Helvetica Neue"/>
                <a:cs typeface="Helvetica Neue"/>
              </a:defRPr>
            </a:pPr>
            <a:r>
              <a:rPr sz="2025" b="1">
                <a:solidFill>
                  <a:srgbClr val="F4F5EF"/>
                </a:solidFill>
                <a:latin typeface="Helvetica Neue"/>
                <a:ea typeface="Helvetica Neue"/>
                <a:cs typeface="Helvetica Neue"/>
              </a:rPr>
              <a:t>github.com/rachelanneliew/Open-Agent-Hackathon</a:t>
            </a:r>
          </a:p>
        </p:txBody>
      </p:sp>
    </p:spTree>
    <p:extLst>
      <p:ext uri="{BB962C8B-B14F-4D97-AF65-F5344CB8AC3E}">
        <p14:creationId xmlns:p14="http://schemas.microsoft.com/office/powerpoint/2010/main" val="14858446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2026-10-27T13:44:24.2720000Z</dcterms:created>
  <dcterms:modified xsi:type="dcterms:W3CDTF">2026-10-27T13:44:24.2720000Z</dcterms:modified>
</coreProperties>
</file>